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63" r:id="rId2"/>
  </p:sldMasterIdLst>
  <p:notesMasterIdLst>
    <p:notesMasterId r:id="rId31"/>
  </p:notesMasterIdLst>
  <p:sldIdLst>
    <p:sldId id="295" r:id="rId3"/>
    <p:sldId id="257" r:id="rId4"/>
    <p:sldId id="273" r:id="rId5"/>
    <p:sldId id="274" r:id="rId6"/>
    <p:sldId id="275" r:id="rId7"/>
    <p:sldId id="258" r:id="rId8"/>
    <p:sldId id="280" r:id="rId9"/>
    <p:sldId id="281" r:id="rId10"/>
    <p:sldId id="267" r:id="rId11"/>
    <p:sldId id="282" r:id="rId12"/>
    <p:sldId id="283" r:id="rId13"/>
    <p:sldId id="284" r:id="rId14"/>
    <p:sldId id="285" r:id="rId15"/>
    <p:sldId id="289" r:id="rId16"/>
    <p:sldId id="290" r:id="rId17"/>
    <p:sldId id="291" r:id="rId18"/>
    <p:sldId id="292" r:id="rId19"/>
    <p:sldId id="276" r:id="rId20"/>
    <p:sldId id="293" r:id="rId21"/>
    <p:sldId id="269" r:id="rId22"/>
    <p:sldId id="278" r:id="rId23"/>
    <p:sldId id="294" r:id="rId24"/>
    <p:sldId id="262" r:id="rId25"/>
    <p:sldId id="279" r:id="rId26"/>
    <p:sldId id="259" r:id="rId27"/>
    <p:sldId id="277" r:id="rId28"/>
    <p:sldId id="260" r:id="rId29"/>
    <p:sldId id="271" r:id="rId30"/>
  </p:sldIdLst>
  <p:sldSz cx="18288000" cy="10287000"/>
  <p:notesSz cx="6858000" cy="9144000"/>
  <p:embeddedFontLst>
    <p:embeddedFont>
      <p:font typeface="Malgun Gothic" panose="020B0503020000020004" pitchFamily="50" charset="-127"/>
      <p:regular r:id="rId32"/>
      <p:bold r:id="rId33"/>
    </p:embeddedFont>
    <p:embeddedFont>
      <p:font typeface="Malgun Gothic" panose="020B0503020000020004" pitchFamily="50" charset="-127"/>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8" d="100"/>
          <a:sy n="48" d="100"/>
        </p:scale>
        <p:origin x="101" y="4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notesMaster" Target="notesMasters/notesMaster1.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c:style val="2"/>
  <c:chart>
    <c:autoTitleDeleted val="1"/>
    <c:plotArea>
      <c:layout/>
      <c:lineChart>
        <c:grouping val="standard"/>
        <c:varyColors val="0"/>
        <c:ser>
          <c:idx val="0"/>
          <c:order val="0"/>
          <c:tx>
            <c:v>휘발유</c:v>
          </c:tx>
          <c:spPr>
            <a:ln w="28575">
              <a:solidFill>
                <a:srgbClr val="4B73FF"/>
              </a:solidFill>
            </a:ln>
          </c:spPr>
          <c:marker>
            <c:symbol val="circle"/>
            <c:size val="6"/>
            <c:spPr>
              <a:solidFill>
                <a:srgbClr val="4B73FF"/>
              </a:solidFill>
              <a:ln>
                <a:solidFill>
                  <a:srgbClr val="4B73FF"/>
                </a:solidFill>
              </a:ln>
            </c:spPr>
          </c:marker>
          <c:dLbls>
            <c:spPr>
              <a:noFill/>
              <a:ln>
                <a:noFill/>
              </a:ln>
              <a:effectLst/>
            </c:spPr>
            <c:showLegendKey val="0"/>
            <c:showVal val="0"/>
            <c:showCatName val="0"/>
            <c:showSerName val="0"/>
            <c:showPercent val="1"/>
            <c:showBubbleSize val="1"/>
            <c:showLeaderLines val="0"/>
            <c:extLst>
              <c:ext xmlns:c15="http://schemas.microsoft.com/office/drawing/2012/chart" uri="{CE6537A1-D6FC-4f65-9D91-7224C49458BB}">
                <c15:showLeaderLines val="0"/>
              </c:ext>
            </c:extLst>
          </c:dLbls>
          <c:cat>
            <c:strLit>
              <c:ptCount val="10"/>
              <c:pt idx="0">
                <c:v>1차</c:v>
              </c:pt>
              <c:pt idx="1">
                <c:v>2차</c:v>
              </c:pt>
              <c:pt idx="2">
                <c:v>3차</c:v>
              </c:pt>
              <c:pt idx="3">
                <c:v>4차</c:v>
              </c:pt>
              <c:pt idx="4">
                <c:v>5차</c:v>
              </c:pt>
              <c:pt idx="5">
                <c:v>6차</c:v>
              </c:pt>
              <c:pt idx="6">
                <c:v>7차</c:v>
              </c:pt>
              <c:pt idx="7">
                <c:v>8차</c:v>
              </c:pt>
              <c:pt idx="8">
                <c:v>9차</c:v>
              </c:pt>
              <c:pt idx="9">
                <c:v>10차</c:v>
              </c:pt>
            </c:strLit>
          </c:cat>
          <c:val>
            <c:numLit>
              <c:formatCode>0</c:formatCode>
              <c:ptCount val="10"/>
              <c:pt idx="0">
                <c:v>1724</c:v>
              </c:pt>
              <c:pt idx="1">
                <c:v>1934</c:v>
              </c:pt>
              <c:pt idx="2">
                <c:v>1934</c:v>
              </c:pt>
              <c:pt idx="3">
                <c:v>1934</c:v>
              </c:pt>
              <c:pt idx="4">
                <c:v>1934</c:v>
              </c:pt>
              <c:pt idx="5">
                <c:v>1934</c:v>
              </c:pt>
              <c:pt idx="6">
                <c:v>1784</c:v>
              </c:pt>
              <c:pt idx="7">
                <c:v>1784</c:v>
              </c:pt>
              <c:pt idx="8">
                <c:v>1784</c:v>
              </c:pt>
              <c:pt idx="9">
                <c:v>1784</c:v>
              </c:pt>
            </c:numLit>
          </c:val>
          <c:smooth val="0"/>
          <c:extLst>
            <c:ext xmlns:c16="http://schemas.microsoft.com/office/drawing/2014/chart" uri="{C3380CC4-5D6E-409C-BE32-E72D297353CC}">
              <c16:uniqueId val="{00000000-EA2C-4482-B7E8-437F443CE396}"/>
            </c:ext>
          </c:extLst>
        </c:ser>
        <c:ser>
          <c:idx val="1"/>
          <c:order val="1"/>
          <c:tx>
            <c:v>경유</c:v>
          </c:tx>
          <c:spPr>
            <a:ln w="28575">
              <a:solidFill>
                <a:srgbClr val="0F1A2E"/>
              </a:solidFill>
            </a:ln>
          </c:spPr>
          <c:marker>
            <c:symbol val="circle"/>
            <c:size val="6"/>
            <c:spPr>
              <a:solidFill>
                <a:srgbClr val="0F1A2E"/>
              </a:solidFill>
              <a:ln>
                <a:solidFill>
                  <a:srgbClr val="0F1A2E"/>
                </a:solidFill>
              </a:ln>
            </c:spPr>
          </c:marker>
          <c:dLbls>
            <c:spPr>
              <a:noFill/>
              <a:ln>
                <a:noFill/>
              </a:ln>
              <a:effectLst/>
            </c:spPr>
            <c:showLegendKey val="0"/>
            <c:showVal val="0"/>
            <c:showCatName val="0"/>
            <c:showSerName val="0"/>
            <c:showPercent val="1"/>
            <c:showBubbleSize val="1"/>
            <c:showLeaderLines val="0"/>
            <c:extLst>
              <c:ext xmlns:c15="http://schemas.microsoft.com/office/drawing/2012/chart" uri="{CE6537A1-D6FC-4f65-9D91-7224C49458BB}">
                <c15:showLeaderLines val="0"/>
              </c:ext>
            </c:extLst>
          </c:dLbls>
          <c:cat>
            <c:strLit>
              <c:ptCount val="10"/>
              <c:pt idx="0">
                <c:v>1차</c:v>
              </c:pt>
              <c:pt idx="1">
                <c:v>2차</c:v>
              </c:pt>
              <c:pt idx="2">
                <c:v>3차</c:v>
              </c:pt>
              <c:pt idx="3">
                <c:v>4차</c:v>
              </c:pt>
              <c:pt idx="4">
                <c:v>5차</c:v>
              </c:pt>
              <c:pt idx="5">
                <c:v>6차</c:v>
              </c:pt>
              <c:pt idx="6">
                <c:v>7차</c:v>
              </c:pt>
              <c:pt idx="7">
                <c:v>8차</c:v>
              </c:pt>
              <c:pt idx="8">
                <c:v>9차</c:v>
              </c:pt>
              <c:pt idx="9">
                <c:v>10차</c:v>
              </c:pt>
            </c:strLit>
          </c:cat>
          <c:val>
            <c:numLit>
              <c:formatCode>0</c:formatCode>
              <c:ptCount val="10"/>
              <c:pt idx="0">
                <c:v>1713</c:v>
              </c:pt>
              <c:pt idx="1">
                <c:v>1923</c:v>
              </c:pt>
              <c:pt idx="2">
                <c:v>1923</c:v>
              </c:pt>
              <c:pt idx="3">
                <c:v>1923</c:v>
              </c:pt>
              <c:pt idx="4">
                <c:v>1923</c:v>
              </c:pt>
              <c:pt idx="5">
                <c:v>1923</c:v>
              </c:pt>
              <c:pt idx="6">
                <c:v>1773</c:v>
              </c:pt>
              <c:pt idx="7">
                <c:v>1773</c:v>
              </c:pt>
              <c:pt idx="8">
                <c:v>1773</c:v>
              </c:pt>
              <c:pt idx="9">
                <c:v>1773</c:v>
              </c:pt>
            </c:numLit>
          </c:val>
          <c:smooth val="0"/>
          <c:extLst>
            <c:ext xmlns:c16="http://schemas.microsoft.com/office/drawing/2014/chart" uri="{C3380CC4-5D6E-409C-BE32-E72D297353CC}">
              <c16:uniqueId val="{00000001-EA2C-4482-B7E8-437F443CE396}"/>
            </c:ext>
          </c:extLst>
        </c:ser>
        <c:ser>
          <c:idx val="2"/>
          <c:order val="2"/>
          <c:tx>
            <c:v>등유</c:v>
          </c:tx>
          <c:spPr>
            <a:ln w="28575">
              <a:solidFill>
                <a:srgbClr val="35C6E8"/>
              </a:solidFill>
            </a:ln>
          </c:spPr>
          <c:marker>
            <c:symbol val="circle"/>
            <c:size val="6"/>
            <c:spPr>
              <a:solidFill>
                <a:srgbClr val="35C6E8"/>
              </a:solidFill>
              <a:ln>
                <a:solidFill>
                  <a:srgbClr val="35C6E8"/>
                </a:solidFill>
              </a:ln>
            </c:spPr>
          </c:marker>
          <c:dLbls>
            <c:spPr>
              <a:noFill/>
              <a:ln>
                <a:noFill/>
              </a:ln>
              <a:effectLst/>
            </c:spPr>
            <c:showLegendKey val="0"/>
            <c:showVal val="0"/>
            <c:showCatName val="0"/>
            <c:showSerName val="0"/>
            <c:showPercent val="1"/>
            <c:showBubbleSize val="1"/>
            <c:showLeaderLines val="0"/>
            <c:extLst>
              <c:ext xmlns:c15="http://schemas.microsoft.com/office/drawing/2012/chart" uri="{CE6537A1-D6FC-4f65-9D91-7224C49458BB}">
                <c15:showLeaderLines val="0"/>
              </c:ext>
            </c:extLst>
          </c:dLbls>
          <c:cat>
            <c:strLit>
              <c:ptCount val="10"/>
              <c:pt idx="0">
                <c:v>1차</c:v>
              </c:pt>
              <c:pt idx="1">
                <c:v>2차</c:v>
              </c:pt>
              <c:pt idx="2">
                <c:v>3차</c:v>
              </c:pt>
              <c:pt idx="3">
                <c:v>4차</c:v>
              </c:pt>
              <c:pt idx="4">
                <c:v>5차</c:v>
              </c:pt>
              <c:pt idx="5">
                <c:v>6차</c:v>
              </c:pt>
              <c:pt idx="6">
                <c:v>7차</c:v>
              </c:pt>
              <c:pt idx="7">
                <c:v>8차</c:v>
              </c:pt>
              <c:pt idx="8">
                <c:v>9차</c:v>
              </c:pt>
              <c:pt idx="9">
                <c:v>10차</c:v>
              </c:pt>
            </c:strLit>
          </c:cat>
          <c:val>
            <c:numLit>
              <c:formatCode>0</c:formatCode>
              <c:ptCount val="10"/>
              <c:pt idx="0">
                <c:v>1320</c:v>
              </c:pt>
              <c:pt idx="1">
                <c:v>1530</c:v>
              </c:pt>
              <c:pt idx="2">
                <c:v>1530</c:v>
              </c:pt>
              <c:pt idx="3">
                <c:v>1530</c:v>
              </c:pt>
              <c:pt idx="4">
                <c:v>1530</c:v>
              </c:pt>
              <c:pt idx="5">
                <c:v>1530</c:v>
              </c:pt>
              <c:pt idx="6">
                <c:v>1380</c:v>
              </c:pt>
              <c:pt idx="7">
                <c:v>1380</c:v>
              </c:pt>
              <c:pt idx="8">
                <c:v>1380</c:v>
              </c:pt>
              <c:pt idx="9">
                <c:v>1380</c:v>
              </c:pt>
            </c:numLit>
          </c:val>
          <c:smooth val="0"/>
          <c:extLst>
            <c:ext xmlns:c16="http://schemas.microsoft.com/office/drawing/2014/chart" uri="{C3380CC4-5D6E-409C-BE32-E72D297353CC}">
              <c16:uniqueId val="{00000002-EA2C-4482-B7E8-437F443CE396}"/>
            </c:ext>
          </c:extLst>
        </c:ser>
        <c:dLbls>
          <c:showLegendKey val="0"/>
          <c:showVal val="0"/>
          <c:showCatName val="0"/>
          <c:showSerName val="0"/>
          <c:showPercent val="1"/>
          <c:showBubbleSize val="1"/>
        </c:dLbls>
        <c:marker val="1"/>
        <c:smooth val="0"/>
        <c:axId val="42010001"/>
        <c:axId val="42010002"/>
      </c:lineChart>
      <c:catAx>
        <c:axId val="42010001"/>
        <c:scaling>
          <c:orientation val="minMax"/>
        </c:scaling>
        <c:delete val="0"/>
        <c:axPos val="b"/>
        <c:numFmt formatCode="General" sourceLinked="1"/>
        <c:majorTickMark val="none"/>
        <c:minorTickMark val="none"/>
        <c:tickLblPos val="nextTo"/>
        <c:spPr>
          <a:ln>
            <a:solidFill>
              <a:srgbClr val="CBD3DF"/>
            </a:solidFill>
          </a:ln>
        </c:spPr>
        <c:txPr>
          <a:bodyPr/>
          <a:lstStyle/>
          <a:p>
            <a:pPr>
              <a:defRPr sz="1000">
                <a:solidFill>
                  <a:srgbClr val="7E899B"/>
                </a:solidFill>
              </a:defRPr>
            </a:pPr>
            <a:endParaRPr lang="ko-KR"/>
          </a:p>
        </c:txPr>
        <c:crossAx val="42010002"/>
        <c:crosses val="autoZero"/>
        <c:auto val="1"/>
        <c:lblAlgn val="ctr"/>
        <c:lblOffset val="100"/>
        <c:noMultiLvlLbl val="1"/>
      </c:catAx>
      <c:valAx>
        <c:axId val="42010002"/>
        <c:scaling>
          <c:orientation val="minMax"/>
          <c:max val="2100"/>
          <c:min val="1200"/>
        </c:scaling>
        <c:delete val="0"/>
        <c:axPos val="l"/>
        <c:majorGridlines>
          <c:spPr>
            <a:ln>
              <a:solidFill>
                <a:srgbClr val="E8ECF2"/>
              </a:solidFill>
            </a:ln>
          </c:spPr>
        </c:majorGridlines>
        <c:numFmt formatCode="#,##0" sourceLinked="0"/>
        <c:majorTickMark val="none"/>
        <c:minorTickMark val="none"/>
        <c:tickLblPos val="nextTo"/>
        <c:spPr>
          <a:ln>
            <a:noFill/>
          </a:ln>
        </c:spPr>
        <c:txPr>
          <a:bodyPr/>
          <a:lstStyle/>
          <a:p>
            <a:pPr>
              <a:defRPr sz="1000">
                <a:solidFill>
                  <a:srgbClr val="7E899B"/>
                </a:solidFill>
              </a:defRPr>
            </a:pPr>
            <a:endParaRPr lang="ko-KR"/>
          </a:p>
        </c:txPr>
        <c:crossAx val="42010001"/>
        <c:crosses val="autoZero"/>
        <c:crossBetween val="between"/>
      </c:valAx>
    </c:plotArea>
    <c:legend>
      <c:legendPos val="b"/>
      <c:overlay val="0"/>
      <c:txPr>
        <a:bodyPr/>
        <a:lstStyle/>
        <a:p>
          <a:pPr>
            <a:defRPr sz="1000">
              <a:solidFill>
                <a:srgbClr val="0F1A2E"/>
              </a:solidFill>
            </a:defRPr>
          </a:pPr>
          <a:endParaRPr lang="ko-KR"/>
        </a:p>
      </c:txPr>
    </c:legend>
    <c:plotVisOnly val="1"/>
    <c:dispBlanksAs val="gap"/>
    <c:showDLblsOverMax val="0"/>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lineChart>
        <c:grouping val="standard"/>
        <c:varyColors val="0"/>
        <c:ser>
          <c:idx val="0"/>
          <c:order val="0"/>
          <c:tx>
            <c:strRef>
              <c:f>Sheet1!$B$1</c:f>
              <c:strCache>
                <c:ptCount val="1"/>
                <c:pt idx="0">
                  <c:v>휘발유</c:v>
                </c:pt>
              </c:strCache>
            </c:strRef>
          </c:tx>
          <c:spPr>
            <a:ln w="28575">
              <a:solidFill>
                <a:srgbClr val="4B73FF"/>
              </a:solidFill>
            </a:ln>
          </c:spPr>
          <c:marker>
            <c:symbol val="diamond"/>
            <c:size val="5"/>
            <c:spPr>
              <a:solidFill>
                <a:srgbClr val="4B73FF"/>
              </a:solidFill>
              <a:ln>
                <a:solidFill>
                  <a:srgbClr val="4B73FF"/>
                </a:solidFill>
              </a:ln>
            </c:spPr>
          </c:marker>
          <c:dLbls>
            <c:dLbl>
              <c:idx val="28"/>
              <c:spPr/>
              <c:txPr>
                <a:bodyPr/>
                <a:lstStyle/>
                <a:p>
                  <a:pPr>
                    <a:defRPr sz="1100" b="1">
                      <a:solidFill>
                        <a:srgbClr val="4B73FF"/>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70D-4ED8-9C23-96DA258CDFC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3/14</c:v>
                </c:pt>
                <c:pt idx="1">
                  <c:v>3/21</c:v>
                </c:pt>
                <c:pt idx="2">
                  <c:v>3/28</c:v>
                </c:pt>
                <c:pt idx="3">
                  <c:v>4/4</c:v>
                </c:pt>
                <c:pt idx="4">
                  <c:v>4/11</c:v>
                </c:pt>
                <c:pt idx="5">
                  <c:v>4/18</c:v>
                </c:pt>
                <c:pt idx="6">
                  <c:v>4/25</c:v>
                </c:pt>
                <c:pt idx="7">
                  <c:v>5/2</c:v>
                </c:pt>
                <c:pt idx="8">
                  <c:v>5/9</c:v>
                </c:pt>
                <c:pt idx="9">
                  <c:v>5/16</c:v>
                </c:pt>
                <c:pt idx="10">
                  <c:v>5/23</c:v>
                </c:pt>
                <c:pt idx="11">
                  <c:v>5/30</c:v>
                </c:pt>
                <c:pt idx="12">
                  <c:v>6/6</c:v>
                </c:pt>
                <c:pt idx="13">
                  <c:v>6/13</c:v>
                </c:pt>
                <c:pt idx="14">
                  <c:v>6/20</c:v>
                </c:pt>
                <c:pt idx="15">
                  <c:v>6/27</c:v>
                </c:pt>
                <c:pt idx="16">
                  <c:v>7/4</c:v>
                </c:pt>
                <c:pt idx="17">
                  <c:v>7/11</c:v>
                </c:pt>
                <c:pt idx="18">
                  <c:v>7/18</c:v>
                </c:pt>
                <c:pt idx="19">
                  <c:v>7/25</c:v>
                </c:pt>
                <c:pt idx="20">
                  <c:v>8/1</c:v>
                </c:pt>
                <c:pt idx="21">
                  <c:v>8/8</c:v>
                </c:pt>
                <c:pt idx="22">
                  <c:v>8/15</c:v>
                </c:pt>
                <c:pt idx="23">
                  <c:v>8/22</c:v>
                </c:pt>
                <c:pt idx="24">
                  <c:v>8/29</c:v>
                </c:pt>
                <c:pt idx="25">
                  <c:v>9/5</c:v>
                </c:pt>
                <c:pt idx="26">
                  <c:v>9/12</c:v>
                </c:pt>
                <c:pt idx="27">
                  <c:v>9/19</c:v>
                </c:pt>
                <c:pt idx="28">
                  <c:v>9/26</c:v>
                </c:pt>
              </c:strCache>
            </c:strRef>
          </c:cat>
          <c:val>
            <c:numRef>
              <c:f>Sheet1!$B$2:$B$30</c:f>
              <c:numCache>
                <c:formatCode>General</c:formatCode>
                <c:ptCount val="29"/>
                <c:pt idx="0">
                  <c:v>160</c:v>
                </c:pt>
                <c:pt idx="1">
                  <c:v>449</c:v>
                </c:pt>
                <c:pt idx="2">
                  <c:v>562</c:v>
                </c:pt>
                <c:pt idx="3">
                  <c:v>340</c:v>
                </c:pt>
                <c:pt idx="4">
                  <c:v>304</c:v>
                </c:pt>
                <c:pt idx="5">
                  <c:v>239</c:v>
                </c:pt>
                <c:pt idx="6">
                  <c:v>167</c:v>
                </c:pt>
                <c:pt idx="7">
                  <c:v>161</c:v>
                </c:pt>
                <c:pt idx="8">
                  <c:v>183</c:v>
                </c:pt>
                <c:pt idx="9">
                  <c:v>218</c:v>
                </c:pt>
                <c:pt idx="10">
                  <c:v>250</c:v>
                </c:pt>
                <c:pt idx="11">
                  <c:v>224</c:v>
                </c:pt>
                <c:pt idx="12">
                  <c:v>162</c:v>
                </c:pt>
                <c:pt idx="13">
                  <c:v>116</c:v>
                </c:pt>
                <c:pt idx="14">
                  <c:v>65</c:v>
                </c:pt>
                <c:pt idx="15">
                  <c:v>54</c:v>
                </c:pt>
                <c:pt idx="16">
                  <c:v>100</c:v>
                </c:pt>
                <c:pt idx="17">
                  <c:v>67</c:v>
                </c:pt>
                <c:pt idx="18">
                  <c:v>71</c:v>
                </c:pt>
                <c:pt idx="19">
                  <c:v>136</c:v>
                </c:pt>
                <c:pt idx="20">
                  <c:v>196</c:v>
                </c:pt>
                <c:pt idx="21">
                  <c:v>164</c:v>
                </c:pt>
                <c:pt idx="22">
                  <c:v>115</c:v>
                </c:pt>
                <c:pt idx="23">
                  <c:v>109</c:v>
                </c:pt>
                <c:pt idx="24">
                  <c:v>118</c:v>
                </c:pt>
                <c:pt idx="25">
                  <c:v>131</c:v>
                </c:pt>
                <c:pt idx="26">
                  <c:v>179</c:v>
                </c:pt>
                <c:pt idx="27">
                  <c:v>272</c:v>
                </c:pt>
                <c:pt idx="28">
                  <c:v>335</c:v>
                </c:pt>
              </c:numCache>
            </c:numRef>
          </c:val>
          <c:smooth val="0"/>
          <c:extLst>
            <c:ext xmlns:c16="http://schemas.microsoft.com/office/drawing/2014/chart" uri="{C3380CC4-5D6E-409C-BE32-E72D297353CC}">
              <c16:uniqueId val="{00000001-370D-4ED8-9C23-96DA258CDFC9}"/>
            </c:ext>
          </c:extLst>
        </c:ser>
        <c:ser>
          <c:idx val="1"/>
          <c:order val="1"/>
          <c:tx>
            <c:strRef>
              <c:f>Sheet1!$C$1</c:f>
              <c:strCache>
                <c:ptCount val="1"/>
                <c:pt idx="0">
                  <c:v>경유</c:v>
                </c:pt>
              </c:strCache>
            </c:strRef>
          </c:tx>
          <c:spPr>
            <a:ln w="28575">
              <a:solidFill>
                <a:srgbClr val="0F1A2E"/>
              </a:solidFill>
            </a:ln>
          </c:spPr>
          <c:marker>
            <c:symbol val="square"/>
            <c:size val="5"/>
            <c:spPr>
              <a:solidFill>
                <a:srgbClr val="0F1A2E"/>
              </a:solidFill>
              <a:ln>
                <a:solidFill>
                  <a:srgbClr val="0F1A2E"/>
                </a:solidFill>
              </a:ln>
            </c:spPr>
          </c:marker>
          <c:dLbls>
            <c:dLbl>
              <c:idx val="28"/>
              <c:spPr/>
              <c:txPr>
                <a:bodyPr/>
                <a:lstStyle/>
                <a:p>
                  <a:pPr>
                    <a:defRPr sz="1100" b="1">
                      <a:solidFill>
                        <a:srgbClr val="0F1A2E"/>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70D-4ED8-9C23-96DA258CDFC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3/14</c:v>
                </c:pt>
                <c:pt idx="1">
                  <c:v>3/21</c:v>
                </c:pt>
                <c:pt idx="2">
                  <c:v>3/28</c:v>
                </c:pt>
                <c:pt idx="3">
                  <c:v>4/4</c:v>
                </c:pt>
                <c:pt idx="4">
                  <c:v>4/11</c:v>
                </c:pt>
                <c:pt idx="5">
                  <c:v>4/18</c:v>
                </c:pt>
                <c:pt idx="6">
                  <c:v>4/25</c:v>
                </c:pt>
                <c:pt idx="7">
                  <c:v>5/2</c:v>
                </c:pt>
                <c:pt idx="8">
                  <c:v>5/9</c:v>
                </c:pt>
                <c:pt idx="9">
                  <c:v>5/16</c:v>
                </c:pt>
                <c:pt idx="10">
                  <c:v>5/23</c:v>
                </c:pt>
                <c:pt idx="11">
                  <c:v>5/30</c:v>
                </c:pt>
                <c:pt idx="12">
                  <c:v>6/6</c:v>
                </c:pt>
                <c:pt idx="13">
                  <c:v>6/13</c:v>
                </c:pt>
                <c:pt idx="14">
                  <c:v>6/20</c:v>
                </c:pt>
                <c:pt idx="15">
                  <c:v>6/27</c:v>
                </c:pt>
                <c:pt idx="16">
                  <c:v>7/4</c:v>
                </c:pt>
                <c:pt idx="17">
                  <c:v>7/11</c:v>
                </c:pt>
                <c:pt idx="18">
                  <c:v>7/18</c:v>
                </c:pt>
                <c:pt idx="19">
                  <c:v>7/25</c:v>
                </c:pt>
                <c:pt idx="20">
                  <c:v>8/1</c:v>
                </c:pt>
                <c:pt idx="21">
                  <c:v>8/8</c:v>
                </c:pt>
                <c:pt idx="22">
                  <c:v>8/15</c:v>
                </c:pt>
                <c:pt idx="23">
                  <c:v>8/22</c:v>
                </c:pt>
                <c:pt idx="24">
                  <c:v>8/29</c:v>
                </c:pt>
                <c:pt idx="25">
                  <c:v>9/5</c:v>
                </c:pt>
                <c:pt idx="26">
                  <c:v>9/12</c:v>
                </c:pt>
                <c:pt idx="27">
                  <c:v>9/19</c:v>
                </c:pt>
                <c:pt idx="28">
                  <c:v>9/26</c:v>
                </c:pt>
              </c:strCache>
            </c:strRef>
          </c:cat>
          <c:val>
            <c:numRef>
              <c:f>Sheet1!$C$2:$C$30</c:f>
              <c:numCache>
                <c:formatCode>General</c:formatCode>
                <c:ptCount val="29"/>
                <c:pt idx="0">
                  <c:v>303</c:v>
                </c:pt>
                <c:pt idx="1">
                  <c:v>809</c:v>
                </c:pt>
                <c:pt idx="2">
                  <c:v>1082</c:v>
                </c:pt>
                <c:pt idx="3">
                  <c:v>1085</c:v>
                </c:pt>
                <c:pt idx="4">
                  <c:v>1146</c:v>
                </c:pt>
                <c:pt idx="5">
                  <c:v>900</c:v>
                </c:pt>
                <c:pt idx="6">
                  <c:v>555</c:v>
                </c:pt>
                <c:pt idx="7">
                  <c:v>402</c:v>
                </c:pt>
                <c:pt idx="8">
                  <c:v>324</c:v>
                </c:pt>
                <c:pt idx="9">
                  <c:v>302</c:v>
                </c:pt>
                <c:pt idx="10">
                  <c:v>301</c:v>
                </c:pt>
                <c:pt idx="11">
                  <c:v>248</c:v>
                </c:pt>
                <c:pt idx="12">
                  <c:v>202</c:v>
                </c:pt>
                <c:pt idx="13">
                  <c:v>154</c:v>
                </c:pt>
                <c:pt idx="14">
                  <c:v>38</c:v>
                </c:pt>
                <c:pt idx="15">
                  <c:v>-5</c:v>
                </c:pt>
                <c:pt idx="16">
                  <c:v>55</c:v>
                </c:pt>
                <c:pt idx="17">
                  <c:v>47</c:v>
                </c:pt>
                <c:pt idx="18">
                  <c:v>158</c:v>
                </c:pt>
                <c:pt idx="19">
                  <c:v>307</c:v>
                </c:pt>
                <c:pt idx="20">
                  <c:v>408</c:v>
                </c:pt>
                <c:pt idx="21">
                  <c:v>351</c:v>
                </c:pt>
                <c:pt idx="22">
                  <c:v>327</c:v>
                </c:pt>
                <c:pt idx="23">
                  <c:v>348</c:v>
                </c:pt>
                <c:pt idx="24">
                  <c:v>336</c:v>
                </c:pt>
                <c:pt idx="25">
                  <c:v>327</c:v>
                </c:pt>
                <c:pt idx="26">
                  <c:v>355</c:v>
                </c:pt>
                <c:pt idx="27">
                  <c:v>473</c:v>
                </c:pt>
                <c:pt idx="28">
                  <c:v>511</c:v>
                </c:pt>
              </c:numCache>
            </c:numRef>
          </c:val>
          <c:smooth val="0"/>
          <c:extLst>
            <c:ext xmlns:c16="http://schemas.microsoft.com/office/drawing/2014/chart" uri="{C3380CC4-5D6E-409C-BE32-E72D297353CC}">
              <c16:uniqueId val="{00000003-370D-4ED8-9C23-96DA258CDFC9}"/>
            </c:ext>
          </c:extLst>
        </c:ser>
        <c:ser>
          <c:idx val="2"/>
          <c:order val="2"/>
          <c:tx>
            <c:strRef>
              <c:f>Sheet1!$D$1</c:f>
              <c:strCache>
                <c:ptCount val="1"/>
                <c:pt idx="0">
                  <c:v>등유</c:v>
                </c:pt>
              </c:strCache>
            </c:strRef>
          </c:tx>
          <c:spPr>
            <a:ln w="28575">
              <a:solidFill>
                <a:srgbClr val="35C6E8"/>
              </a:solidFill>
            </a:ln>
          </c:spPr>
          <c:marker>
            <c:symbol val="triangle"/>
            <c:size val="5"/>
            <c:spPr>
              <a:solidFill>
                <a:srgbClr val="35C6E8"/>
              </a:solidFill>
              <a:ln>
                <a:solidFill>
                  <a:srgbClr val="35C6E8"/>
                </a:solidFill>
              </a:ln>
            </c:spPr>
          </c:marker>
          <c:dLbls>
            <c:dLbl>
              <c:idx val="28"/>
              <c:spPr/>
              <c:txPr>
                <a:bodyPr/>
                <a:lstStyle/>
                <a:p>
                  <a:pPr>
                    <a:defRPr sz="1100" b="1">
                      <a:solidFill>
                        <a:srgbClr val="35C6E8"/>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70D-4ED8-9C23-96DA258CDFC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3/14</c:v>
                </c:pt>
                <c:pt idx="1">
                  <c:v>3/21</c:v>
                </c:pt>
                <c:pt idx="2">
                  <c:v>3/28</c:v>
                </c:pt>
                <c:pt idx="3">
                  <c:v>4/4</c:v>
                </c:pt>
                <c:pt idx="4">
                  <c:v>4/11</c:v>
                </c:pt>
                <c:pt idx="5">
                  <c:v>4/18</c:v>
                </c:pt>
                <c:pt idx="6">
                  <c:v>4/25</c:v>
                </c:pt>
                <c:pt idx="7">
                  <c:v>5/2</c:v>
                </c:pt>
                <c:pt idx="8">
                  <c:v>5/9</c:v>
                </c:pt>
                <c:pt idx="9">
                  <c:v>5/16</c:v>
                </c:pt>
                <c:pt idx="10">
                  <c:v>5/23</c:v>
                </c:pt>
                <c:pt idx="11">
                  <c:v>5/30</c:v>
                </c:pt>
                <c:pt idx="12">
                  <c:v>6/6</c:v>
                </c:pt>
                <c:pt idx="13">
                  <c:v>6/13</c:v>
                </c:pt>
                <c:pt idx="14">
                  <c:v>6/20</c:v>
                </c:pt>
                <c:pt idx="15">
                  <c:v>6/27</c:v>
                </c:pt>
                <c:pt idx="16">
                  <c:v>7/4</c:v>
                </c:pt>
                <c:pt idx="17">
                  <c:v>7/11</c:v>
                </c:pt>
                <c:pt idx="18">
                  <c:v>7/18</c:v>
                </c:pt>
                <c:pt idx="19">
                  <c:v>7/25</c:v>
                </c:pt>
                <c:pt idx="20">
                  <c:v>8/1</c:v>
                </c:pt>
                <c:pt idx="21">
                  <c:v>8/8</c:v>
                </c:pt>
                <c:pt idx="22">
                  <c:v>8/15</c:v>
                </c:pt>
                <c:pt idx="23">
                  <c:v>8/22</c:v>
                </c:pt>
                <c:pt idx="24">
                  <c:v>8/29</c:v>
                </c:pt>
                <c:pt idx="25">
                  <c:v>9/5</c:v>
                </c:pt>
                <c:pt idx="26">
                  <c:v>9/12</c:v>
                </c:pt>
                <c:pt idx="27">
                  <c:v>9/19</c:v>
                </c:pt>
                <c:pt idx="28">
                  <c:v>9/26</c:v>
                </c:pt>
              </c:strCache>
            </c:strRef>
          </c:cat>
          <c:val>
            <c:numRef>
              <c:f>Sheet1!$D$2:$D$30</c:f>
              <c:numCache>
                <c:formatCode>General</c:formatCode>
                <c:ptCount val="29"/>
                <c:pt idx="0">
                  <c:v>308</c:v>
                </c:pt>
                <c:pt idx="1">
                  <c:v>793</c:v>
                </c:pt>
                <c:pt idx="2">
                  <c:v>946</c:v>
                </c:pt>
                <c:pt idx="3">
                  <c:v>911</c:v>
                </c:pt>
                <c:pt idx="4">
                  <c:v>938</c:v>
                </c:pt>
                <c:pt idx="5">
                  <c:v>896</c:v>
                </c:pt>
                <c:pt idx="6">
                  <c:v>719</c:v>
                </c:pt>
                <c:pt idx="7">
                  <c:v>580</c:v>
                </c:pt>
                <c:pt idx="8">
                  <c:v>418</c:v>
                </c:pt>
                <c:pt idx="9">
                  <c:v>319</c:v>
                </c:pt>
                <c:pt idx="10">
                  <c:v>268</c:v>
                </c:pt>
                <c:pt idx="11">
                  <c:v>191</c:v>
                </c:pt>
                <c:pt idx="12">
                  <c:v>151</c:v>
                </c:pt>
                <c:pt idx="13">
                  <c:v>125</c:v>
                </c:pt>
                <c:pt idx="14">
                  <c:v>41</c:v>
                </c:pt>
                <c:pt idx="15">
                  <c:v>-41</c:v>
                </c:pt>
                <c:pt idx="16">
                  <c:v>17</c:v>
                </c:pt>
                <c:pt idx="17">
                  <c:v>36</c:v>
                </c:pt>
                <c:pt idx="18">
                  <c:v>145</c:v>
                </c:pt>
                <c:pt idx="19">
                  <c:v>278</c:v>
                </c:pt>
                <c:pt idx="20">
                  <c:v>349</c:v>
                </c:pt>
                <c:pt idx="21">
                  <c:v>295</c:v>
                </c:pt>
                <c:pt idx="22">
                  <c:v>263</c:v>
                </c:pt>
                <c:pt idx="23">
                  <c:v>274</c:v>
                </c:pt>
                <c:pt idx="24">
                  <c:v>264</c:v>
                </c:pt>
                <c:pt idx="25">
                  <c:v>254</c:v>
                </c:pt>
                <c:pt idx="26">
                  <c:v>285</c:v>
                </c:pt>
                <c:pt idx="27">
                  <c:v>391</c:v>
                </c:pt>
                <c:pt idx="28">
                  <c:v>432</c:v>
                </c:pt>
              </c:numCache>
            </c:numRef>
          </c:val>
          <c:smooth val="0"/>
          <c:extLst>
            <c:ext xmlns:c16="http://schemas.microsoft.com/office/drawing/2014/chart" uri="{C3380CC4-5D6E-409C-BE32-E72D297353CC}">
              <c16:uniqueId val="{00000005-370D-4ED8-9C23-96DA258CDFC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BD3DF"/>
            </a:solidFill>
          </a:ln>
        </c:spPr>
        <c:txPr>
          <a:bodyPr/>
          <a:lstStyle/>
          <a:p>
            <a:pPr>
              <a:defRPr sz="900"/>
            </a:pPr>
            <a:endParaRPr lang="ko-KR"/>
          </a:p>
        </c:txPr>
        <c:crossAx val="2140495176"/>
        <c:crosses val="autoZero"/>
        <c:auto val="1"/>
        <c:lblAlgn val="ctr"/>
        <c:lblOffset val="100"/>
        <c:noMultiLvlLbl val="0"/>
      </c:catAx>
      <c:valAx>
        <c:axId val="2140495176"/>
        <c:scaling>
          <c:orientation val="minMax"/>
        </c:scaling>
        <c:delete val="0"/>
        <c:axPos val="l"/>
        <c:majorGridlines>
          <c:spPr>
            <a:ln>
              <a:solidFill>
                <a:srgbClr val="E8ECF2"/>
              </a:solidFill>
            </a:ln>
          </c:spPr>
        </c:majorGridlines>
        <c:numFmt formatCode="#,##0" sourceLinked="0"/>
        <c:majorTickMark val="out"/>
        <c:minorTickMark val="none"/>
        <c:tickLblPos val="nextTo"/>
        <c:spPr>
          <a:ln>
            <a:noFill/>
          </a:ln>
        </c:spPr>
        <c:txPr>
          <a:bodyPr/>
          <a:lstStyle/>
          <a:p>
            <a:pPr>
              <a:defRPr sz="1000"/>
            </a:pPr>
            <a:endParaRPr lang="ko-KR"/>
          </a:p>
        </c:txPr>
        <c:crossAx val="2118791784"/>
        <c:crosses val="autoZero"/>
        <c:crossBetween val="between"/>
      </c:valAx>
    </c:plotArea>
    <c:legend>
      <c:legendPos val="t"/>
      <c:overlay val="0"/>
      <c:txPr>
        <a:bodyPr/>
        <a:lstStyle/>
        <a:p>
          <a:pPr>
            <a:defRPr sz="1100">
              <a:latin typeface="Malgun Gothic"/>
            </a:defRPr>
          </a:pPr>
          <a:endParaRPr lang="ko-KR"/>
        </a:p>
      </c:txPr>
    </c:legend>
    <c:plotVisOnly val="1"/>
    <c:dispBlanksAs val="gap"/>
    <c:showDLblsOverMax val="0"/>
  </c:chart>
  <c:txPr>
    <a:bodyPr/>
    <a:lstStyle/>
    <a:p>
      <a:pPr>
        <a:defRPr sz="1100">
          <a:solidFill>
            <a:srgbClr val="7E899B"/>
          </a:solidFill>
          <a:latin typeface="Malgun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100원 인상 시 물가 상승</c:v>
                </c:pt>
              </c:strCache>
            </c:strRef>
          </c:tx>
          <c:invertIfNegative val="1"/>
          <c:dPt>
            <c:idx val="0"/>
            <c:invertIfNegative val="1"/>
            <c:bubble3D val="0"/>
            <c:spPr>
              <a:solidFill>
                <a:srgbClr val="4B73FF"/>
              </a:solidFill>
            </c:spPr>
            <c:extLst>
              <c:ext xmlns:c16="http://schemas.microsoft.com/office/drawing/2014/chart" uri="{C3380CC4-5D6E-409C-BE32-E72D297353CC}">
                <c16:uniqueId val="{00000001-2079-4361-8840-05604FF22722}"/>
              </c:ext>
            </c:extLst>
          </c:dPt>
          <c:dPt>
            <c:idx val="1"/>
            <c:invertIfNegative val="1"/>
            <c:bubble3D val="0"/>
            <c:spPr>
              <a:solidFill>
                <a:srgbClr val="0F1A2E"/>
              </a:solidFill>
            </c:spPr>
            <c:extLst>
              <c:ext xmlns:c16="http://schemas.microsoft.com/office/drawing/2014/chart" uri="{C3380CC4-5D6E-409C-BE32-E72D297353CC}">
                <c16:uniqueId val="{00000003-2079-4361-8840-05604FF22722}"/>
              </c:ext>
            </c:extLst>
          </c:dPt>
          <c:dPt>
            <c:idx val="2"/>
            <c:invertIfNegative val="1"/>
            <c:bubble3D val="0"/>
            <c:spPr>
              <a:solidFill>
                <a:srgbClr val="35C6E8"/>
              </a:solidFill>
            </c:spPr>
            <c:extLst>
              <c:ext xmlns:c16="http://schemas.microsoft.com/office/drawing/2014/chart" uri="{C3380CC4-5D6E-409C-BE32-E72D297353CC}">
                <c16:uniqueId val="{00000005-2079-4361-8840-05604FF22722}"/>
              </c:ext>
            </c:extLst>
          </c:dPt>
          <c:dLbls>
            <c:numFmt formatCode="0.000&quot;%p&quot;" sourceLinked="0"/>
            <c:spPr>
              <a:noFill/>
              <a:ln>
                <a:noFill/>
              </a:ln>
              <a:effectLst/>
            </c:spPr>
            <c:txPr>
              <a:bodyPr/>
              <a:lstStyle/>
              <a:p>
                <a:pPr>
                  <a:defRPr sz="1600" b="1">
                    <a:solidFill>
                      <a:srgbClr val="0F1A2E"/>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휘발유</c:v>
                </c:pt>
                <c:pt idx="1">
                  <c:v>경유</c:v>
                </c:pt>
                <c:pt idx="2">
                  <c:v>등유</c:v>
                </c:pt>
              </c:strCache>
            </c:strRef>
          </c:cat>
          <c:val>
            <c:numRef>
              <c:f>Sheet1!$B$2:$B$4</c:f>
              <c:numCache>
                <c:formatCode>General</c:formatCode>
                <c:ptCount val="3"/>
                <c:pt idx="0">
                  <c:v>0.10299999999999999</c:v>
                </c:pt>
                <c:pt idx="1">
                  <c:v>7.0999999999999994E-2</c:v>
                </c:pt>
                <c:pt idx="2">
                  <c:v>5.0000000000000001E-3</c:v>
                </c:pt>
              </c:numCache>
            </c:numRef>
          </c:val>
          <c:extLst>
            <c:ext xmlns:c16="http://schemas.microsoft.com/office/drawing/2014/chart" uri="{C3380CC4-5D6E-409C-BE32-E72D297353CC}">
              <c16:uniqueId val="{00000006-2079-4361-8840-05604FF22722}"/>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BD3DF"/>
            </a:solidFill>
          </a:ln>
        </c:spPr>
        <c:txPr>
          <a:bodyPr/>
          <a:lstStyle/>
          <a:p>
            <a:pPr>
              <a:defRPr sz="1400" b="1"/>
            </a:pPr>
            <a:endParaRPr lang="ko-KR"/>
          </a:p>
        </c:txPr>
        <c:crossAx val="-2113994440"/>
        <c:crosses val="autoZero"/>
        <c:auto val="1"/>
        <c:lblAlgn val="ctr"/>
        <c:lblOffset val="100"/>
        <c:noMultiLvlLbl val="0"/>
      </c:catAx>
      <c:valAx>
        <c:axId val="-2113994440"/>
        <c:scaling>
          <c:orientation val="minMax"/>
          <c:max val="0.13"/>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7E899B"/>
          </a:solidFill>
          <a:latin typeface="Malgun Gothic"/>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barChart>
        <c:barDir val="bar"/>
        <c:grouping val="clustered"/>
        <c:varyColors val="1"/>
        <c:ser>
          <c:idx val="0"/>
          <c:order val="0"/>
          <c:tx>
            <c:strRef>
              <c:f>Sheet1!$B$1</c:f>
              <c:strCache>
                <c:ptCount val="1"/>
                <c:pt idx="0">
                  <c:v>리터당 정부 지원금액</c:v>
                </c:pt>
              </c:strCache>
            </c:strRef>
          </c:tx>
          <c:spPr>
            <a:solidFill>
              <a:srgbClr val="CBD3DF"/>
            </a:solidFill>
          </c:spPr>
          <c:invertIfNegative val="1"/>
          <c:dLbls>
            <c:numFmt formatCode="#,##0&quot;원&quot;" sourceLinked="0"/>
            <c:spPr>
              <a:noFill/>
              <a:ln>
                <a:noFill/>
              </a:ln>
              <a:effectLst/>
            </c:spPr>
            <c:txPr>
              <a:bodyPr/>
              <a:lstStyle/>
              <a:p>
                <a:pPr>
                  <a:defRPr sz="1300" b="1">
                    <a:solidFill>
                      <a:srgbClr val="0F1A2E"/>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휘발유</c:v>
                </c:pt>
                <c:pt idx="1">
                  <c:v>경유</c:v>
                </c:pt>
                <c:pt idx="2">
                  <c:v>등유</c:v>
                </c:pt>
              </c:strCache>
            </c:strRef>
          </c:cat>
          <c:val>
            <c:numRef>
              <c:f>Sheet1!$B$2:$B$4</c:f>
              <c:numCache>
                <c:formatCode>General</c:formatCode>
                <c:ptCount val="3"/>
                <c:pt idx="0">
                  <c:v>373</c:v>
                </c:pt>
                <c:pt idx="1">
                  <c:v>412</c:v>
                </c:pt>
                <c:pt idx="2">
                  <c:v>418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ED7-4D3A-BEB3-57BEF9E9AF79}"/>
            </c:ext>
          </c:extLst>
        </c:ser>
        <c:ser>
          <c:idx val="1"/>
          <c:order val="1"/>
          <c:tx>
            <c:strRef>
              <c:f>Sheet1!$C$1</c:f>
              <c:strCache>
                <c:ptCount val="1"/>
                <c:pt idx="0">
                  <c:v>11차 권고 인상폭</c:v>
                </c:pt>
              </c:strCache>
            </c:strRef>
          </c:tx>
          <c:spPr>
            <a:solidFill>
              <a:srgbClr val="4B73FF"/>
            </a:solidFill>
          </c:spPr>
          <c:invertIfNegative val="1"/>
          <c:dLbls>
            <c:numFmt formatCode="#,##0&quot;원&quot;" sourceLinked="0"/>
            <c:spPr>
              <a:noFill/>
              <a:ln>
                <a:noFill/>
              </a:ln>
              <a:effectLst/>
            </c:spPr>
            <c:txPr>
              <a:bodyPr/>
              <a:lstStyle/>
              <a:p>
                <a:pPr>
                  <a:defRPr sz="1300" b="1">
                    <a:solidFill>
                      <a:srgbClr val="0F1A2E"/>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휘발유</c:v>
                </c:pt>
                <c:pt idx="1">
                  <c:v>경유</c:v>
                </c:pt>
                <c:pt idx="2">
                  <c:v>등유</c:v>
                </c:pt>
              </c:strCache>
            </c:strRef>
          </c:cat>
          <c:val>
            <c:numRef>
              <c:f>Sheet1!$C$2:$C$4</c:f>
              <c:numCache>
                <c:formatCode>General</c:formatCode>
                <c:ptCount val="3"/>
                <c:pt idx="0">
                  <c:v>30</c:v>
                </c:pt>
                <c:pt idx="1">
                  <c:v>90</c:v>
                </c:pt>
                <c:pt idx="2">
                  <c:v>120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ED7-4D3A-BEB3-57BEF9E9AF79}"/>
            </c:ext>
          </c:extLst>
        </c:ser>
        <c:dLbls>
          <c:dLblPos val="outEnd"/>
          <c:showLegendKey val="0"/>
          <c:showVal val="1"/>
          <c:showCatName val="0"/>
          <c:showSerName val="0"/>
          <c:showPercent val="0"/>
          <c:showBubbleSize val="0"/>
        </c:dLbls>
        <c:gapWidth val="45"/>
        <c:overlap val="-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BD3DF"/>
            </a:solidFill>
          </a:ln>
        </c:spPr>
        <c:txPr>
          <a:bodyPr/>
          <a:lstStyle/>
          <a:p>
            <a:pPr>
              <a:defRPr sz="1400" b="1"/>
            </a:pPr>
            <a:endParaRPr lang="ko-KR"/>
          </a:p>
        </c:txPr>
        <c:crossAx val="-2113994440"/>
        <c:crosses val="autoZero"/>
        <c:auto val="1"/>
        <c:lblAlgn val="ctr"/>
        <c:lblOffset val="100"/>
        <c:noMultiLvlLbl val="0"/>
      </c:catAx>
      <c:valAx>
        <c:axId val="-2113994440"/>
        <c:scaling>
          <c:orientation val="minMax"/>
          <c:max val="500"/>
          <c:min val="0"/>
        </c:scaling>
        <c:delete val="1"/>
        <c:axPos val="t"/>
        <c:numFmt formatCode="General" sourceLinked="1"/>
        <c:majorTickMark val="out"/>
        <c:minorTickMark val="none"/>
        <c:tickLblPos val="nextTo"/>
        <c:crossAx val="-2068027336"/>
        <c:crosses val="autoZero"/>
        <c:crossBetween val="between"/>
      </c:valAx>
    </c:plotArea>
    <c:legend>
      <c:legendPos val="t"/>
      <c:overlay val="0"/>
      <c:txPr>
        <a:bodyPr/>
        <a:lstStyle/>
        <a:p>
          <a:pPr>
            <a:defRPr sz="1100">
              <a:latin typeface="Malgun Gothic"/>
            </a:defRPr>
          </a:pPr>
          <a:endParaRPr lang="ko-KR"/>
        </a:p>
      </c:txPr>
    </c:legend>
    <c:plotVisOnly val="1"/>
    <c:dispBlanksAs val="gap"/>
    <c:showDLblsOverMax val="1"/>
  </c:chart>
  <c:txPr>
    <a:bodyPr/>
    <a:lstStyle/>
    <a:p>
      <a:pPr>
        <a:defRPr sz="1100">
          <a:solidFill>
            <a:srgbClr val="7E899B"/>
          </a:solidFill>
          <a:latin typeface="Malgun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E9117-E867-4AA9-A63A-0A51D1C47252}" type="datetimeFigureOut">
              <a:rPr lang="ko-KR" altLang="en-US" smtClean="0"/>
              <a:t>2026-10-10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6F8B89-BA0D-4467-9E7C-816CFFC18D55}" type="slidenum">
              <a:rPr lang="ko-KR" altLang="en-US" smtClean="0"/>
              <a:t>‹#›</a:t>
            </a:fld>
            <a:endParaRPr lang="ko-KR" altLang="en-US"/>
          </a:p>
        </p:txBody>
      </p:sp>
    </p:spTree>
    <p:extLst>
      <p:ext uri="{BB962C8B-B14F-4D97-AF65-F5344CB8AC3E}">
        <p14:creationId xmlns:p14="http://schemas.microsoft.com/office/powerpoint/2010/main" val="183849561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앞의 회귀 결과로 정부 재정 부담과 물가 영향을 계산하고, 다음 결정인 11차 최고가격을 권고하겠습니다. 결론은 휘발유 30원, 경유 90원, 등유 120원 인상입니다.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계산은 네 단계입니다. 회귀로 구한 '상한제가 없었다면 가격'에서 최고가격을 빼면 리터당 정부 지원금액이 나옵니다. 여기에 판매량을 곱해 재정 부담을 구하고, 상한을 올리면 물가가 얼마나 오르는지 계산한 뒤, 둘을 함께 따져 11차 조정 폭을 고릅니다.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그래프는 정부가 매주 정유사에 리터당 지원한 금액입니다. 3~4월에는 경유가 1,000원을 넘었고, 6월 말에는 0 근처까지 내려왔다가, 9월 말 다시 휘발유 335원, 경유 511원으로 커졌습니다. 판매량을 곱해 모두 더하면 3월 13일부터 9월 26일까지 6.35조 원이고, 그중 71%가 경유입니다.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상한을 올린다고 주유소 가격이 그만큼 바로 오르지는 않습니다. 실제 2차와 7차 조정을 보면, 4주 뒤 휘발유와 경유는 약 90%, 등유는 39%만 따라 움직였습니다. 이 반영률과 물가 가중치로 계산하면 상한제가 3~8월 물가를 0.58%p 낮췄는데, 정부 발표 0.6%p와 거의 같습니다.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그래서 같은 100원을 올려도 물가 영향은 휘발유 0.103%p, 등유 0.005%p로 약 21배 차이가 납니다. 휘발유는 적게, 경유와 등유는 많이 올리는 것이 물가 부담이 적습니다.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앞으로의 유가는 알 수 없기 때문에, 과거 유가와 환율의 움직임을 4주씩 뽑아 이어 붙여 24주짜리 유가 흐름 500가지를 만들었습니다. 유종마다 6단계, 모두 216가지 조정안을 500가지 흐름에 적용해 정부 지원금을 계산하고, 물가 한도 안에서 평균 지원금이 가장 적은 안을 골랐습니다.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물가 한도는 한 달 0.104%p입니다. 상한제가 지금 낮춰 두고 있는 물가 0.623%p를 남은 여섯 번의 결정에 나눠 되돌리는 속도입니다. 정부가 실제로 한 2차 인상(0.375%p)의 3분의 1이 안 되는 크기입니다.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결과입니다. 휘발유 30원, 경유 90원, 등유 120원 인상을 권고합니다. 이번 달 물가는 0.1%p 오르고, 정부 지원금은 4주 동안 약 1,900억 원 줄어듭니다.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그대로 동결하면 앞으로 24주 동안 정부 지원금은 5.72조 원입니다. 권고대로 하면 4.86조 원으로, 약 8,600억 원을 줄일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반영률, 물가 한도, 유가를 뽑는 기간을 바꿔 다시 계산해도, 휘발유를 가장 적게 올린다는 결론은 8가지 경우 모두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규칙을 2차부터 10차까지의 과거 결정에 적용하면, 정부보다 상한을 더 올렸을 것입니다. 정부는 지원금이 커도 동결했고, 지원금이 가장 작던 7차에는 내렸습니다. 정부가 재정보다 물가를 더 중시해 왔다는 뜻입니다. 저희 권고는 '재정까지 함께 고려하면 이만큼 올릴 여지가 있다'는 기준을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이상으로 발표를 마치겠습니다. 감사합니다. (예상 질문) 물가 한도 0.104%p의 근거: 상한제가 낮춰 둔 물가 0.623%p를 6차수에 나눠 되돌리는 속도. 재정 부담이 업계 추산(4~5조 원)보다 큰 이유: 기준 가격이 국제가·환율에 최근 52주 국내 가격 수준 보정까지 반영해, 정부의 '원가 + 적정 마진' 기준보다 높게 잡힘.</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39033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279B6BEF-3F2B-4A96-8B21-A35997A69175}"/>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직사각형 9">
            <a:extLst>
              <a:ext uri="{FF2B5EF4-FFF2-40B4-BE49-F238E27FC236}">
                <a16:creationId xmlns:a16="http://schemas.microsoft.com/office/drawing/2014/main" id="{A5822447-711F-4F70-A384-C51669F472E2}"/>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1" name="직사각형 10">
            <a:extLst>
              <a:ext uri="{FF2B5EF4-FFF2-40B4-BE49-F238E27FC236}">
                <a16:creationId xmlns:a16="http://schemas.microsoft.com/office/drawing/2014/main" id="{EB684F7B-A027-4B1F-88DF-AFB03DF42E87}"/>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2" name="직사각형 11">
            <a:extLst>
              <a:ext uri="{FF2B5EF4-FFF2-40B4-BE49-F238E27FC236}">
                <a16:creationId xmlns:a16="http://schemas.microsoft.com/office/drawing/2014/main" id="{E2AB698C-71A0-413B-8424-5ADCCFE4FB69}"/>
              </a:ext>
            </a:extLst>
          </p:cNvPr>
          <p:cNvSpPr/>
          <p:nvPr/>
        </p:nvSpPr>
        <p:spPr>
          <a:xfrm>
            <a:off x="12255500" y="1549400"/>
            <a:ext cx="6032500" cy="8737600"/>
          </a:xfrm>
          <a:prstGeom prst="rect">
            <a:avLst/>
          </a:prstGeom>
          <a:solidFill>
            <a:srgbClr val="10182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3" name="직사각형 12">
            <a:extLst>
              <a:ext uri="{FF2B5EF4-FFF2-40B4-BE49-F238E27FC236}">
                <a16:creationId xmlns:a16="http://schemas.microsoft.com/office/drawing/2014/main" id="{8855D3D9-D1C8-480C-A533-6FAD5069926A}"/>
              </a:ext>
            </a:extLst>
          </p:cNvPr>
          <p:cNvSpPr/>
          <p:nvPr/>
        </p:nvSpPr>
        <p:spPr>
          <a:xfrm>
            <a:off x="12255500" y="1549400"/>
            <a:ext cx="152400" cy="87376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4" name="직사각형 13">
            <a:extLst>
              <a:ext uri="{FF2B5EF4-FFF2-40B4-BE49-F238E27FC236}">
                <a16:creationId xmlns:a16="http://schemas.microsoft.com/office/drawing/2014/main" id="{ADDC5371-3E38-4D5F-9A8D-824E8C6CE8C0}"/>
              </a:ext>
            </a:extLst>
          </p:cNvPr>
          <p:cNvSpPr/>
          <p:nvPr/>
        </p:nvSpPr>
        <p:spPr>
          <a:xfrm>
            <a:off x="14414500" y="2984500"/>
            <a:ext cx="2667000" cy="101600"/>
          </a:xfrm>
          <a:prstGeom prst="rect">
            <a:avLst/>
          </a:prstGeom>
          <a:solidFill>
            <a:srgbClr val="39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 name="직사각형 14">
            <a:extLst>
              <a:ext uri="{FF2B5EF4-FFF2-40B4-BE49-F238E27FC236}">
                <a16:creationId xmlns:a16="http://schemas.microsoft.com/office/drawing/2014/main" id="{643D4F6B-6B35-4D5B-8B7A-0CA23C3E6C89}"/>
              </a:ext>
            </a:extLst>
          </p:cNvPr>
          <p:cNvSpPr/>
          <p:nvPr/>
        </p:nvSpPr>
        <p:spPr>
          <a:xfrm>
            <a:off x="13843000" y="3619500"/>
            <a:ext cx="3238500" cy="1016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 name="직사각형 15">
            <a:extLst>
              <a:ext uri="{FF2B5EF4-FFF2-40B4-BE49-F238E27FC236}">
                <a16:creationId xmlns:a16="http://schemas.microsoft.com/office/drawing/2014/main" id="{312686F6-8E49-4013-928E-7554BB6B570E}"/>
              </a:ext>
            </a:extLst>
          </p:cNvPr>
          <p:cNvSpPr/>
          <p:nvPr/>
        </p:nvSpPr>
        <p:spPr>
          <a:xfrm>
            <a:off x="14986000" y="4254500"/>
            <a:ext cx="2095500" cy="101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7" name="TextBox 16">
            <a:extLst>
              <a:ext uri="{FF2B5EF4-FFF2-40B4-BE49-F238E27FC236}">
                <a16:creationId xmlns:a16="http://schemas.microsoft.com/office/drawing/2014/main" id="{493BDC76-3481-422E-AF13-DACA197476DF}"/>
              </a:ext>
            </a:extLst>
          </p:cNvPr>
          <p:cNvSpPr txBox="1"/>
          <p:nvPr/>
        </p:nvSpPr>
        <p:spPr>
          <a:xfrm>
            <a:off x="1397000" y="2667000"/>
            <a:ext cx="8890000" cy="431800"/>
          </a:xfrm>
          <a:prstGeom prst="rect">
            <a:avLst/>
          </a:prstGeom>
          <a:noFill/>
        </p:spPr>
        <p:txBody>
          <a:bodyPr vertOverflow="overflow" vert="horz" wrap="square" rtlCol="0" anchor="t">
            <a:normAutofit/>
          </a:bodyPr>
          <a:lstStyle/>
          <a:p>
            <a:pPr algn="l"/>
            <a:r>
              <a:rPr lang="en-US" altLang="ko-KR" sz="1500">
                <a:solidFill>
                  <a:srgbClr val="8A8F98"/>
                </a:solidFill>
                <a:latin typeface="맑은 고딕"/>
                <a:ea typeface="맑은 고딕"/>
              </a:rPr>
              <a:t>ECONOMICS DEPARTMENT · ORIENTATION</a:t>
            </a:r>
            <a:endParaRPr lang="ko-KR" altLang="en-US" sz="1500">
              <a:solidFill>
                <a:srgbClr val="8A8F98"/>
              </a:solidFill>
              <a:latin typeface="맑은 고딕"/>
              <a:ea typeface="맑은 고딕"/>
            </a:endParaRPr>
          </a:p>
        </p:txBody>
      </p:sp>
      <p:sp>
        <p:nvSpPr>
          <p:cNvPr id="18" name="TextBox 17">
            <a:extLst>
              <a:ext uri="{FF2B5EF4-FFF2-40B4-BE49-F238E27FC236}">
                <a16:creationId xmlns:a16="http://schemas.microsoft.com/office/drawing/2014/main" id="{4E0C72C1-5100-4D79-8443-15E9CE6B22B0}"/>
              </a:ext>
            </a:extLst>
          </p:cNvPr>
          <p:cNvSpPr txBox="1"/>
          <p:nvPr/>
        </p:nvSpPr>
        <p:spPr>
          <a:xfrm>
            <a:off x="1333500" y="3302000"/>
            <a:ext cx="9652000" cy="2286000"/>
          </a:xfrm>
          <a:prstGeom prst="rect">
            <a:avLst/>
          </a:prstGeom>
          <a:noFill/>
        </p:spPr>
        <p:txBody>
          <a:bodyPr vertOverflow="overflow" vert="horz" wrap="square" rtlCol="0" anchor="t">
            <a:normAutofit/>
          </a:bodyPr>
          <a:lstStyle/>
          <a:p>
            <a:pPr algn="l"/>
            <a:r>
              <a:rPr lang="ko-KR" altLang="en-US" sz="4000" b="1">
                <a:solidFill>
                  <a:srgbClr val="101828"/>
                </a:solidFill>
                <a:latin typeface="맑은 고딕"/>
                <a:ea typeface="맑은 고딕"/>
              </a:rPr>
              <a:t>금융</a:t>
            </a:r>
            <a:r>
              <a:rPr lang="en-US" altLang="ko-KR" sz="4000" b="1">
                <a:solidFill>
                  <a:srgbClr val="101828"/>
                </a:solidFill>
                <a:latin typeface="맑은 고딕"/>
                <a:ea typeface="맑은 고딕"/>
              </a:rPr>
              <a:t>·</a:t>
            </a:r>
            <a:r>
              <a:rPr lang="ko-KR" altLang="en-US" sz="4000" b="1">
                <a:solidFill>
                  <a:srgbClr val="101828"/>
                </a:solidFill>
                <a:latin typeface="맑은 고딕"/>
                <a:ea typeface="맑은 고딕"/>
              </a:rPr>
              <a:t>에너지
데이터 해커톤</a:t>
            </a:r>
          </a:p>
        </p:txBody>
      </p:sp>
      <p:sp>
        <p:nvSpPr>
          <p:cNvPr id="19" name="직사각형 18">
            <a:extLst>
              <a:ext uri="{FF2B5EF4-FFF2-40B4-BE49-F238E27FC236}">
                <a16:creationId xmlns:a16="http://schemas.microsoft.com/office/drawing/2014/main" id="{965C02CF-8DB9-4B89-A1AB-7079F4F42629}"/>
              </a:ext>
            </a:extLst>
          </p:cNvPr>
          <p:cNvSpPr/>
          <p:nvPr/>
        </p:nvSpPr>
        <p:spPr>
          <a:xfrm>
            <a:off x="1397000" y="5905500"/>
            <a:ext cx="1587500" cy="889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0" name="TextBox 19">
            <a:extLst>
              <a:ext uri="{FF2B5EF4-FFF2-40B4-BE49-F238E27FC236}">
                <a16:creationId xmlns:a16="http://schemas.microsoft.com/office/drawing/2014/main" id="{4ADEABE2-FFEE-45D5-A79F-8D6ABB8D5278}"/>
              </a:ext>
            </a:extLst>
          </p:cNvPr>
          <p:cNvSpPr txBox="1"/>
          <p:nvPr/>
        </p:nvSpPr>
        <p:spPr>
          <a:xfrm>
            <a:off x="1397000" y="6350000"/>
            <a:ext cx="9017000" cy="1041400"/>
          </a:xfrm>
          <a:prstGeom prst="rect">
            <a:avLst/>
          </a:prstGeom>
          <a:noFill/>
        </p:spPr>
        <p:txBody>
          <a:bodyPr vertOverflow="overflow" vert="horz" wrap="square" rtlCol="0" anchor="t">
            <a:normAutofit/>
          </a:bodyPr>
          <a:lstStyle/>
          <a:p>
            <a:pPr algn="l"/>
            <a:r>
              <a:rPr lang="ko-KR" altLang="en-US" sz="2100" b="1">
                <a:solidFill>
                  <a:srgbClr val="101828"/>
                </a:solidFill>
                <a:latin typeface="맑은 고딕"/>
                <a:ea typeface="맑은 고딕"/>
              </a:rPr>
              <a:t>국내 석유제품 최고가격제
시행 유지와 해제 시나리오 비교</a:t>
            </a:r>
          </a:p>
        </p:txBody>
      </p:sp>
      <p:sp>
        <p:nvSpPr>
          <p:cNvPr id="21" name="TextBox 20">
            <a:extLst>
              <a:ext uri="{FF2B5EF4-FFF2-40B4-BE49-F238E27FC236}">
                <a16:creationId xmlns:a16="http://schemas.microsoft.com/office/drawing/2014/main" id="{667700BC-07BC-4AD5-8032-C9AAEA741779}"/>
              </a:ext>
            </a:extLst>
          </p:cNvPr>
          <p:cNvSpPr txBox="1"/>
          <p:nvPr/>
        </p:nvSpPr>
        <p:spPr>
          <a:xfrm>
            <a:off x="1397000" y="7810500"/>
            <a:ext cx="9144000" cy="431800"/>
          </a:xfrm>
          <a:prstGeom prst="rect">
            <a:avLst/>
          </a:prstGeom>
          <a:noFill/>
        </p:spPr>
        <p:txBody>
          <a:bodyPr vertOverflow="overflow" vert="horz" wrap="square" rtlCol="0" anchor="t">
            <a:normAutofit/>
          </a:bodyPr>
          <a:lstStyle/>
          <a:p>
            <a:pPr algn="l"/>
            <a:r>
              <a:rPr lang="ko-KR" altLang="en-US" sz="1500">
                <a:solidFill>
                  <a:srgbClr val="8A8F98"/>
                </a:solidFill>
                <a:latin typeface="맑은 고딕"/>
                <a:ea typeface="맑은 고딕"/>
              </a:rPr>
              <a:t>사전 준비사항 </a:t>
            </a:r>
            <a:r>
              <a:rPr lang="en-US" altLang="ko-KR" sz="1500">
                <a:solidFill>
                  <a:srgbClr val="8A8F98"/>
                </a:solidFill>
                <a:latin typeface="맑은 고딕"/>
                <a:ea typeface="맑은 고딕"/>
              </a:rPr>
              <a:t>· </a:t>
            </a:r>
            <a:r>
              <a:rPr lang="ko-KR" altLang="en-US" sz="1500">
                <a:solidFill>
                  <a:srgbClr val="8A8F98"/>
                </a:solidFill>
                <a:latin typeface="맑은 고딕"/>
                <a:ea typeface="맑은 고딕"/>
              </a:rPr>
              <a:t>프로젝트 설계 </a:t>
            </a:r>
            <a:r>
              <a:rPr lang="en-US" altLang="ko-KR" sz="1500">
                <a:solidFill>
                  <a:srgbClr val="8A8F98"/>
                </a:solidFill>
                <a:latin typeface="맑은 고딕"/>
                <a:ea typeface="맑은 고딕"/>
              </a:rPr>
              <a:t>· </a:t>
            </a:r>
            <a:r>
              <a:rPr lang="ko-KR" altLang="en-US" sz="1500">
                <a:solidFill>
                  <a:srgbClr val="8A8F98"/>
                </a:solidFill>
                <a:latin typeface="맑은 고딕"/>
                <a:ea typeface="맑은 고딕"/>
              </a:rPr>
              <a:t>고득점 전략</a:t>
            </a:r>
          </a:p>
        </p:txBody>
      </p:sp>
      <p:sp>
        <p:nvSpPr>
          <p:cNvPr id="22" name="TextBox 21">
            <a:extLst>
              <a:ext uri="{FF2B5EF4-FFF2-40B4-BE49-F238E27FC236}">
                <a16:creationId xmlns:a16="http://schemas.microsoft.com/office/drawing/2014/main" id="{9ACF2F6E-A85E-4327-A02F-0E1A8052E57C}"/>
              </a:ext>
            </a:extLst>
          </p:cNvPr>
          <p:cNvSpPr txBox="1"/>
          <p:nvPr/>
        </p:nvSpPr>
        <p:spPr>
          <a:xfrm>
            <a:off x="1397000" y="8763000"/>
            <a:ext cx="3810000" cy="381000"/>
          </a:xfrm>
          <a:prstGeom prst="rect">
            <a:avLst/>
          </a:prstGeom>
          <a:noFill/>
        </p:spPr>
        <p:txBody>
          <a:bodyPr vertOverflow="overflow" vert="horz" wrap="square" rtlCol="0" anchor="t">
            <a:normAutofit/>
          </a:bodyPr>
          <a:lstStyle/>
          <a:p>
            <a:pPr algn="l"/>
            <a:r>
              <a:rPr lang="ko-KR" altLang="en-US" sz="1500" b="1">
                <a:solidFill>
                  <a:srgbClr val="4775FF"/>
                </a:solidFill>
                <a:latin typeface="맑은 고딕"/>
                <a:ea typeface="맑은 고딕"/>
              </a:rPr>
              <a:t>경제학과</a:t>
            </a:r>
          </a:p>
        </p:txBody>
      </p:sp>
    </p:spTree>
    <p:extLst>
      <p:ext uri="{BB962C8B-B14F-4D97-AF65-F5344CB8AC3E}">
        <p14:creationId xmlns:p14="http://schemas.microsoft.com/office/powerpoint/2010/main" val="1035478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6F9E0A56-6909-4C33-9C6F-8677C16F436C}"/>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4" name="직사각형 43">
            <a:extLst>
              <a:ext uri="{FF2B5EF4-FFF2-40B4-BE49-F238E27FC236}">
                <a16:creationId xmlns:a16="http://schemas.microsoft.com/office/drawing/2014/main" id="{A6D19DE2-05C9-4A0A-A00F-290719B76955}"/>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직사각형 44">
            <a:extLst>
              <a:ext uri="{FF2B5EF4-FFF2-40B4-BE49-F238E27FC236}">
                <a16:creationId xmlns:a16="http://schemas.microsoft.com/office/drawing/2014/main" id="{5724C3BB-E468-40FD-9910-F34769C5D23A}"/>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TextBox 45">
            <a:extLst>
              <a:ext uri="{FF2B5EF4-FFF2-40B4-BE49-F238E27FC236}">
                <a16:creationId xmlns:a16="http://schemas.microsoft.com/office/drawing/2014/main" id="{13618E00-BF40-416D-8075-96F4D60652A0}"/>
              </a:ext>
            </a:extLst>
          </p:cNvPr>
          <p:cNvSpPr txBox="1"/>
          <p:nvPr/>
        </p:nvSpPr>
        <p:spPr>
          <a:xfrm>
            <a:off x="1092200" y="1841500"/>
            <a:ext cx="6604000" cy="304800"/>
          </a:xfrm>
          <a:prstGeom prst="rect">
            <a:avLst/>
          </a:prstGeom>
          <a:noFill/>
        </p:spPr>
        <p:txBody>
          <a:bodyPr vertOverflow="overflow" vert="horz" wrap="square" rtlCol="0" anchor="t">
            <a:normAutofit/>
          </a:bodyPr>
          <a:lstStyle/>
          <a:p>
            <a:pPr algn="l"/>
            <a:r>
              <a:rPr lang="en-US" altLang="ko-KR" sz="1400">
                <a:solidFill>
                  <a:srgbClr val="8A8F98"/>
                </a:solidFill>
                <a:latin typeface="맑은 고딕"/>
                <a:ea typeface="맑은 고딕"/>
              </a:rPr>
              <a:t>PRESENTATION ROUTE</a:t>
            </a:r>
            <a:endParaRPr lang="ko-KR" altLang="en-US" sz="1400">
              <a:solidFill>
                <a:srgbClr val="8A8F98"/>
              </a:solidFill>
              <a:latin typeface="맑은 고딕"/>
              <a:ea typeface="맑은 고딕"/>
            </a:endParaRPr>
          </a:p>
        </p:txBody>
      </p:sp>
      <p:sp>
        <p:nvSpPr>
          <p:cNvPr id="47" name="TextBox 46">
            <a:extLst>
              <a:ext uri="{FF2B5EF4-FFF2-40B4-BE49-F238E27FC236}">
                <a16:creationId xmlns:a16="http://schemas.microsoft.com/office/drawing/2014/main" id="{643CD516-870A-4533-95DF-A2DA6D5F2484}"/>
              </a:ext>
            </a:extLst>
          </p:cNvPr>
          <p:cNvSpPr txBox="1"/>
          <p:nvPr/>
        </p:nvSpPr>
        <p:spPr>
          <a:xfrm>
            <a:off x="1041400" y="2286000"/>
            <a:ext cx="14986000" cy="914400"/>
          </a:xfrm>
          <a:prstGeom prst="rect">
            <a:avLst/>
          </a:prstGeom>
          <a:noFill/>
        </p:spPr>
        <p:txBody>
          <a:bodyPr vertOverflow="overflow" vert="horz" wrap="square" rtlCol="0" anchor="t">
            <a:normAutofit/>
          </a:bodyPr>
          <a:lstStyle/>
          <a:p>
            <a:pPr algn="l"/>
            <a:r>
              <a:rPr lang="en-US" altLang="ko-KR" sz="2900" b="1" dirty="0">
                <a:solidFill>
                  <a:srgbClr val="101828"/>
                </a:solidFill>
                <a:latin typeface="맑은 고딕"/>
                <a:ea typeface="맑은 고딕"/>
              </a:rPr>
              <a:t>10</a:t>
            </a:r>
            <a:r>
              <a:rPr lang="ko-KR" altLang="en-US" sz="2900" b="1" dirty="0">
                <a:solidFill>
                  <a:srgbClr val="101828"/>
                </a:solidFill>
                <a:latin typeface="맑은 고딕"/>
                <a:ea typeface="맑은 고딕"/>
              </a:rPr>
              <a:t>분 발표의 흐름</a:t>
            </a:r>
          </a:p>
        </p:txBody>
      </p:sp>
      <p:sp>
        <p:nvSpPr>
          <p:cNvPr id="48" name="직사각형 47">
            <a:extLst>
              <a:ext uri="{FF2B5EF4-FFF2-40B4-BE49-F238E27FC236}">
                <a16:creationId xmlns:a16="http://schemas.microsoft.com/office/drawing/2014/main" id="{E566F892-613A-4AA1-81F8-9AFAFE870FF7}"/>
              </a:ext>
            </a:extLst>
          </p:cNvPr>
          <p:cNvSpPr/>
          <p:nvPr/>
        </p:nvSpPr>
        <p:spPr>
          <a:xfrm>
            <a:off x="7239000" y="3683000"/>
            <a:ext cx="8255000" cy="7874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9" name="직사각형 48">
            <a:extLst>
              <a:ext uri="{FF2B5EF4-FFF2-40B4-BE49-F238E27FC236}">
                <a16:creationId xmlns:a16="http://schemas.microsoft.com/office/drawing/2014/main" id="{522D6192-332E-4D28-B80E-519CA8AA2A3A}"/>
              </a:ext>
            </a:extLst>
          </p:cNvPr>
          <p:cNvSpPr/>
          <p:nvPr/>
        </p:nvSpPr>
        <p:spPr>
          <a:xfrm>
            <a:off x="7239000" y="3683000"/>
            <a:ext cx="812800" cy="787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0" name="TextBox 49">
            <a:extLst>
              <a:ext uri="{FF2B5EF4-FFF2-40B4-BE49-F238E27FC236}">
                <a16:creationId xmlns:a16="http://schemas.microsoft.com/office/drawing/2014/main" id="{842734D2-DB89-4F43-B9D4-C7051309D391}"/>
              </a:ext>
            </a:extLst>
          </p:cNvPr>
          <p:cNvSpPr txBox="1"/>
          <p:nvPr/>
        </p:nvSpPr>
        <p:spPr>
          <a:xfrm>
            <a:off x="7366000" y="3873500"/>
            <a:ext cx="558800" cy="3810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01</a:t>
            </a:r>
            <a:endParaRPr lang="ko-KR" altLang="en-US" sz="1600" b="1">
              <a:solidFill>
                <a:srgbClr val="FFFFFF"/>
              </a:solidFill>
              <a:latin typeface="맑은 고딕"/>
              <a:ea typeface="맑은 고딕"/>
            </a:endParaRPr>
          </a:p>
        </p:txBody>
      </p:sp>
      <p:sp>
        <p:nvSpPr>
          <p:cNvPr id="51" name="TextBox 50">
            <a:extLst>
              <a:ext uri="{FF2B5EF4-FFF2-40B4-BE49-F238E27FC236}">
                <a16:creationId xmlns:a16="http://schemas.microsoft.com/office/drawing/2014/main" id="{8C259ADF-AB71-4538-BFA6-36EE182CF373}"/>
              </a:ext>
            </a:extLst>
          </p:cNvPr>
          <p:cNvSpPr txBox="1"/>
          <p:nvPr/>
        </p:nvSpPr>
        <p:spPr>
          <a:xfrm>
            <a:off x="8445500" y="3822700"/>
            <a:ext cx="2540000" cy="355600"/>
          </a:xfrm>
          <a:prstGeom prst="rect">
            <a:avLst/>
          </a:prstGeom>
          <a:noFill/>
        </p:spPr>
        <p:txBody>
          <a:bodyPr vertOverflow="overflow" vert="horz" wrap="square" rtlCol="0" anchor="t">
            <a:normAutofit/>
          </a:bodyPr>
          <a:lstStyle/>
          <a:p>
            <a:pPr algn="l"/>
            <a:r>
              <a:rPr lang="ko-KR" altLang="en-US" sz="1700" b="1" dirty="0">
                <a:solidFill>
                  <a:srgbClr val="101828"/>
                </a:solidFill>
                <a:latin typeface="맑은 고딕"/>
                <a:ea typeface="맑은 고딕"/>
              </a:rPr>
              <a:t>석유 최고가격제 설명</a:t>
            </a:r>
          </a:p>
        </p:txBody>
      </p:sp>
      <p:sp>
        <p:nvSpPr>
          <p:cNvPr id="53" name="직사각형 52">
            <a:extLst>
              <a:ext uri="{FF2B5EF4-FFF2-40B4-BE49-F238E27FC236}">
                <a16:creationId xmlns:a16="http://schemas.microsoft.com/office/drawing/2014/main" id="{AB1349D1-5A90-402B-AFB7-9963EA3D35DB}"/>
              </a:ext>
            </a:extLst>
          </p:cNvPr>
          <p:cNvSpPr/>
          <p:nvPr/>
        </p:nvSpPr>
        <p:spPr>
          <a:xfrm>
            <a:off x="7239000" y="4673600"/>
            <a:ext cx="8255000" cy="7874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4" name="직사각형 53">
            <a:extLst>
              <a:ext uri="{FF2B5EF4-FFF2-40B4-BE49-F238E27FC236}">
                <a16:creationId xmlns:a16="http://schemas.microsoft.com/office/drawing/2014/main" id="{4E747756-FACF-45B2-95CA-CB608C19CDB2}"/>
              </a:ext>
            </a:extLst>
          </p:cNvPr>
          <p:cNvSpPr/>
          <p:nvPr/>
        </p:nvSpPr>
        <p:spPr>
          <a:xfrm>
            <a:off x="7239000" y="4673600"/>
            <a:ext cx="812800" cy="787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5" name="TextBox 54">
            <a:extLst>
              <a:ext uri="{FF2B5EF4-FFF2-40B4-BE49-F238E27FC236}">
                <a16:creationId xmlns:a16="http://schemas.microsoft.com/office/drawing/2014/main" id="{2E1A8D54-3D76-41AB-8257-CAB4C51FBCBC}"/>
              </a:ext>
            </a:extLst>
          </p:cNvPr>
          <p:cNvSpPr txBox="1"/>
          <p:nvPr/>
        </p:nvSpPr>
        <p:spPr>
          <a:xfrm>
            <a:off x="7366000" y="4864100"/>
            <a:ext cx="558800" cy="3810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02</a:t>
            </a:r>
            <a:endParaRPr lang="ko-KR" altLang="en-US" sz="1600" b="1">
              <a:solidFill>
                <a:srgbClr val="FFFFFF"/>
              </a:solidFill>
              <a:latin typeface="맑은 고딕"/>
              <a:ea typeface="맑은 고딕"/>
            </a:endParaRPr>
          </a:p>
        </p:txBody>
      </p:sp>
      <p:sp>
        <p:nvSpPr>
          <p:cNvPr id="56" name="TextBox 55">
            <a:extLst>
              <a:ext uri="{FF2B5EF4-FFF2-40B4-BE49-F238E27FC236}">
                <a16:creationId xmlns:a16="http://schemas.microsoft.com/office/drawing/2014/main" id="{70DAADF9-5FCB-4420-B07E-90220C3B3A54}"/>
              </a:ext>
            </a:extLst>
          </p:cNvPr>
          <p:cNvSpPr txBox="1"/>
          <p:nvPr/>
        </p:nvSpPr>
        <p:spPr>
          <a:xfrm>
            <a:off x="8445500" y="4813300"/>
            <a:ext cx="2540000" cy="355600"/>
          </a:xfrm>
          <a:prstGeom prst="rect">
            <a:avLst/>
          </a:prstGeom>
          <a:noFill/>
        </p:spPr>
        <p:txBody>
          <a:bodyPr vertOverflow="overflow" vert="horz" wrap="square" rtlCol="0" anchor="t">
            <a:normAutofit/>
          </a:bodyPr>
          <a:lstStyle/>
          <a:p>
            <a:pPr algn="l"/>
            <a:r>
              <a:rPr lang="ko-KR" altLang="en-US" sz="1700" b="1" dirty="0">
                <a:solidFill>
                  <a:srgbClr val="101828"/>
                </a:solidFill>
                <a:latin typeface="맑은 고딕"/>
                <a:ea typeface="맑은 고딕"/>
              </a:rPr>
              <a:t>분석단계</a:t>
            </a:r>
          </a:p>
        </p:txBody>
      </p:sp>
      <p:sp>
        <p:nvSpPr>
          <p:cNvPr id="58" name="직사각형 57">
            <a:extLst>
              <a:ext uri="{FF2B5EF4-FFF2-40B4-BE49-F238E27FC236}">
                <a16:creationId xmlns:a16="http://schemas.microsoft.com/office/drawing/2014/main" id="{A33499B1-9D05-45AE-B2B9-4328057880B9}"/>
              </a:ext>
            </a:extLst>
          </p:cNvPr>
          <p:cNvSpPr/>
          <p:nvPr/>
        </p:nvSpPr>
        <p:spPr>
          <a:xfrm>
            <a:off x="7239000" y="5664200"/>
            <a:ext cx="8255000" cy="7874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9" name="직사각형 58">
            <a:extLst>
              <a:ext uri="{FF2B5EF4-FFF2-40B4-BE49-F238E27FC236}">
                <a16:creationId xmlns:a16="http://schemas.microsoft.com/office/drawing/2014/main" id="{0E18A5AC-AD4E-4A43-8CFE-4883DD2BF7B0}"/>
              </a:ext>
            </a:extLst>
          </p:cNvPr>
          <p:cNvSpPr/>
          <p:nvPr/>
        </p:nvSpPr>
        <p:spPr>
          <a:xfrm>
            <a:off x="7239000" y="5664200"/>
            <a:ext cx="812800" cy="787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0" name="TextBox 59">
            <a:extLst>
              <a:ext uri="{FF2B5EF4-FFF2-40B4-BE49-F238E27FC236}">
                <a16:creationId xmlns:a16="http://schemas.microsoft.com/office/drawing/2014/main" id="{FEB6788B-09BC-4D96-B575-DB7EF87C5E0F}"/>
              </a:ext>
            </a:extLst>
          </p:cNvPr>
          <p:cNvSpPr txBox="1"/>
          <p:nvPr/>
        </p:nvSpPr>
        <p:spPr>
          <a:xfrm>
            <a:off x="7366000" y="5854700"/>
            <a:ext cx="558800" cy="3810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03</a:t>
            </a:r>
            <a:endParaRPr lang="ko-KR" altLang="en-US" sz="1600" b="1">
              <a:solidFill>
                <a:srgbClr val="FFFFFF"/>
              </a:solidFill>
              <a:latin typeface="맑은 고딕"/>
              <a:ea typeface="맑은 고딕"/>
            </a:endParaRPr>
          </a:p>
        </p:txBody>
      </p:sp>
      <p:sp>
        <p:nvSpPr>
          <p:cNvPr id="61" name="TextBox 60">
            <a:extLst>
              <a:ext uri="{FF2B5EF4-FFF2-40B4-BE49-F238E27FC236}">
                <a16:creationId xmlns:a16="http://schemas.microsoft.com/office/drawing/2014/main" id="{3FFEA806-A0F0-45EE-8352-15606B12EBB9}"/>
              </a:ext>
            </a:extLst>
          </p:cNvPr>
          <p:cNvSpPr txBox="1"/>
          <p:nvPr/>
        </p:nvSpPr>
        <p:spPr>
          <a:xfrm>
            <a:off x="8445500" y="5803900"/>
            <a:ext cx="2540000" cy="355600"/>
          </a:xfrm>
          <a:prstGeom prst="rect">
            <a:avLst/>
          </a:prstGeom>
          <a:noFill/>
        </p:spPr>
        <p:txBody>
          <a:bodyPr vertOverflow="overflow" vert="horz" wrap="square" rtlCol="0" anchor="t">
            <a:normAutofit/>
          </a:bodyPr>
          <a:lstStyle/>
          <a:p>
            <a:pPr algn="l"/>
            <a:r>
              <a:rPr lang="ko-KR" altLang="en-US" sz="1700" b="1" dirty="0">
                <a:solidFill>
                  <a:srgbClr val="101828"/>
                </a:solidFill>
                <a:latin typeface="맑은 고딕"/>
                <a:ea typeface="맑은 고딕"/>
              </a:rPr>
              <a:t>회기분석 방식</a:t>
            </a:r>
          </a:p>
        </p:txBody>
      </p:sp>
      <p:sp>
        <p:nvSpPr>
          <p:cNvPr id="63" name="직사각형 62">
            <a:extLst>
              <a:ext uri="{FF2B5EF4-FFF2-40B4-BE49-F238E27FC236}">
                <a16:creationId xmlns:a16="http://schemas.microsoft.com/office/drawing/2014/main" id="{B391CE30-3ED7-4CE0-AB09-B6544915E612}"/>
              </a:ext>
            </a:extLst>
          </p:cNvPr>
          <p:cNvSpPr/>
          <p:nvPr/>
        </p:nvSpPr>
        <p:spPr>
          <a:xfrm>
            <a:off x="7239000" y="6654800"/>
            <a:ext cx="8255000" cy="7874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4" name="직사각형 63">
            <a:extLst>
              <a:ext uri="{FF2B5EF4-FFF2-40B4-BE49-F238E27FC236}">
                <a16:creationId xmlns:a16="http://schemas.microsoft.com/office/drawing/2014/main" id="{1AA714E0-7E1B-44AC-ADF8-119331259507}"/>
              </a:ext>
            </a:extLst>
          </p:cNvPr>
          <p:cNvSpPr/>
          <p:nvPr/>
        </p:nvSpPr>
        <p:spPr>
          <a:xfrm>
            <a:off x="7239000" y="6654800"/>
            <a:ext cx="812800" cy="787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5" name="TextBox 64">
            <a:extLst>
              <a:ext uri="{FF2B5EF4-FFF2-40B4-BE49-F238E27FC236}">
                <a16:creationId xmlns:a16="http://schemas.microsoft.com/office/drawing/2014/main" id="{84A02A2F-9F66-4EEF-B097-630B14AFC79D}"/>
              </a:ext>
            </a:extLst>
          </p:cNvPr>
          <p:cNvSpPr txBox="1"/>
          <p:nvPr/>
        </p:nvSpPr>
        <p:spPr>
          <a:xfrm>
            <a:off x="7366000" y="6845300"/>
            <a:ext cx="558800" cy="3810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04</a:t>
            </a:r>
            <a:endParaRPr lang="ko-KR" altLang="en-US" sz="1600" b="1">
              <a:solidFill>
                <a:srgbClr val="FFFFFF"/>
              </a:solidFill>
              <a:latin typeface="맑은 고딕"/>
              <a:ea typeface="맑은 고딕"/>
            </a:endParaRPr>
          </a:p>
        </p:txBody>
      </p:sp>
      <p:sp>
        <p:nvSpPr>
          <p:cNvPr id="66" name="TextBox 65">
            <a:extLst>
              <a:ext uri="{FF2B5EF4-FFF2-40B4-BE49-F238E27FC236}">
                <a16:creationId xmlns:a16="http://schemas.microsoft.com/office/drawing/2014/main" id="{720833E9-1BED-4CD7-8149-DF118398265B}"/>
              </a:ext>
            </a:extLst>
          </p:cNvPr>
          <p:cNvSpPr txBox="1"/>
          <p:nvPr/>
        </p:nvSpPr>
        <p:spPr>
          <a:xfrm>
            <a:off x="8445500" y="6794500"/>
            <a:ext cx="2540000" cy="355600"/>
          </a:xfrm>
          <a:prstGeom prst="rect">
            <a:avLst/>
          </a:prstGeom>
          <a:noFill/>
        </p:spPr>
        <p:txBody>
          <a:bodyPr vertOverflow="overflow" vert="horz" wrap="square" rtlCol="0" anchor="t">
            <a:normAutofit/>
          </a:bodyPr>
          <a:lstStyle/>
          <a:p>
            <a:pPr algn="l"/>
            <a:r>
              <a:rPr lang="ko-KR" altLang="en-US" sz="1700" b="1" dirty="0">
                <a:solidFill>
                  <a:srgbClr val="101828"/>
                </a:solidFill>
                <a:latin typeface="맑은 고딕"/>
                <a:ea typeface="맑은 고딕"/>
              </a:rPr>
              <a:t>딥러닝 모델 방식</a:t>
            </a:r>
          </a:p>
        </p:txBody>
      </p:sp>
      <p:sp>
        <p:nvSpPr>
          <p:cNvPr id="68" name="직사각형 67">
            <a:extLst>
              <a:ext uri="{FF2B5EF4-FFF2-40B4-BE49-F238E27FC236}">
                <a16:creationId xmlns:a16="http://schemas.microsoft.com/office/drawing/2014/main" id="{13D3B8FE-C4F9-471D-AE5C-3C84E87A21B4}"/>
              </a:ext>
            </a:extLst>
          </p:cNvPr>
          <p:cNvSpPr/>
          <p:nvPr/>
        </p:nvSpPr>
        <p:spPr>
          <a:xfrm>
            <a:off x="7239000" y="7645400"/>
            <a:ext cx="8255000" cy="7874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9" name="직사각형 68">
            <a:extLst>
              <a:ext uri="{FF2B5EF4-FFF2-40B4-BE49-F238E27FC236}">
                <a16:creationId xmlns:a16="http://schemas.microsoft.com/office/drawing/2014/main" id="{EF2FB185-7F6C-48A7-917B-CED65031B881}"/>
              </a:ext>
            </a:extLst>
          </p:cNvPr>
          <p:cNvSpPr/>
          <p:nvPr/>
        </p:nvSpPr>
        <p:spPr>
          <a:xfrm>
            <a:off x="7239000" y="7645400"/>
            <a:ext cx="812800" cy="787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70" name="TextBox 69">
            <a:extLst>
              <a:ext uri="{FF2B5EF4-FFF2-40B4-BE49-F238E27FC236}">
                <a16:creationId xmlns:a16="http://schemas.microsoft.com/office/drawing/2014/main" id="{573DC438-13F4-43B3-A7E3-083564958567}"/>
              </a:ext>
            </a:extLst>
          </p:cNvPr>
          <p:cNvSpPr txBox="1"/>
          <p:nvPr/>
        </p:nvSpPr>
        <p:spPr>
          <a:xfrm>
            <a:off x="7366000" y="7835900"/>
            <a:ext cx="558800" cy="3810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05</a:t>
            </a:r>
            <a:endParaRPr lang="ko-KR" altLang="en-US" sz="1600" b="1">
              <a:solidFill>
                <a:srgbClr val="FFFFFF"/>
              </a:solidFill>
              <a:latin typeface="맑은 고딕"/>
              <a:ea typeface="맑은 고딕"/>
            </a:endParaRPr>
          </a:p>
        </p:txBody>
      </p:sp>
      <p:sp>
        <p:nvSpPr>
          <p:cNvPr id="71" name="TextBox 70">
            <a:extLst>
              <a:ext uri="{FF2B5EF4-FFF2-40B4-BE49-F238E27FC236}">
                <a16:creationId xmlns:a16="http://schemas.microsoft.com/office/drawing/2014/main" id="{C5B31EAB-F200-452E-8F74-BE7228E87693}"/>
              </a:ext>
            </a:extLst>
          </p:cNvPr>
          <p:cNvSpPr txBox="1"/>
          <p:nvPr/>
        </p:nvSpPr>
        <p:spPr>
          <a:xfrm>
            <a:off x="8445500" y="7785100"/>
            <a:ext cx="2540000" cy="355600"/>
          </a:xfrm>
          <a:prstGeom prst="rect">
            <a:avLst/>
          </a:prstGeom>
          <a:noFill/>
        </p:spPr>
        <p:txBody>
          <a:bodyPr vertOverflow="overflow" vert="horz" wrap="square" rtlCol="0" anchor="t">
            <a:normAutofit/>
          </a:bodyPr>
          <a:lstStyle/>
          <a:p>
            <a:pPr algn="l"/>
            <a:r>
              <a:rPr lang="ko-KR" altLang="en-US" sz="1700" b="1">
                <a:solidFill>
                  <a:srgbClr val="101828"/>
                </a:solidFill>
                <a:latin typeface="맑은 고딕"/>
                <a:ea typeface="맑은 고딕"/>
              </a:rPr>
              <a:t>분석 및 결론</a:t>
            </a:r>
          </a:p>
        </p:txBody>
      </p:sp>
      <p:sp>
        <p:nvSpPr>
          <p:cNvPr id="73" name="TextBox 72">
            <a:extLst>
              <a:ext uri="{FF2B5EF4-FFF2-40B4-BE49-F238E27FC236}">
                <a16:creationId xmlns:a16="http://schemas.microsoft.com/office/drawing/2014/main" id="{45CAFB49-F719-46D6-9795-012AF96290CF}"/>
              </a:ext>
            </a:extLst>
          </p:cNvPr>
          <p:cNvSpPr txBox="1"/>
          <p:nvPr/>
        </p:nvSpPr>
        <p:spPr>
          <a:xfrm>
            <a:off x="1397000" y="4000500"/>
            <a:ext cx="3810000" cy="2413000"/>
          </a:xfrm>
          <a:prstGeom prst="rect">
            <a:avLst/>
          </a:prstGeom>
          <a:noFill/>
        </p:spPr>
        <p:txBody>
          <a:bodyPr vertOverflow="overflow" vert="horz" wrap="square" rtlCol="0" anchor="t">
            <a:normAutofit/>
          </a:bodyPr>
          <a:lstStyle/>
          <a:p>
            <a:pPr algn="l"/>
            <a:r>
              <a:rPr lang="en-US" altLang="ko-KR" sz="3400" b="1">
                <a:solidFill>
                  <a:srgbClr val="4775FF"/>
                </a:solidFill>
                <a:latin typeface="맑은 고딕"/>
                <a:ea typeface="맑은 고딕"/>
              </a:rPr>
              <a:t>PREP
TO
PROOF</a:t>
            </a:r>
            <a:endParaRPr lang="ko-KR" altLang="en-US" sz="3400" b="1">
              <a:solidFill>
                <a:srgbClr val="4775FF"/>
              </a:solidFill>
              <a:latin typeface="맑은 고딕"/>
              <a:ea typeface="맑은 고딕"/>
            </a:endParaRPr>
          </a:p>
        </p:txBody>
      </p:sp>
      <p:sp>
        <p:nvSpPr>
          <p:cNvPr id="74" name="TextBox 73">
            <a:extLst>
              <a:ext uri="{FF2B5EF4-FFF2-40B4-BE49-F238E27FC236}">
                <a16:creationId xmlns:a16="http://schemas.microsoft.com/office/drawing/2014/main" id="{51CEEC7B-0EEA-4E4C-A1FA-1C698D63FA91}"/>
              </a:ext>
            </a:extLst>
          </p:cNvPr>
          <p:cNvSpPr txBox="1"/>
          <p:nvPr/>
        </p:nvSpPr>
        <p:spPr>
          <a:xfrm>
            <a:off x="1397000" y="6794500"/>
            <a:ext cx="4445000" cy="838200"/>
          </a:xfrm>
          <a:prstGeom prst="rect">
            <a:avLst/>
          </a:prstGeom>
          <a:noFill/>
        </p:spPr>
        <p:txBody>
          <a:bodyPr vertOverflow="overflow" vert="horz" wrap="square" rtlCol="0" anchor="t">
            <a:normAutofit/>
          </a:bodyPr>
          <a:lstStyle/>
          <a:p>
            <a:pPr algn="l"/>
            <a:r>
              <a:rPr lang="ko-KR" altLang="en-US" sz="1700" b="1">
                <a:solidFill>
                  <a:srgbClr val="101828"/>
                </a:solidFill>
                <a:latin typeface="맑은 고딕"/>
                <a:ea typeface="맑은 고딕"/>
              </a:rPr>
              <a:t>준비에서 분석까지</a:t>
            </a:r>
            <a:r>
              <a:rPr lang="en-US" altLang="ko-KR" sz="1700" b="1">
                <a:solidFill>
                  <a:srgbClr val="101828"/>
                </a:solidFill>
                <a:latin typeface="맑은 고딕"/>
                <a:ea typeface="맑은 고딕"/>
              </a:rPr>
              <a:t>,
</a:t>
            </a:r>
            <a:r>
              <a:rPr lang="ko-KR" altLang="en-US" sz="1700" b="1">
                <a:solidFill>
                  <a:srgbClr val="101828"/>
                </a:solidFill>
                <a:latin typeface="맑은 고딕"/>
                <a:ea typeface="맑은 고딕"/>
              </a:rPr>
              <a:t>평가기준과 연결된 하나의 흐름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40" name="직사각형 39">
            <a:extLst>
              <a:ext uri="{FF2B5EF4-FFF2-40B4-BE49-F238E27FC236}">
                <a16:creationId xmlns:a16="http://schemas.microsoft.com/office/drawing/2014/main" id="{ABD021A6-D6C6-458D-9B2D-BAA2F10F07E3}"/>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1" name="직사각형 40">
            <a:extLst>
              <a:ext uri="{FF2B5EF4-FFF2-40B4-BE49-F238E27FC236}">
                <a16:creationId xmlns:a16="http://schemas.microsoft.com/office/drawing/2014/main" id="{F5A54B0C-A459-4AD2-85E7-D806722531B7}"/>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2" name="직사각형 41">
            <a:extLst>
              <a:ext uri="{FF2B5EF4-FFF2-40B4-BE49-F238E27FC236}">
                <a16:creationId xmlns:a16="http://schemas.microsoft.com/office/drawing/2014/main" id="{FD8F0548-6ECC-4590-82D4-6B2C4CE5FEC9}"/>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 name="TextBox 1">
            <a:extLst>
              <a:ext uri="{FF2B5EF4-FFF2-40B4-BE49-F238E27FC236}">
                <a16:creationId xmlns:a16="http://schemas.microsoft.com/office/drawing/2014/main" id="{4B22A6C4-8563-4861-9A87-80B57A3082AA}"/>
              </a:ext>
            </a:extLst>
          </p:cNvPr>
          <p:cNvSpPr txBox="1"/>
          <p:nvPr/>
        </p:nvSpPr>
        <p:spPr>
          <a:xfrm>
            <a:off x="1092200" y="1676400"/>
            <a:ext cx="6604000" cy="304800"/>
          </a:xfrm>
          <a:prstGeom prst="rect">
            <a:avLst/>
          </a:prstGeom>
          <a:noFill/>
        </p:spPr>
        <p:txBody>
          <a:bodyPr vertOverflow="overflow" vert="horz" wrap="square" rtlCol="0" anchor="t">
            <a:normAutofit/>
          </a:bodyPr>
          <a:lstStyle/>
          <a:p>
            <a:pPr algn="l"/>
            <a:r>
              <a:rPr lang="en-US" altLang="ko-KR" sz="1400">
                <a:solidFill>
                  <a:srgbClr val="8A8F98"/>
                </a:solidFill>
                <a:latin typeface="맑은 고딕"/>
                <a:ea typeface="맑은 고딕"/>
              </a:rPr>
              <a:t>POLICY PRIMER</a:t>
            </a:r>
            <a:endParaRPr lang="ko-KR" altLang="en-US" sz="1400">
              <a:solidFill>
                <a:srgbClr val="8A8F98"/>
              </a:solidFill>
              <a:latin typeface="맑은 고딕"/>
              <a:ea typeface="맑은 고딕"/>
            </a:endParaRPr>
          </a:p>
        </p:txBody>
      </p:sp>
      <p:sp>
        <p:nvSpPr>
          <p:cNvPr id="3" name="TextBox 2">
            <a:extLst>
              <a:ext uri="{FF2B5EF4-FFF2-40B4-BE49-F238E27FC236}">
                <a16:creationId xmlns:a16="http://schemas.microsoft.com/office/drawing/2014/main" id="{DF9C9A79-4EA7-4CF4-8D9A-BCEB17BF8389}"/>
              </a:ext>
            </a:extLst>
          </p:cNvPr>
          <p:cNvSpPr txBox="1"/>
          <p:nvPr/>
        </p:nvSpPr>
        <p:spPr>
          <a:xfrm>
            <a:off x="1041400" y="2133600"/>
            <a:ext cx="15240000" cy="863600"/>
          </a:xfrm>
          <a:prstGeom prst="rect">
            <a:avLst/>
          </a:prstGeom>
          <a:noFill/>
        </p:spPr>
        <p:txBody>
          <a:bodyPr vertOverflow="overflow" vert="horz" wrap="square" rtlCol="0" anchor="t">
            <a:normAutofit/>
          </a:bodyPr>
          <a:lstStyle/>
          <a:p>
            <a:pPr algn="l"/>
            <a:r>
              <a:rPr lang="ko-KR" altLang="en-US" sz="2900" b="1">
                <a:solidFill>
                  <a:srgbClr val="101828"/>
                </a:solidFill>
                <a:latin typeface="맑은 고딕"/>
                <a:ea typeface="맑은 고딕"/>
              </a:rPr>
              <a:t>석유 최고가격제는 위기 시 판매가격의 상한을 직접 정하는 긴급 가격정책입니다</a:t>
            </a:r>
          </a:p>
        </p:txBody>
      </p:sp>
      <p:sp>
        <p:nvSpPr>
          <p:cNvPr id="4" name="TextBox 3">
            <a:extLst>
              <a:ext uri="{FF2B5EF4-FFF2-40B4-BE49-F238E27FC236}">
                <a16:creationId xmlns:a16="http://schemas.microsoft.com/office/drawing/2014/main" id="{275E30F3-538E-47E0-A197-093F95F5DBCC}"/>
              </a:ext>
            </a:extLst>
          </p:cNvPr>
          <p:cNvSpPr txBox="1"/>
          <p:nvPr/>
        </p:nvSpPr>
        <p:spPr>
          <a:xfrm>
            <a:off x="1092200" y="3048000"/>
            <a:ext cx="14224000" cy="431800"/>
          </a:xfrm>
          <a:prstGeom prst="rect">
            <a:avLst/>
          </a:prstGeom>
          <a:noFill/>
        </p:spPr>
        <p:txBody>
          <a:bodyPr vertOverflow="overflow" vert="horz" wrap="square" rtlCol="0" anchor="t">
            <a:normAutofit/>
          </a:bodyPr>
          <a:lstStyle/>
          <a:p>
            <a:pPr algn="l"/>
            <a:r>
              <a:rPr lang="ko-KR" altLang="en-US" sz="1500">
                <a:solidFill>
                  <a:srgbClr val="8A8F98"/>
                </a:solidFill>
                <a:latin typeface="맑은 고딕"/>
                <a:ea typeface="맑은 고딕"/>
              </a:rPr>
              <a:t>시장가격 급등을 즉시 억제하지만</a:t>
            </a:r>
            <a:r>
              <a:rPr lang="en-US" altLang="ko-KR" sz="1500">
                <a:solidFill>
                  <a:srgbClr val="8A8F98"/>
                </a:solidFill>
                <a:latin typeface="맑은 고딕"/>
                <a:ea typeface="맑은 고딕"/>
              </a:rPr>
              <a:t>, </a:t>
            </a:r>
            <a:r>
              <a:rPr lang="ko-KR" altLang="en-US" sz="1500">
                <a:solidFill>
                  <a:srgbClr val="8A8F98"/>
                </a:solidFill>
                <a:latin typeface="맑은 고딕"/>
                <a:ea typeface="맑은 고딕"/>
              </a:rPr>
              <a:t>상한 수준과 종료 시점이 정책 성패를 좌우합니다</a:t>
            </a:r>
            <a:r>
              <a:rPr lang="en-US" altLang="ko-KR" sz="1500">
                <a:solidFill>
                  <a:srgbClr val="8A8F98"/>
                </a:solidFill>
                <a:latin typeface="맑은 고딕"/>
                <a:ea typeface="맑은 고딕"/>
              </a:rPr>
              <a:t>.</a:t>
            </a:r>
            <a:endParaRPr lang="ko-KR" altLang="en-US" sz="1500">
              <a:solidFill>
                <a:srgbClr val="8A8F98"/>
              </a:solidFill>
              <a:latin typeface="맑은 고딕"/>
              <a:ea typeface="맑은 고딕"/>
            </a:endParaRPr>
          </a:p>
        </p:txBody>
      </p:sp>
      <p:sp>
        <p:nvSpPr>
          <p:cNvPr id="5" name="직사각형 4">
            <a:extLst>
              <a:ext uri="{FF2B5EF4-FFF2-40B4-BE49-F238E27FC236}">
                <a16:creationId xmlns:a16="http://schemas.microsoft.com/office/drawing/2014/main" id="{8B3ABFD5-2A4A-461F-9F68-A0F4A2DED605}"/>
              </a:ext>
            </a:extLst>
          </p:cNvPr>
          <p:cNvSpPr/>
          <p:nvPr/>
        </p:nvSpPr>
        <p:spPr>
          <a:xfrm>
            <a:off x="1041400" y="3860800"/>
            <a:ext cx="5143500" cy="3886200"/>
          </a:xfrm>
          <a:prstGeom prst="rect">
            <a:avLst/>
          </a:prstGeom>
          <a:solidFill>
            <a:srgbClr val="10182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 name="TextBox 5">
            <a:extLst>
              <a:ext uri="{FF2B5EF4-FFF2-40B4-BE49-F238E27FC236}">
                <a16:creationId xmlns:a16="http://schemas.microsoft.com/office/drawing/2014/main" id="{D14020DE-392D-4610-8147-DFA64B531898}"/>
              </a:ext>
            </a:extLst>
          </p:cNvPr>
          <p:cNvSpPr txBox="1"/>
          <p:nvPr/>
        </p:nvSpPr>
        <p:spPr>
          <a:xfrm>
            <a:off x="1422400" y="4241800"/>
            <a:ext cx="3302000" cy="330200"/>
          </a:xfrm>
          <a:prstGeom prst="rect">
            <a:avLst/>
          </a:prstGeom>
          <a:noFill/>
        </p:spPr>
        <p:txBody>
          <a:bodyPr vertOverflow="overflow" vert="horz" wrap="square" rtlCol="0" anchor="t">
            <a:normAutofit/>
          </a:bodyPr>
          <a:lstStyle/>
          <a:p>
            <a:pPr algn="l"/>
            <a:r>
              <a:rPr lang="en-US" altLang="ko-KR" sz="1400" b="1">
                <a:solidFill>
                  <a:srgbClr val="39C6E8"/>
                </a:solidFill>
                <a:latin typeface="맑은 고딕"/>
                <a:ea typeface="맑은 고딕"/>
              </a:rPr>
              <a:t>POLICY DEFINITION</a:t>
            </a:r>
            <a:endParaRPr lang="ko-KR" altLang="en-US" sz="1400" b="1">
              <a:solidFill>
                <a:srgbClr val="39C6E8"/>
              </a:solidFill>
              <a:latin typeface="맑은 고딕"/>
              <a:ea typeface="맑은 고딕"/>
            </a:endParaRPr>
          </a:p>
        </p:txBody>
      </p:sp>
      <p:sp>
        <p:nvSpPr>
          <p:cNvPr id="7" name="TextBox 6">
            <a:extLst>
              <a:ext uri="{FF2B5EF4-FFF2-40B4-BE49-F238E27FC236}">
                <a16:creationId xmlns:a16="http://schemas.microsoft.com/office/drawing/2014/main" id="{D0DDC803-3507-469E-810C-7B5027D06898}"/>
              </a:ext>
            </a:extLst>
          </p:cNvPr>
          <p:cNvSpPr txBox="1"/>
          <p:nvPr/>
        </p:nvSpPr>
        <p:spPr>
          <a:xfrm>
            <a:off x="1422400" y="4787900"/>
            <a:ext cx="4000500" cy="1041400"/>
          </a:xfrm>
          <a:prstGeom prst="rect">
            <a:avLst/>
          </a:prstGeom>
          <a:noFill/>
        </p:spPr>
        <p:txBody>
          <a:bodyPr vertOverflow="overflow" vert="horz" wrap="square" rtlCol="0" anchor="t">
            <a:noAutofit/>
          </a:bodyPr>
          <a:lstStyle/>
          <a:p>
            <a:pPr algn="l"/>
            <a:r>
              <a:rPr lang="ko-KR" altLang="en-US" sz="2200" b="1">
                <a:solidFill>
                  <a:srgbClr val="FFFFFF"/>
                </a:solidFill>
                <a:latin typeface="맑은 고딕"/>
                <a:ea typeface="맑은 고딕"/>
              </a:rPr>
              <a:t>정부가 정한 가격 이하로만
석유제품을 판매하도록 하는 제도</a:t>
            </a:r>
          </a:p>
        </p:txBody>
      </p:sp>
      <p:sp>
        <p:nvSpPr>
          <p:cNvPr id="8" name="TextBox 7">
            <a:extLst>
              <a:ext uri="{FF2B5EF4-FFF2-40B4-BE49-F238E27FC236}">
                <a16:creationId xmlns:a16="http://schemas.microsoft.com/office/drawing/2014/main" id="{6F3208A4-71C4-493A-8D12-97482446B2D8}"/>
              </a:ext>
            </a:extLst>
          </p:cNvPr>
          <p:cNvSpPr txBox="1"/>
          <p:nvPr/>
        </p:nvSpPr>
        <p:spPr>
          <a:xfrm>
            <a:off x="1422400" y="6159500"/>
            <a:ext cx="4000500" cy="1143000"/>
          </a:xfrm>
          <a:prstGeom prst="rect">
            <a:avLst/>
          </a:prstGeom>
          <a:noFill/>
        </p:spPr>
        <p:txBody>
          <a:bodyPr vertOverflow="overflow" vert="horz" wrap="square" rtlCol="0" anchor="t">
            <a:normAutofit/>
          </a:bodyPr>
          <a:lstStyle/>
          <a:p>
            <a:pPr algn="l"/>
            <a:r>
              <a:rPr lang="en-US" altLang="ko-KR" sz="1500">
                <a:solidFill>
                  <a:srgbClr val="FFFFFF"/>
                </a:solidFill>
                <a:latin typeface="맑은 고딕"/>
                <a:ea typeface="맑은 고딕"/>
              </a:rPr>
              <a:t>• </a:t>
            </a:r>
            <a:r>
              <a:rPr lang="ko-KR" altLang="en-US" sz="1500">
                <a:solidFill>
                  <a:srgbClr val="FFFFFF"/>
                </a:solidFill>
                <a:latin typeface="맑은 고딕"/>
                <a:ea typeface="맑은 고딕"/>
              </a:rPr>
              <a:t>대상 품목과 최고 판매가격을 고시
</a:t>
            </a:r>
            <a:r>
              <a:rPr lang="en-US" altLang="ko-KR" sz="1500">
                <a:solidFill>
                  <a:srgbClr val="FFFFFF"/>
                </a:solidFill>
                <a:latin typeface="맑은 고딕"/>
                <a:ea typeface="맑은 고딕"/>
              </a:rPr>
              <a:t>• </a:t>
            </a:r>
            <a:r>
              <a:rPr lang="ko-KR" altLang="en-US" sz="1500">
                <a:solidFill>
                  <a:srgbClr val="FFFFFF"/>
                </a:solidFill>
                <a:latin typeface="맑은 고딕"/>
                <a:ea typeface="맑은 고딕"/>
              </a:rPr>
              <a:t>정유사</a:t>
            </a:r>
            <a:r>
              <a:rPr lang="en-US" altLang="ko-KR" sz="1500">
                <a:solidFill>
                  <a:srgbClr val="FFFFFF"/>
                </a:solidFill>
                <a:latin typeface="맑은 고딕"/>
                <a:ea typeface="맑은 고딕"/>
              </a:rPr>
              <a:t>·</a:t>
            </a:r>
            <a:r>
              <a:rPr lang="ko-KR" altLang="en-US" sz="1500">
                <a:solidFill>
                  <a:srgbClr val="FFFFFF"/>
                </a:solidFill>
                <a:latin typeface="맑은 고딕"/>
                <a:ea typeface="맑은 고딕"/>
              </a:rPr>
              <a:t>주유소 등 유통단계에 적용
</a:t>
            </a:r>
            <a:r>
              <a:rPr lang="en-US" altLang="ko-KR" sz="1500">
                <a:solidFill>
                  <a:srgbClr val="FFFFFF"/>
                </a:solidFill>
                <a:latin typeface="맑은 고딕"/>
                <a:ea typeface="맑은 고딕"/>
              </a:rPr>
              <a:t>• </a:t>
            </a:r>
            <a:r>
              <a:rPr lang="ko-KR" altLang="en-US" sz="1500">
                <a:solidFill>
                  <a:srgbClr val="FFFFFF"/>
                </a:solidFill>
                <a:latin typeface="맑은 고딕"/>
                <a:ea typeface="맑은 고딕"/>
              </a:rPr>
              <a:t>위반 여부를 점검하고 시장가격을 관리</a:t>
            </a:r>
          </a:p>
        </p:txBody>
      </p:sp>
      <p:sp>
        <p:nvSpPr>
          <p:cNvPr id="9" name="직사각형 8">
            <a:extLst>
              <a:ext uri="{FF2B5EF4-FFF2-40B4-BE49-F238E27FC236}">
                <a16:creationId xmlns:a16="http://schemas.microsoft.com/office/drawing/2014/main" id="{AC937837-90B6-4E47-AFCC-92920686863C}"/>
              </a:ext>
            </a:extLst>
          </p:cNvPr>
          <p:cNvSpPr/>
          <p:nvPr/>
        </p:nvSpPr>
        <p:spPr>
          <a:xfrm>
            <a:off x="6667500" y="3860800"/>
            <a:ext cx="10477500" cy="1117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직사각형 9">
            <a:extLst>
              <a:ext uri="{FF2B5EF4-FFF2-40B4-BE49-F238E27FC236}">
                <a16:creationId xmlns:a16="http://schemas.microsoft.com/office/drawing/2014/main" id="{3C26DDA8-40CA-4602-BE95-40D4871A6061}"/>
              </a:ext>
            </a:extLst>
          </p:cNvPr>
          <p:cNvSpPr/>
          <p:nvPr/>
        </p:nvSpPr>
        <p:spPr>
          <a:xfrm>
            <a:off x="6667500" y="3860800"/>
            <a:ext cx="787400" cy="11176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1" name="TextBox 10">
            <a:extLst>
              <a:ext uri="{FF2B5EF4-FFF2-40B4-BE49-F238E27FC236}">
                <a16:creationId xmlns:a16="http://schemas.microsoft.com/office/drawing/2014/main" id="{B17FFF2B-5D83-4CA6-A404-39106A2900DA}"/>
              </a:ext>
            </a:extLst>
          </p:cNvPr>
          <p:cNvSpPr txBox="1"/>
          <p:nvPr/>
        </p:nvSpPr>
        <p:spPr>
          <a:xfrm>
            <a:off x="6807200" y="4229100"/>
            <a:ext cx="508000" cy="355600"/>
          </a:xfrm>
          <a:prstGeom prst="rect">
            <a:avLst/>
          </a:prstGeom>
          <a:noFill/>
        </p:spPr>
        <p:txBody>
          <a:bodyPr vertOverflow="overflow" vert="horz" wrap="square" rtlCol="0" anchor="t">
            <a:normAutofit/>
          </a:bodyPr>
          <a:lstStyle/>
          <a:p>
            <a:pPr algn="l"/>
            <a:r>
              <a:rPr lang="en-US" altLang="ko-KR" sz="1500" b="1">
                <a:solidFill>
                  <a:srgbClr val="FFFFFF"/>
                </a:solidFill>
                <a:latin typeface="맑은 고딕"/>
                <a:ea typeface="맑은 고딕"/>
              </a:rPr>
              <a:t>01</a:t>
            </a:r>
            <a:endParaRPr lang="ko-KR" altLang="en-US" sz="1500" b="1">
              <a:solidFill>
                <a:srgbClr val="FFFFFF"/>
              </a:solidFill>
              <a:latin typeface="맑은 고딕"/>
              <a:ea typeface="맑은 고딕"/>
            </a:endParaRPr>
          </a:p>
        </p:txBody>
      </p:sp>
      <p:sp>
        <p:nvSpPr>
          <p:cNvPr id="12" name="TextBox 11">
            <a:extLst>
              <a:ext uri="{FF2B5EF4-FFF2-40B4-BE49-F238E27FC236}">
                <a16:creationId xmlns:a16="http://schemas.microsoft.com/office/drawing/2014/main" id="{EAB30119-5F3E-48AD-861B-898185011B32}"/>
              </a:ext>
            </a:extLst>
          </p:cNvPr>
          <p:cNvSpPr txBox="1"/>
          <p:nvPr/>
        </p:nvSpPr>
        <p:spPr>
          <a:xfrm>
            <a:off x="7772400" y="4064000"/>
            <a:ext cx="2159000" cy="381000"/>
          </a:xfrm>
          <a:prstGeom prst="rect">
            <a:avLst/>
          </a:prstGeom>
          <a:noFill/>
        </p:spPr>
        <p:txBody>
          <a:bodyPr vertOverflow="overflow" vert="horz" wrap="square" rtlCol="0" anchor="t">
            <a:normAutofit/>
          </a:bodyPr>
          <a:lstStyle/>
          <a:p>
            <a:pPr algn="l"/>
            <a:r>
              <a:rPr lang="ko-KR" altLang="en-US" sz="1700" b="1">
                <a:solidFill>
                  <a:srgbClr val="4775FF"/>
                </a:solidFill>
                <a:latin typeface="맑은 고딕"/>
                <a:ea typeface="맑은 고딕"/>
              </a:rPr>
              <a:t>도입 배경</a:t>
            </a:r>
          </a:p>
        </p:txBody>
      </p:sp>
      <p:sp>
        <p:nvSpPr>
          <p:cNvPr id="13" name="TextBox 12">
            <a:extLst>
              <a:ext uri="{FF2B5EF4-FFF2-40B4-BE49-F238E27FC236}">
                <a16:creationId xmlns:a16="http://schemas.microsoft.com/office/drawing/2014/main" id="{8DF15A81-C1AA-4C77-A2B1-C309E0AE3BD5}"/>
              </a:ext>
            </a:extLst>
          </p:cNvPr>
          <p:cNvSpPr txBox="1"/>
          <p:nvPr/>
        </p:nvSpPr>
        <p:spPr>
          <a:xfrm>
            <a:off x="10033000" y="4051300"/>
            <a:ext cx="6604000" cy="711200"/>
          </a:xfrm>
          <a:prstGeom prst="rect">
            <a:avLst/>
          </a:prstGeom>
          <a:noFill/>
        </p:spPr>
        <p:txBody>
          <a:bodyPr vertOverflow="overflow" vert="horz" wrap="square" rtlCol="0" anchor="t">
            <a:normAutofit/>
          </a:bodyPr>
          <a:lstStyle/>
          <a:p>
            <a:pPr algn="l"/>
            <a:r>
              <a:rPr lang="ko-KR" altLang="en-US" sz="1400">
                <a:solidFill>
                  <a:srgbClr val="101828"/>
                </a:solidFill>
                <a:latin typeface="맑은 고딕"/>
                <a:ea typeface="맑은 고딕"/>
              </a:rPr>
              <a:t>국제유가</a:t>
            </a:r>
            <a:r>
              <a:rPr lang="en-US" altLang="ko-KR" sz="1400">
                <a:solidFill>
                  <a:srgbClr val="101828"/>
                </a:solidFill>
                <a:latin typeface="맑은 고딕"/>
                <a:ea typeface="맑은 고딕"/>
              </a:rPr>
              <a:t>·</a:t>
            </a:r>
            <a:r>
              <a:rPr lang="ko-KR" altLang="en-US" sz="1400">
                <a:solidFill>
                  <a:srgbClr val="101828"/>
                </a:solidFill>
                <a:latin typeface="맑은 고딕"/>
                <a:ea typeface="맑은 고딕"/>
              </a:rPr>
              <a:t>환율</a:t>
            </a:r>
            <a:r>
              <a:rPr lang="en-US" altLang="ko-KR" sz="1400">
                <a:solidFill>
                  <a:srgbClr val="101828"/>
                </a:solidFill>
                <a:latin typeface="맑은 고딕"/>
                <a:ea typeface="맑은 고딕"/>
              </a:rPr>
              <a:t>·</a:t>
            </a:r>
            <a:r>
              <a:rPr lang="ko-KR" altLang="en-US" sz="1400">
                <a:solidFill>
                  <a:srgbClr val="101828"/>
                </a:solidFill>
                <a:latin typeface="맑은 고딕"/>
                <a:ea typeface="맑은 고딕"/>
              </a:rPr>
              <a:t>공급망 충격으로 국내 판매가격이 급등할 때 소비자 부담과 물가 전이를 완화</a:t>
            </a:r>
          </a:p>
        </p:txBody>
      </p:sp>
      <p:sp>
        <p:nvSpPr>
          <p:cNvPr id="14" name="직사각형 13">
            <a:extLst>
              <a:ext uri="{FF2B5EF4-FFF2-40B4-BE49-F238E27FC236}">
                <a16:creationId xmlns:a16="http://schemas.microsoft.com/office/drawing/2014/main" id="{8E8714F4-9E4B-4118-A21F-5B6AC41581E4}"/>
              </a:ext>
            </a:extLst>
          </p:cNvPr>
          <p:cNvSpPr/>
          <p:nvPr/>
        </p:nvSpPr>
        <p:spPr>
          <a:xfrm>
            <a:off x="6667500" y="5245100"/>
            <a:ext cx="10477500" cy="1117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 name="직사각형 14">
            <a:extLst>
              <a:ext uri="{FF2B5EF4-FFF2-40B4-BE49-F238E27FC236}">
                <a16:creationId xmlns:a16="http://schemas.microsoft.com/office/drawing/2014/main" id="{5FA3F825-910D-478F-8CEA-933D5D545EE3}"/>
              </a:ext>
            </a:extLst>
          </p:cNvPr>
          <p:cNvSpPr/>
          <p:nvPr/>
        </p:nvSpPr>
        <p:spPr>
          <a:xfrm>
            <a:off x="6667500" y="5245100"/>
            <a:ext cx="787400" cy="11176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 name="TextBox 15">
            <a:extLst>
              <a:ext uri="{FF2B5EF4-FFF2-40B4-BE49-F238E27FC236}">
                <a16:creationId xmlns:a16="http://schemas.microsoft.com/office/drawing/2014/main" id="{3C9FDEF8-8654-403B-864F-9B18BD7E941B}"/>
              </a:ext>
            </a:extLst>
          </p:cNvPr>
          <p:cNvSpPr txBox="1"/>
          <p:nvPr/>
        </p:nvSpPr>
        <p:spPr>
          <a:xfrm>
            <a:off x="6807200" y="5613400"/>
            <a:ext cx="508000" cy="355600"/>
          </a:xfrm>
          <a:prstGeom prst="rect">
            <a:avLst/>
          </a:prstGeom>
          <a:noFill/>
        </p:spPr>
        <p:txBody>
          <a:bodyPr vertOverflow="overflow" vert="horz" wrap="square" rtlCol="0" anchor="t">
            <a:normAutofit/>
          </a:bodyPr>
          <a:lstStyle/>
          <a:p>
            <a:pPr algn="l"/>
            <a:r>
              <a:rPr lang="en-US" altLang="ko-KR" sz="1500" b="1">
                <a:solidFill>
                  <a:srgbClr val="FFFFFF"/>
                </a:solidFill>
                <a:latin typeface="맑은 고딕"/>
                <a:ea typeface="맑은 고딕"/>
              </a:rPr>
              <a:t>02</a:t>
            </a:r>
            <a:endParaRPr lang="ko-KR" altLang="en-US" sz="1500" b="1">
              <a:solidFill>
                <a:srgbClr val="FFFFFF"/>
              </a:solidFill>
              <a:latin typeface="맑은 고딕"/>
              <a:ea typeface="맑은 고딕"/>
            </a:endParaRPr>
          </a:p>
        </p:txBody>
      </p:sp>
      <p:sp>
        <p:nvSpPr>
          <p:cNvPr id="17" name="TextBox 16">
            <a:extLst>
              <a:ext uri="{FF2B5EF4-FFF2-40B4-BE49-F238E27FC236}">
                <a16:creationId xmlns:a16="http://schemas.microsoft.com/office/drawing/2014/main" id="{D56875B0-AD4A-4A9E-AD71-9C1C7DD69FB0}"/>
              </a:ext>
            </a:extLst>
          </p:cNvPr>
          <p:cNvSpPr txBox="1"/>
          <p:nvPr/>
        </p:nvSpPr>
        <p:spPr>
          <a:xfrm>
            <a:off x="7772400" y="5448300"/>
            <a:ext cx="2159000" cy="381000"/>
          </a:xfrm>
          <a:prstGeom prst="rect">
            <a:avLst/>
          </a:prstGeom>
          <a:noFill/>
        </p:spPr>
        <p:txBody>
          <a:bodyPr vertOverflow="overflow" vert="horz" wrap="square" rtlCol="0" anchor="t">
            <a:normAutofit/>
          </a:bodyPr>
          <a:lstStyle/>
          <a:p>
            <a:pPr algn="l"/>
            <a:r>
              <a:rPr lang="ko-KR" altLang="en-US" sz="1700" b="1">
                <a:solidFill>
                  <a:srgbClr val="4775FF"/>
                </a:solidFill>
                <a:latin typeface="맑은 고딕"/>
                <a:ea typeface="맑은 고딕"/>
              </a:rPr>
              <a:t>정책 작동</a:t>
            </a:r>
          </a:p>
        </p:txBody>
      </p:sp>
      <p:sp>
        <p:nvSpPr>
          <p:cNvPr id="18" name="TextBox 17">
            <a:extLst>
              <a:ext uri="{FF2B5EF4-FFF2-40B4-BE49-F238E27FC236}">
                <a16:creationId xmlns:a16="http://schemas.microsoft.com/office/drawing/2014/main" id="{17B7FFE7-7970-4DEA-AD4B-FD396B1F9CFB}"/>
              </a:ext>
            </a:extLst>
          </p:cNvPr>
          <p:cNvSpPr txBox="1"/>
          <p:nvPr/>
        </p:nvSpPr>
        <p:spPr>
          <a:xfrm>
            <a:off x="10033000" y="5435600"/>
            <a:ext cx="6604000" cy="711200"/>
          </a:xfrm>
          <a:prstGeom prst="rect">
            <a:avLst/>
          </a:prstGeom>
          <a:noFill/>
        </p:spPr>
        <p:txBody>
          <a:bodyPr vertOverflow="overflow" vert="horz" wrap="square" rtlCol="0" anchor="t">
            <a:normAutofit/>
          </a:bodyPr>
          <a:lstStyle/>
          <a:p>
            <a:pPr algn="l"/>
            <a:r>
              <a:rPr lang="ko-KR" altLang="en-US" sz="1400">
                <a:solidFill>
                  <a:srgbClr val="101828"/>
                </a:solidFill>
                <a:latin typeface="맑은 고딕"/>
                <a:ea typeface="맑은 고딕"/>
              </a:rPr>
              <a:t>시장가격이 상한을 초과하지 못하도록 고시하고</a:t>
            </a:r>
            <a:r>
              <a:rPr lang="en-US" altLang="ko-KR" sz="1400">
                <a:solidFill>
                  <a:srgbClr val="101828"/>
                </a:solidFill>
                <a:latin typeface="맑은 고딕"/>
                <a:ea typeface="맑은 고딕"/>
              </a:rPr>
              <a:t>, </a:t>
            </a:r>
            <a:r>
              <a:rPr lang="ko-KR" altLang="en-US" sz="1400">
                <a:solidFill>
                  <a:srgbClr val="101828"/>
                </a:solidFill>
                <a:latin typeface="맑은 고딕"/>
                <a:ea typeface="맑은 고딕"/>
              </a:rPr>
              <a:t>원가</a:t>
            </a:r>
            <a:r>
              <a:rPr lang="en-US" altLang="ko-KR" sz="1400">
                <a:solidFill>
                  <a:srgbClr val="101828"/>
                </a:solidFill>
                <a:latin typeface="맑은 고딕"/>
                <a:ea typeface="맑은 고딕"/>
              </a:rPr>
              <a:t>·</a:t>
            </a:r>
            <a:r>
              <a:rPr lang="ko-KR" altLang="en-US" sz="1400">
                <a:solidFill>
                  <a:srgbClr val="101828"/>
                </a:solidFill>
                <a:latin typeface="맑은 고딕"/>
                <a:ea typeface="맑은 고딕"/>
              </a:rPr>
              <a:t>수급 상황에 따라 상한을 조정하거나 종료</a:t>
            </a:r>
          </a:p>
        </p:txBody>
      </p:sp>
      <p:sp>
        <p:nvSpPr>
          <p:cNvPr id="19" name="직사각형 18">
            <a:extLst>
              <a:ext uri="{FF2B5EF4-FFF2-40B4-BE49-F238E27FC236}">
                <a16:creationId xmlns:a16="http://schemas.microsoft.com/office/drawing/2014/main" id="{61B75CAD-75A5-4214-AC4F-009333D149EB}"/>
              </a:ext>
            </a:extLst>
          </p:cNvPr>
          <p:cNvSpPr/>
          <p:nvPr/>
        </p:nvSpPr>
        <p:spPr>
          <a:xfrm>
            <a:off x="6667500" y="6629400"/>
            <a:ext cx="10477500" cy="1117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0" name="직사각형 19">
            <a:extLst>
              <a:ext uri="{FF2B5EF4-FFF2-40B4-BE49-F238E27FC236}">
                <a16:creationId xmlns:a16="http://schemas.microsoft.com/office/drawing/2014/main" id="{5136B8D0-7E67-405C-B68E-CCACE330EF64}"/>
              </a:ext>
            </a:extLst>
          </p:cNvPr>
          <p:cNvSpPr/>
          <p:nvPr/>
        </p:nvSpPr>
        <p:spPr>
          <a:xfrm>
            <a:off x="6667500" y="6629400"/>
            <a:ext cx="787400" cy="11176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1" name="TextBox 20">
            <a:extLst>
              <a:ext uri="{FF2B5EF4-FFF2-40B4-BE49-F238E27FC236}">
                <a16:creationId xmlns:a16="http://schemas.microsoft.com/office/drawing/2014/main" id="{5DA839CB-7D5A-4C40-A446-B609C1042108}"/>
              </a:ext>
            </a:extLst>
          </p:cNvPr>
          <p:cNvSpPr txBox="1"/>
          <p:nvPr/>
        </p:nvSpPr>
        <p:spPr>
          <a:xfrm>
            <a:off x="6807200" y="6997700"/>
            <a:ext cx="508000" cy="355600"/>
          </a:xfrm>
          <a:prstGeom prst="rect">
            <a:avLst/>
          </a:prstGeom>
          <a:noFill/>
        </p:spPr>
        <p:txBody>
          <a:bodyPr vertOverflow="overflow" vert="horz" wrap="square" rtlCol="0" anchor="t">
            <a:normAutofit/>
          </a:bodyPr>
          <a:lstStyle/>
          <a:p>
            <a:pPr algn="l"/>
            <a:r>
              <a:rPr lang="en-US" altLang="ko-KR" sz="1500" b="1">
                <a:solidFill>
                  <a:srgbClr val="FFFFFF"/>
                </a:solidFill>
                <a:latin typeface="맑은 고딕"/>
                <a:ea typeface="맑은 고딕"/>
              </a:rPr>
              <a:t>03</a:t>
            </a:r>
            <a:endParaRPr lang="ko-KR" altLang="en-US" sz="1500" b="1">
              <a:solidFill>
                <a:srgbClr val="FFFFFF"/>
              </a:solidFill>
              <a:latin typeface="맑은 고딕"/>
              <a:ea typeface="맑은 고딕"/>
            </a:endParaRPr>
          </a:p>
        </p:txBody>
      </p:sp>
      <p:sp>
        <p:nvSpPr>
          <p:cNvPr id="22" name="TextBox 21">
            <a:extLst>
              <a:ext uri="{FF2B5EF4-FFF2-40B4-BE49-F238E27FC236}">
                <a16:creationId xmlns:a16="http://schemas.microsoft.com/office/drawing/2014/main" id="{E50342AC-6A46-4DE8-9F11-BC1F41FBFA92}"/>
              </a:ext>
            </a:extLst>
          </p:cNvPr>
          <p:cNvSpPr txBox="1"/>
          <p:nvPr/>
        </p:nvSpPr>
        <p:spPr>
          <a:xfrm>
            <a:off x="7772400" y="6832600"/>
            <a:ext cx="2159000" cy="381000"/>
          </a:xfrm>
          <a:prstGeom prst="rect">
            <a:avLst/>
          </a:prstGeom>
          <a:noFill/>
        </p:spPr>
        <p:txBody>
          <a:bodyPr vertOverflow="overflow" vert="horz" wrap="square" rtlCol="0" anchor="t">
            <a:normAutofit/>
          </a:bodyPr>
          <a:lstStyle/>
          <a:p>
            <a:pPr algn="l"/>
            <a:r>
              <a:rPr lang="ko-KR" altLang="en-US" sz="1700" b="1">
                <a:solidFill>
                  <a:srgbClr val="4775FF"/>
                </a:solidFill>
                <a:latin typeface="맑은 고딕"/>
                <a:ea typeface="맑은 고딕"/>
              </a:rPr>
              <a:t>핵심 쟁점</a:t>
            </a:r>
          </a:p>
        </p:txBody>
      </p:sp>
      <p:sp>
        <p:nvSpPr>
          <p:cNvPr id="23" name="TextBox 22">
            <a:extLst>
              <a:ext uri="{FF2B5EF4-FFF2-40B4-BE49-F238E27FC236}">
                <a16:creationId xmlns:a16="http://schemas.microsoft.com/office/drawing/2014/main" id="{38C93F15-1525-435D-89D7-0C58D647E935}"/>
              </a:ext>
            </a:extLst>
          </p:cNvPr>
          <p:cNvSpPr txBox="1"/>
          <p:nvPr/>
        </p:nvSpPr>
        <p:spPr>
          <a:xfrm>
            <a:off x="10033000" y="6819900"/>
            <a:ext cx="6604000" cy="711200"/>
          </a:xfrm>
          <a:prstGeom prst="rect">
            <a:avLst/>
          </a:prstGeom>
          <a:noFill/>
        </p:spPr>
        <p:txBody>
          <a:bodyPr vertOverflow="overflow" vert="horz" wrap="square" rtlCol="0" anchor="t">
            <a:normAutofit/>
          </a:bodyPr>
          <a:lstStyle/>
          <a:p>
            <a:pPr algn="l"/>
            <a:r>
              <a:rPr lang="ko-KR" altLang="en-US" sz="1400">
                <a:solidFill>
                  <a:srgbClr val="101828"/>
                </a:solidFill>
                <a:latin typeface="맑은 고딕"/>
                <a:ea typeface="맑은 고딕"/>
              </a:rPr>
              <a:t>가격 안정 효과와 함께 공급 위축</a:t>
            </a:r>
            <a:r>
              <a:rPr lang="en-US" altLang="ko-KR" sz="1400">
                <a:solidFill>
                  <a:srgbClr val="101828"/>
                </a:solidFill>
                <a:latin typeface="맑은 고딕"/>
                <a:ea typeface="맑은 고딕"/>
              </a:rPr>
              <a:t>, </a:t>
            </a:r>
            <a:r>
              <a:rPr lang="ko-KR" altLang="en-US" sz="1400">
                <a:solidFill>
                  <a:srgbClr val="101828"/>
                </a:solidFill>
                <a:latin typeface="맑은 고딕"/>
                <a:ea typeface="맑은 고딕"/>
              </a:rPr>
              <a:t>재정부담</a:t>
            </a:r>
            <a:r>
              <a:rPr lang="en-US" altLang="ko-KR" sz="1400">
                <a:solidFill>
                  <a:srgbClr val="101828"/>
                </a:solidFill>
                <a:latin typeface="맑은 고딕"/>
                <a:ea typeface="맑은 고딕"/>
              </a:rPr>
              <a:t>, </a:t>
            </a:r>
            <a:r>
              <a:rPr lang="ko-KR" altLang="en-US" sz="1400">
                <a:solidFill>
                  <a:srgbClr val="101828"/>
                </a:solidFill>
                <a:latin typeface="맑은 고딕"/>
                <a:ea typeface="맑은 고딕"/>
              </a:rPr>
              <a:t>시장 왜곡 가능성을 동시에 검토</a:t>
            </a:r>
          </a:p>
        </p:txBody>
      </p:sp>
      <p:sp>
        <p:nvSpPr>
          <p:cNvPr id="24" name="직사각형 23">
            <a:extLst>
              <a:ext uri="{FF2B5EF4-FFF2-40B4-BE49-F238E27FC236}">
                <a16:creationId xmlns:a16="http://schemas.microsoft.com/office/drawing/2014/main" id="{46BC4107-F8D2-410B-96F5-55C7FBBC1093}"/>
              </a:ext>
            </a:extLst>
          </p:cNvPr>
          <p:cNvSpPr/>
          <p:nvPr/>
        </p:nvSpPr>
        <p:spPr>
          <a:xfrm>
            <a:off x="1041400" y="8153400"/>
            <a:ext cx="16103600" cy="584200"/>
          </a:xfrm>
          <a:prstGeom prst="rect">
            <a:avLst/>
          </a:prstGeom>
          <a:solidFill>
            <a:srgbClr val="EAF0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5" name="TextBox 24">
            <a:extLst>
              <a:ext uri="{FF2B5EF4-FFF2-40B4-BE49-F238E27FC236}">
                <a16:creationId xmlns:a16="http://schemas.microsoft.com/office/drawing/2014/main" id="{BCD61038-7577-40E5-AFA6-BE9EAEE07B9C}"/>
              </a:ext>
            </a:extLst>
          </p:cNvPr>
          <p:cNvSpPr txBox="1"/>
          <p:nvPr/>
        </p:nvSpPr>
        <p:spPr>
          <a:xfrm>
            <a:off x="1397000" y="8305800"/>
            <a:ext cx="15367000" cy="317500"/>
          </a:xfrm>
          <a:prstGeom prst="rect">
            <a:avLst/>
          </a:prstGeom>
          <a:noFill/>
        </p:spPr>
        <p:txBody>
          <a:bodyPr vertOverflow="overflow" vert="horz" wrap="square" rtlCol="0" anchor="t">
            <a:normAutofit/>
          </a:bodyPr>
          <a:lstStyle/>
          <a:p>
            <a:pPr algn="l"/>
            <a:r>
              <a:rPr lang="ko-KR" altLang="en-US" sz="1400" b="1">
                <a:solidFill>
                  <a:srgbClr val="101828"/>
                </a:solidFill>
                <a:latin typeface="맑은 고딕"/>
                <a:ea typeface="맑은 고딕"/>
              </a:rPr>
              <a:t>분석 범위 안내  </a:t>
            </a:r>
            <a:r>
              <a:rPr lang="en-US" altLang="ko-KR" sz="1400" b="1">
                <a:solidFill>
                  <a:srgbClr val="101828"/>
                </a:solidFill>
                <a:latin typeface="맑은 고딕"/>
                <a:ea typeface="맑은 고딕"/>
              </a:rPr>
              <a:t>|  2026</a:t>
            </a:r>
            <a:r>
              <a:rPr lang="ko-KR" altLang="en-US" sz="1400" b="1">
                <a:solidFill>
                  <a:srgbClr val="101828"/>
                </a:solidFill>
                <a:latin typeface="맑은 고딕"/>
                <a:ea typeface="맑은 고딕"/>
              </a:rPr>
              <a:t>년 실제 국내 제도는 휘발유</a:t>
            </a:r>
            <a:r>
              <a:rPr lang="en-US" altLang="ko-KR" sz="1400" b="1">
                <a:solidFill>
                  <a:srgbClr val="101828"/>
                </a:solidFill>
                <a:latin typeface="맑은 고딕"/>
                <a:ea typeface="맑은 고딕"/>
              </a:rPr>
              <a:t>·</a:t>
            </a:r>
            <a:r>
              <a:rPr lang="ko-KR" altLang="en-US" sz="1400" b="1">
                <a:solidFill>
                  <a:srgbClr val="101828"/>
                </a:solidFill>
                <a:latin typeface="맑은 고딕"/>
                <a:ea typeface="맑은 고딕"/>
              </a:rPr>
              <a:t>경유에 적용됐으며</a:t>
            </a:r>
            <a:r>
              <a:rPr lang="en-US" altLang="ko-KR" sz="1400" b="1">
                <a:solidFill>
                  <a:srgbClr val="101828"/>
                </a:solidFill>
                <a:latin typeface="맑은 고딕"/>
                <a:ea typeface="맑은 고딕"/>
              </a:rPr>
              <a:t>, </a:t>
            </a:r>
            <a:r>
              <a:rPr lang="ko-KR" altLang="en-US" sz="1400" b="1">
                <a:solidFill>
                  <a:srgbClr val="101828"/>
                </a:solidFill>
                <a:latin typeface="맑은 고딕"/>
                <a:ea typeface="맑은 고딕"/>
              </a:rPr>
              <a:t>본 프로젝트는 등유까지 가상 확장해 비교합니다</a:t>
            </a:r>
            <a:r>
              <a:rPr lang="en-US" altLang="ko-KR" sz="1400" b="1">
                <a:solidFill>
                  <a:srgbClr val="101828"/>
                </a:solidFill>
                <a:latin typeface="맑은 고딕"/>
                <a:ea typeface="맑은 고딕"/>
              </a:rPr>
              <a:t>.</a:t>
            </a:r>
            <a:endParaRPr lang="ko-KR" altLang="en-US" sz="1400" b="1">
              <a:solidFill>
                <a:srgbClr val="101828"/>
              </a:solidFill>
              <a:latin typeface="맑은 고딕"/>
              <a:ea typeface="맑은 고딕"/>
            </a:endParaRPr>
          </a:p>
        </p:txBody>
      </p:sp>
      <p:sp>
        <p:nvSpPr>
          <p:cNvPr id="26" name="TextBox 25">
            <a:extLst>
              <a:ext uri="{FF2B5EF4-FFF2-40B4-BE49-F238E27FC236}">
                <a16:creationId xmlns:a16="http://schemas.microsoft.com/office/drawing/2014/main" id="{4D1BD678-B491-4333-8B20-A7CBBCE77D05}"/>
              </a:ext>
            </a:extLst>
          </p:cNvPr>
          <p:cNvSpPr txBox="1"/>
          <p:nvPr/>
        </p:nvSpPr>
        <p:spPr>
          <a:xfrm>
            <a:off x="1066800" y="8890000"/>
            <a:ext cx="14605000" cy="254000"/>
          </a:xfrm>
          <a:prstGeom prst="rect">
            <a:avLst/>
          </a:prstGeom>
          <a:noFill/>
        </p:spPr>
        <p:txBody>
          <a:bodyPr vertOverflow="overflow" vert="horz" wrap="square" rtlCol="0" anchor="t">
            <a:noAutofit/>
          </a:bodyPr>
          <a:lstStyle/>
          <a:p>
            <a:pPr algn="l"/>
            <a:r>
              <a:rPr lang="ko-KR" altLang="en-US" sz="1100">
                <a:solidFill>
                  <a:srgbClr val="8A8F98"/>
                </a:solidFill>
                <a:latin typeface="맑은 고딕"/>
                <a:ea typeface="맑은 고딕"/>
              </a:rPr>
              <a:t>출처</a:t>
            </a:r>
            <a:r>
              <a:rPr lang="en-US" altLang="ko-KR" sz="1100">
                <a:solidFill>
                  <a:srgbClr val="8A8F98"/>
                </a:solidFill>
                <a:latin typeface="맑은 고딕"/>
                <a:ea typeface="맑은 고딕"/>
              </a:rPr>
              <a:t>: </a:t>
            </a:r>
            <a:r>
              <a:rPr lang="ko-KR" altLang="en-US" sz="1100">
                <a:solidFill>
                  <a:srgbClr val="8A8F98"/>
                </a:solidFill>
                <a:latin typeface="맑은 고딕"/>
                <a:ea typeface="맑은 고딕"/>
              </a:rPr>
              <a:t>산업통상부 「석유 및 석유대체연료 사업법 시행령」 개정</a:t>
            </a:r>
            <a:r>
              <a:rPr lang="en-US" altLang="ko-KR" sz="1100">
                <a:solidFill>
                  <a:srgbClr val="8A8F98"/>
                </a:solidFill>
                <a:latin typeface="맑은 고딕"/>
                <a:ea typeface="맑은 고딕"/>
              </a:rPr>
              <a:t>·</a:t>
            </a:r>
            <a:r>
              <a:rPr lang="ko-KR" altLang="en-US" sz="1100">
                <a:solidFill>
                  <a:srgbClr val="8A8F98"/>
                </a:solidFill>
                <a:latin typeface="맑은 고딕"/>
                <a:ea typeface="맑은 고딕"/>
              </a:rPr>
              <a:t>최고가격 고시 관련 자료</a:t>
            </a:r>
          </a:p>
        </p:txBody>
      </p:sp>
    </p:spTree>
    <p:extLst>
      <p:ext uri="{BB962C8B-B14F-4D97-AF65-F5344CB8AC3E}">
        <p14:creationId xmlns:p14="http://schemas.microsoft.com/office/powerpoint/2010/main" val="2920328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40" name="직사각형 39">
            <a:extLst>
              <a:ext uri="{FF2B5EF4-FFF2-40B4-BE49-F238E27FC236}">
                <a16:creationId xmlns:a16="http://schemas.microsoft.com/office/drawing/2014/main" id="{6E48A7E6-154C-4261-BD07-187F3717959F}"/>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1" name="직사각형 40">
            <a:extLst>
              <a:ext uri="{FF2B5EF4-FFF2-40B4-BE49-F238E27FC236}">
                <a16:creationId xmlns:a16="http://schemas.microsoft.com/office/drawing/2014/main" id="{D4F54E49-EB0E-4CEE-8573-9B03F24B0C79}"/>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2" name="직사각형 41">
            <a:extLst>
              <a:ext uri="{FF2B5EF4-FFF2-40B4-BE49-F238E27FC236}">
                <a16:creationId xmlns:a16="http://schemas.microsoft.com/office/drawing/2014/main" id="{8FB9FFF5-8C39-4A25-AC69-63F6EF87FC75}"/>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 name="TextBox 1">
            <a:extLst>
              <a:ext uri="{FF2B5EF4-FFF2-40B4-BE49-F238E27FC236}">
                <a16:creationId xmlns:a16="http://schemas.microsoft.com/office/drawing/2014/main" id="{37BE3E19-B34F-4F0A-8FF3-C5F3575C9EB1}"/>
              </a:ext>
            </a:extLst>
          </p:cNvPr>
          <p:cNvSpPr txBox="1"/>
          <p:nvPr/>
        </p:nvSpPr>
        <p:spPr>
          <a:xfrm>
            <a:off x="1092200" y="1676400"/>
            <a:ext cx="6604000" cy="304800"/>
          </a:xfrm>
          <a:prstGeom prst="rect">
            <a:avLst/>
          </a:prstGeom>
          <a:noFill/>
        </p:spPr>
        <p:txBody>
          <a:bodyPr vertOverflow="overflow" vert="horz" wrap="square" rtlCol="0" anchor="t">
            <a:normAutofit/>
          </a:bodyPr>
          <a:lstStyle/>
          <a:p>
            <a:pPr algn="l"/>
            <a:r>
              <a:rPr lang="en-US" altLang="ko-KR" sz="1400">
                <a:solidFill>
                  <a:srgbClr val="8A8F98"/>
                </a:solidFill>
                <a:latin typeface="맑은 고딕"/>
                <a:ea typeface="맑은 고딕"/>
              </a:rPr>
              <a:t>LATEST POLICY NEWS · 2026.09</a:t>
            </a:r>
            <a:endParaRPr lang="ko-KR" altLang="en-US" sz="1400">
              <a:solidFill>
                <a:srgbClr val="8A8F98"/>
              </a:solidFill>
              <a:latin typeface="맑은 고딕"/>
              <a:ea typeface="맑은 고딕"/>
            </a:endParaRPr>
          </a:p>
        </p:txBody>
      </p:sp>
      <p:sp>
        <p:nvSpPr>
          <p:cNvPr id="3" name="TextBox 2">
            <a:extLst>
              <a:ext uri="{FF2B5EF4-FFF2-40B4-BE49-F238E27FC236}">
                <a16:creationId xmlns:a16="http://schemas.microsoft.com/office/drawing/2014/main" id="{8EA8FFDD-6E34-4C40-B862-9A1F1CD23CCF}"/>
              </a:ext>
            </a:extLst>
          </p:cNvPr>
          <p:cNvSpPr txBox="1"/>
          <p:nvPr/>
        </p:nvSpPr>
        <p:spPr>
          <a:xfrm>
            <a:off x="1041400" y="2133600"/>
            <a:ext cx="15240000" cy="863600"/>
          </a:xfrm>
          <a:prstGeom prst="rect">
            <a:avLst/>
          </a:prstGeom>
          <a:noFill/>
        </p:spPr>
        <p:txBody>
          <a:bodyPr vertOverflow="overflow" vert="horz" wrap="square" rtlCol="0" anchor="t">
            <a:noAutofit/>
          </a:bodyPr>
          <a:lstStyle/>
          <a:p>
            <a:pPr algn="l"/>
            <a:r>
              <a:rPr lang="ko-KR" altLang="en-US" sz="2900" b="1">
                <a:solidFill>
                  <a:srgbClr val="101828"/>
                </a:solidFill>
                <a:latin typeface="맑은 고딕"/>
                <a:ea typeface="맑은 고딕"/>
              </a:rPr>
              <a:t>한국은 </a:t>
            </a:r>
            <a:r>
              <a:rPr lang="en-US" altLang="ko-KR" sz="2900" b="1">
                <a:solidFill>
                  <a:srgbClr val="101828"/>
                </a:solidFill>
                <a:latin typeface="맑은 고딕"/>
                <a:ea typeface="맑은 고딕"/>
              </a:rPr>
              <a:t>2026</a:t>
            </a:r>
            <a:r>
              <a:rPr lang="ko-KR" altLang="en-US" sz="2900" b="1">
                <a:solidFill>
                  <a:srgbClr val="101828"/>
                </a:solidFill>
                <a:latin typeface="맑은 고딕"/>
                <a:ea typeface="맑은 고딕"/>
              </a:rPr>
              <a:t>년 국제유가 급등기에 최고가격제를 실제 시행했고</a:t>
            </a:r>
            <a:r>
              <a:rPr lang="en-US" altLang="ko-KR" sz="2900" b="1">
                <a:solidFill>
                  <a:srgbClr val="101828"/>
                </a:solidFill>
                <a:latin typeface="맑은 고딕"/>
                <a:ea typeface="맑은 고딕"/>
              </a:rPr>
              <a:t>, 9</a:t>
            </a:r>
            <a:r>
              <a:rPr lang="ko-KR" altLang="en-US" sz="2900" b="1">
                <a:solidFill>
                  <a:srgbClr val="101828"/>
                </a:solidFill>
                <a:latin typeface="맑은 고딕"/>
                <a:ea typeface="맑은 고딕"/>
              </a:rPr>
              <a:t>월까지 상한을 유지했습니다</a:t>
            </a:r>
          </a:p>
        </p:txBody>
      </p:sp>
      <p:sp>
        <p:nvSpPr>
          <p:cNvPr id="4" name="TextBox 3">
            <a:extLst>
              <a:ext uri="{FF2B5EF4-FFF2-40B4-BE49-F238E27FC236}">
                <a16:creationId xmlns:a16="http://schemas.microsoft.com/office/drawing/2014/main" id="{AF12343A-1268-45CF-A5F5-8E5123606F6C}"/>
              </a:ext>
            </a:extLst>
          </p:cNvPr>
          <p:cNvSpPr txBox="1"/>
          <p:nvPr/>
        </p:nvSpPr>
        <p:spPr>
          <a:xfrm>
            <a:off x="1092200" y="3048000"/>
            <a:ext cx="14224000" cy="431800"/>
          </a:xfrm>
          <a:prstGeom prst="rect">
            <a:avLst/>
          </a:prstGeom>
          <a:noFill/>
        </p:spPr>
        <p:txBody>
          <a:bodyPr vertOverflow="overflow" vert="horz" wrap="square" rtlCol="0" anchor="t">
            <a:normAutofit/>
          </a:bodyPr>
          <a:lstStyle/>
          <a:p>
            <a:pPr algn="l"/>
            <a:r>
              <a:rPr lang="ko-KR" altLang="en-US" sz="1500">
                <a:solidFill>
                  <a:srgbClr val="8A8F98"/>
                </a:solidFill>
                <a:latin typeface="맑은 고딕"/>
                <a:ea typeface="맑은 고딕"/>
              </a:rPr>
              <a:t>최신 공식 발표는 가격 안정 효과를 확인하는 동시에 시장 안정 이후 종료 가능성을 열어두고 있습니다</a:t>
            </a:r>
            <a:r>
              <a:rPr lang="en-US" altLang="ko-KR" sz="1500">
                <a:solidFill>
                  <a:srgbClr val="8A8F98"/>
                </a:solidFill>
                <a:latin typeface="맑은 고딕"/>
                <a:ea typeface="맑은 고딕"/>
              </a:rPr>
              <a:t>.</a:t>
            </a:r>
            <a:endParaRPr lang="ko-KR" altLang="en-US" sz="1500">
              <a:solidFill>
                <a:srgbClr val="8A8F98"/>
              </a:solidFill>
              <a:latin typeface="맑은 고딕"/>
              <a:ea typeface="맑은 고딕"/>
            </a:endParaRPr>
          </a:p>
        </p:txBody>
      </p:sp>
      <p:sp>
        <p:nvSpPr>
          <p:cNvPr id="5" name="직사각형 4">
            <a:extLst>
              <a:ext uri="{FF2B5EF4-FFF2-40B4-BE49-F238E27FC236}">
                <a16:creationId xmlns:a16="http://schemas.microsoft.com/office/drawing/2014/main" id="{22298C4F-9458-473E-A1DF-CEEC395B0AE6}"/>
              </a:ext>
            </a:extLst>
          </p:cNvPr>
          <p:cNvSpPr/>
          <p:nvPr/>
        </p:nvSpPr>
        <p:spPr>
          <a:xfrm>
            <a:off x="1041400" y="3860800"/>
            <a:ext cx="10414000" cy="37084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 name="직사각형 5">
            <a:extLst>
              <a:ext uri="{FF2B5EF4-FFF2-40B4-BE49-F238E27FC236}">
                <a16:creationId xmlns:a16="http://schemas.microsoft.com/office/drawing/2014/main" id="{72A55830-2688-46EF-90C8-1B60F7A41873}"/>
              </a:ext>
            </a:extLst>
          </p:cNvPr>
          <p:cNvSpPr/>
          <p:nvPr/>
        </p:nvSpPr>
        <p:spPr>
          <a:xfrm>
            <a:off x="1041400" y="3860800"/>
            <a:ext cx="177800" cy="3708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7" name="TextBox 6">
            <a:extLst>
              <a:ext uri="{FF2B5EF4-FFF2-40B4-BE49-F238E27FC236}">
                <a16:creationId xmlns:a16="http://schemas.microsoft.com/office/drawing/2014/main" id="{B6258CDF-1E51-4D92-BC91-7B5AF40F1EDC}"/>
              </a:ext>
            </a:extLst>
          </p:cNvPr>
          <p:cNvSpPr txBox="1"/>
          <p:nvPr/>
        </p:nvSpPr>
        <p:spPr>
          <a:xfrm>
            <a:off x="1524000" y="4216400"/>
            <a:ext cx="8001000" cy="508000"/>
          </a:xfrm>
          <a:prstGeom prst="rect">
            <a:avLst/>
          </a:prstGeom>
          <a:noFill/>
        </p:spPr>
        <p:txBody>
          <a:bodyPr vertOverflow="overflow" vert="horz" wrap="square" rtlCol="0" anchor="t">
            <a:normAutofit/>
          </a:bodyPr>
          <a:lstStyle/>
          <a:p>
            <a:pPr algn="l"/>
            <a:r>
              <a:rPr lang="ko-KR" altLang="en-US" sz="2300" b="1">
                <a:solidFill>
                  <a:srgbClr val="101828"/>
                </a:solidFill>
                <a:latin typeface="맑은 고딕"/>
                <a:ea typeface="맑은 고딕"/>
              </a:rPr>
              <a:t>정부</a:t>
            </a:r>
            <a:r>
              <a:rPr lang="en-US" altLang="ko-KR" sz="2300" b="1">
                <a:solidFill>
                  <a:srgbClr val="101828"/>
                </a:solidFill>
                <a:latin typeface="맑은 고딕"/>
                <a:ea typeface="맑은 고딕"/>
              </a:rPr>
              <a:t>, </a:t>
            </a:r>
            <a:r>
              <a:rPr lang="ko-KR" altLang="en-US" sz="2300" b="1">
                <a:solidFill>
                  <a:srgbClr val="101828"/>
                </a:solidFill>
                <a:latin typeface="맑은 고딕"/>
                <a:ea typeface="맑은 고딕"/>
              </a:rPr>
              <a:t>석유 최고가격 </a:t>
            </a:r>
            <a:r>
              <a:rPr lang="en-US" altLang="ko-KR" sz="2300" b="1">
                <a:solidFill>
                  <a:srgbClr val="101828"/>
                </a:solidFill>
                <a:latin typeface="맑은 고딕"/>
                <a:ea typeface="맑은 고딕"/>
              </a:rPr>
              <a:t>10</a:t>
            </a:r>
            <a:r>
              <a:rPr lang="ko-KR" altLang="en-US" sz="2300" b="1">
                <a:solidFill>
                  <a:srgbClr val="101828"/>
                </a:solidFill>
                <a:latin typeface="맑은 고딕"/>
                <a:ea typeface="맑은 고딕"/>
              </a:rPr>
              <a:t>차 동결</a:t>
            </a:r>
          </a:p>
        </p:txBody>
      </p:sp>
      <p:sp>
        <p:nvSpPr>
          <p:cNvPr id="8" name="TextBox 7">
            <a:extLst>
              <a:ext uri="{FF2B5EF4-FFF2-40B4-BE49-F238E27FC236}">
                <a16:creationId xmlns:a16="http://schemas.microsoft.com/office/drawing/2014/main" id="{37CB374B-6AB0-4A49-82DC-4534E550540D}"/>
              </a:ext>
            </a:extLst>
          </p:cNvPr>
          <p:cNvSpPr txBox="1"/>
          <p:nvPr/>
        </p:nvSpPr>
        <p:spPr>
          <a:xfrm>
            <a:off x="1524000" y="4851400"/>
            <a:ext cx="7620000" cy="355600"/>
          </a:xfrm>
          <a:prstGeom prst="rect">
            <a:avLst/>
          </a:prstGeom>
          <a:noFill/>
        </p:spPr>
        <p:txBody>
          <a:bodyPr vertOverflow="overflow" vert="horz" wrap="square" rtlCol="0" anchor="t">
            <a:normAutofit/>
          </a:bodyPr>
          <a:lstStyle/>
          <a:p>
            <a:pPr algn="l"/>
            <a:r>
              <a:rPr lang="ko-KR" altLang="en-US" sz="1500">
                <a:solidFill>
                  <a:srgbClr val="8A8F98"/>
                </a:solidFill>
                <a:latin typeface="맑은 고딕"/>
                <a:ea typeface="맑은 고딕"/>
              </a:rPr>
              <a:t>시행 기간</a:t>
            </a:r>
            <a:r>
              <a:rPr lang="en-US" altLang="ko-KR" sz="1500">
                <a:solidFill>
                  <a:srgbClr val="8A8F98"/>
                </a:solidFill>
                <a:latin typeface="맑은 고딕"/>
                <a:ea typeface="맑은 고딕"/>
              </a:rPr>
              <a:t>: 2026</a:t>
            </a:r>
            <a:r>
              <a:rPr lang="ko-KR" altLang="en-US" sz="1500">
                <a:solidFill>
                  <a:srgbClr val="8A8F98"/>
                </a:solidFill>
                <a:latin typeface="맑은 고딕"/>
                <a:ea typeface="맑은 고딕"/>
              </a:rPr>
              <a:t>년 </a:t>
            </a:r>
            <a:r>
              <a:rPr lang="en-US" altLang="ko-KR" sz="1500">
                <a:solidFill>
                  <a:srgbClr val="8A8F98"/>
                </a:solidFill>
                <a:latin typeface="맑은 고딕"/>
                <a:ea typeface="맑은 고딕"/>
              </a:rPr>
              <a:t>9</a:t>
            </a:r>
            <a:r>
              <a:rPr lang="ko-KR" altLang="en-US" sz="1500">
                <a:solidFill>
                  <a:srgbClr val="8A8F98"/>
                </a:solidFill>
                <a:latin typeface="맑은 고딕"/>
                <a:ea typeface="맑은 고딕"/>
              </a:rPr>
              <a:t>월 </a:t>
            </a:r>
            <a:r>
              <a:rPr lang="en-US" altLang="ko-KR" sz="1500">
                <a:solidFill>
                  <a:srgbClr val="8A8F98"/>
                </a:solidFill>
                <a:latin typeface="맑은 고딕"/>
                <a:ea typeface="맑은 고딕"/>
              </a:rPr>
              <a:t>21</a:t>
            </a:r>
            <a:r>
              <a:rPr lang="ko-KR" altLang="en-US" sz="1500">
                <a:solidFill>
                  <a:srgbClr val="8A8F98"/>
                </a:solidFill>
                <a:latin typeface="맑은 고딕"/>
                <a:ea typeface="맑은 고딕"/>
              </a:rPr>
              <a:t>일 </a:t>
            </a:r>
            <a:r>
              <a:rPr lang="en-US" altLang="ko-KR" sz="1500">
                <a:solidFill>
                  <a:srgbClr val="8A8F98"/>
                </a:solidFill>
                <a:latin typeface="맑은 고딕"/>
                <a:ea typeface="맑은 고딕"/>
              </a:rPr>
              <a:t>~ 9</a:t>
            </a:r>
            <a:r>
              <a:rPr lang="ko-KR" altLang="en-US" sz="1500">
                <a:solidFill>
                  <a:srgbClr val="8A8F98"/>
                </a:solidFill>
                <a:latin typeface="맑은 고딕"/>
                <a:ea typeface="맑은 고딕"/>
              </a:rPr>
              <a:t>월 </a:t>
            </a:r>
            <a:r>
              <a:rPr lang="en-US" altLang="ko-KR" sz="1500">
                <a:solidFill>
                  <a:srgbClr val="8A8F98"/>
                </a:solidFill>
                <a:latin typeface="맑은 고딕"/>
                <a:ea typeface="맑은 고딕"/>
              </a:rPr>
              <a:t>27</a:t>
            </a:r>
            <a:r>
              <a:rPr lang="ko-KR" altLang="en-US" sz="1500">
                <a:solidFill>
                  <a:srgbClr val="8A8F98"/>
                </a:solidFill>
                <a:latin typeface="맑은 고딕"/>
                <a:ea typeface="맑은 고딕"/>
              </a:rPr>
              <a:t>일</a:t>
            </a:r>
          </a:p>
        </p:txBody>
      </p:sp>
      <p:sp>
        <p:nvSpPr>
          <p:cNvPr id="9" name="직사각형 8">
            <a:extLst>
              <a:ext uri="{FF2B5EF4-FFF2-40B4-BE49-F238E27FC236}">
                <a16:creationId xmlns:a16="http://schemas.microsoft.com/office/drawing/2014/main" id="{5F4FDAE8-3431-4392-885D-99544CC35EB9}"/>
              </a:ext>
            </a:extLst>
          </p:cNvPr>
          <p:cNvSpPr/>
          <p:nvPr/>
        </p:nvSpPr>
        <p:spPr>
          <a:xfrm>
            <a:off x="1524000" y="5562600"/>
            <a:ext cx="4127500" cy="1092200"/>
          </a:xfrm>
          <a:prstGeom prst="rect">
            <a:avLst/>
          </a:prstGeom>
          <a:solidFill>
            <a:srgbClr val="10182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TextBox 9">
            <a:extLst>
              <a:ext uri="{FF2B5EF4-FFF2-40B4-BE49-F238E27FC236}">
                <a16:creationId xmlns:a16="http://schemas.microsoft.com/office/drawing/2014/main" id="{75B3FBB8-9B17-49A3-8EAE-19E90D93664C}"/>
              </a:ext>
            </a:extLst>
          </p:cNvPr>
          <p:cNvSpPr txBox="1"/>
          <p:nvPr/>
        </p:nvSpPr>
        <p:spPr>
          <a:xfrm>
            <a:off x="1803400" y="5867400"/>
            <a:ext cx="3556000" cy="431800"/>
          </a:xfrm>
          <a:prstGeom prst="rect">
            <a:avLst/>
          </a:prstGeom>
          <a:noFill/>
        </p:spPr>
        <p:txBody>
          <a:bodyPr vertOverflow="overflow" vert="horz" wrap="square" rtlCol="0" anchor="t">
            <a:normAutofit/>
          </a:bodyPr>
          <a:lstStyle/>
          <a:p>
            <a:pPr algn="l"/>
            <a:r>
              <a:rPr lang="ko-KR" altLang="en-US" sz="2100" b="1" dirty="0">
                <a:solidFill>
                  <a:srgbClr val="FFFFFF"/>
                </a:solidFill>
                <a:latin typeface="맑은 고딕"/>
                <a:ea typeface="맑은 고딕"/>
              </a:rPr>
              <a:t>휘발유  </a:t>
            </a:r>
            <a:r>
              <a:rPr lang="en-US" altLang="ko-KR" sz="2100" b="1" dirty="0">
                <a:solidFill>
                  <a:srgbClr val="FFFFFF"/>
                </a:solidFill>
                <a:latin typeface="맑은 고딕"/>
                <a:ea typeface="맑은 고딕"/>
              </a:rPr>
              <a:t>1,784</a:t>
            </a:r>
            <a:r>
              <a:rPr lang="ko-KR" altLang="en-US" sz="2100" b="1" dirty="0">
                <a:solidFill>
                  <a:srgbClr val="FFFFFF"/>
                </a:solidFill>
                <a:latin typeface="맑은 고딕"/>
                <a:ea typeface="맑은 고딕"/>
              </a:rPr>
              <a:t>원</a:t>
            </a:r>
            <a:r>
              <a:rPr lang="en-US" altLang="ko-KR" sz="2100" b="1" dirty="0">
                <a:solidFill>
                  <a:srgbClr val="FFFFFF"/>
                </a:solidFill>
                <a:latin typeface="맑은 고딕"/>
                <a:ea typeface="맑은 고딕"/>
              </a:rPr>
              <a:t>/L</a:t>
            </a:r>
            <a:endParaRPr lang="ko-KR" altLang="en-US" sz="2100" b="1" dirty="0">
              <a:solidFill>
                <a:srgbClr val="FFFFFF"/>
              </a:solidFill>
              <a:latin typeface="맑은 고딕"/>
              <a:ea typeface="맑은 고딕"/>
            </a:endParaRPr>
          </a:p>
        </p:txBody>
      </p:sp>
      <p:sp>
        <p:nvSpPr>
          <p:cNvPr id="11" name="직사각형 10">
            <a:extLst>
              <a:ext uri="{FF2B5EF4-FFF2-40B4-BE49-F238E27FC236}">
                <a16:creationId xmlns:a16="http://schemas.microsoft.com/office/drawing/2014/main" id="{96889E2E-24F5-4246-8AC2-B833139AA975}"/>
              </a:ext>
            </a:extLst>
          </p:cNvPr>
          <p:cNvSpPr/>
          <p:nvPr/>
        </p:nvSpPr>
        <p:spPr>
          <a:xfrm>
            <a:off x="5905500" y="5562600"/>
            <a:ext cx="4127500" cy="10922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2" name="TextBox 11">
            <a:extLst>
              <a:ext uri="{FF2B5EF4-FFF2-40B4-BE49-F238E27FC236}">
                <a16:creationId xmlns:a16="http://schemas.microsoft.com/office/drawing/2014/main" id="{F360D187-C60F-490E-8234-77CB51229DE0}"/>
              </a:ext>
            </a:extLst>
          </p:cNvPr>
          <p:cNvSpPr txBox="1"/>
          <p:nvPr/>
        </p:nvSpPr>
        <p:spPr>
          <a:xfrm>
            <a:off x="6184900" y="5867400"/>
            <a:ext cx="3556000" cy="431800"/>
          </a:xfrm>
          <a:prstGeom prst="rect">
            <a:avLst/>
          </a:prstGeom>
          <a:noFill/>
        </p:spPr>
        <p:txBody>
          <a:bodyPr vertOverflow="overflow" vert="horz" wrap="square" rtlCol="0" anchor="t">
            <a:normAutofit/>
          </a:bodyPr>
          <a:lstStyle/>
          <a:p>
            <a:pPr algn="l"/>
            <a:r>
              <a:rPr lang="ko-KR" altLang="en-US" sz="2100" b="1" dirty="0">
                <a:solidFill>
                  <a:srgbClr val="FFFFFF"/>
                </a:solidFill>
                <a:latin typeface="맑은 고딕"/>
                <a:ea typeface="맑은 고딕"/>
              </a:rPr>
              <a:t>경유  </a:t>
            </a:r>
            <a:r>
              <a:rPr lang="en-US" altLang="ko-KR" sz="2100" b="1" dirty="0">
                <a:solidFill>
                  <a:srgbClr val="FFFFFF"/>
                </a:solidFill>
                <a:latin typeface="맑은 고딕"/>
                <a:ea typeface="맑은 고딕"/>
              </a:rPr>
              <a:t>1,773</a:t>
            </a:r>
            <a:r>
              <a:rPr lang="ko-KR" altLang="en-US" sz="2100" b="1" dirty="0">
                <a:solidFill>
                  <a:srgbClr val="FFFFFF"/>
                </a:solidFill>
                <a:latin typeface="맑은 고딕"/>
                <a:ea typeface="맑은 고딕"/>
              </a:rPr>
              <a:t>원</a:t>
            </a:r>
            <a:r>
              <a:rPr lang="en-US" altLang="ko-KR" sz="2100" b="1" dirty="0">
                <a:solidFill>
                  <a:srgbClr val="FFFFFF"/>
                </a:solidFill>
                <a:latin typeface="맑은 고딕"/>
                <a:ea typeface="맑은 고딕"/>
              </a:rPr>
              <a:t>/L</a:t>
            </a:r>
            <a:endParaRPr lang="ko-KR" altLang="en-US" sz="2100" b="1" dirty="0">
              <a:solidFill>
                <a:srgbClr val="FFFFFF"/>
              </a:solidFill>
              <a:latin typeface="맑은 고딕"/>
              <a:ea typeface="맑은 고딕"/>
            </a:endParaRPr>
          </a:p>
        </p:txBody>
      </p:sp>
      <p:sp>
        <p:nvSpPr>
          <p:cNvPr id="13" name="TextBox 12">
            <a:extLst>
              <a:ext uri="{FF2B5EF4-FFF2-40B4-BE49-F238E27FC236}">
                <a16:creationId xmlns:a16="http://schemas.microsoft.com/office/drawing/2014/main" id="{EFE58AA5-6C25-4721-A538-C2B1BF753DEB}"/>
              </a:ext>
            </a:extLst>
          </p:cNvPr>
          <p:cNvSpPr txBox="1"/>
          <p:nvPr/>
        </p:nvSpPr>
        <p:spPr>
          <a:xfrm>
            <a:off x="1524000" y="6959600"/>
            <a:ext cx="9017000" cy="444500"/>
          </a:xfrm>
          <a:prstGeom prst="rect">
            <a:avLst/>
          </a:prstGeom>
          <a:noFill/>
        </p:spPr>
        <p:txBody>
          <a:bodyPr vertOverflow="overflow" vert="horz" wrap="square" rtlCol="0" anchor="t">
            <a:noAutofit/>
          </a:bodyPr>
          <a:lstStyle/>
          <a:p>
            <a:pPr algn="l"/>
            <a:r>
              <a:rPr lang="ko-KR" altLang="en-US" sz="1400">
                <a:solidFill>
                  <a:srgbClr val="101828"/>
                </a:solidFill>
                <a:latin typeface="맑은 고딕"/>
                <a:ea typeface="맑은 고딕"/>
              </a:rPr>
              <a:t>산업통상부는 시장 안정 흐름을 확인하면서 상한가격을 유지하고</a:t>
            </a:r>
            <a:r>
              <a:rPr lang="en-US" altLang="ko-KR" sz="1400">
                <a:solidFill>
                  <a:srgbClr val="101828"/>
                </a:solidFill>
                <a:latin typeface="맑은 고딕"/>
                <a:ea typeface="맑은 고딕"/>
              </a:rPr>
              <a:t>, </a:t>
            </a:r>
            <a:r>
              <a:rPr lang="ko-KR" altLang="en-US" sz="1400">
                <a:solidFill>
                  <a:srgbClr val="101828"/>
                </a:solidFill>
                <a:latin typeface="맑은 고딕"/>
                <a:ea typeface="맑은 고딕"/>
              </a:rPr>
              <a:t>중동 정세와 수급 상황을 고려해 종료 여부를 검토하겠다고 밝혔습니다</a:t>
            </a:r>
            <a:r>
              <a:rPr lang="en-US" altLang="ko-KR" sz="1400">
                <a:solidFill>
                  <a:srgbClr val="101828"/>
                </a:solidFill>
                <a:latin typeface="맑은 고딕"/>
                <a:ea typeface="맑은 고딕"/>
              </a:rPr>
              <a:t>.</a:t>
            </a:r>
            <a:endParaRPr lang="ko-KR" altLang="en-US" sz="1400">
              <a:solidFill>
                <a:srgbClr val="101828"/>
              </a:solidFill>
              <a:latin typeface="맑은 고딕"/>
              <a:ea typeface="맑은 고딕"/>
            </a:endParaRPr>
          </a:p>
        </p:txBody>
      </p:sp>
      <p:sp>
        <p:nvSpPr>
          <p:cNvPr id="14" name="직사각형 13">
            <a:extLst>
              <a:ext uri="{FF2B5EF4-FFF2-40B4-BE49-F238E27FC236}">
                <a16:creationId xmlns:a16="http://schemas.microsoft.com/office/drawing/2014/main" id="{07B2E51E-854F-4045-BE61-432712026DFD}"/>
              </a:ext>
            </a:extLst>
          </p:cNvPr>
          <p:cNvSpPr/>
          <p:nvPr/>
        </p:nvSpPr>
        <p:spPr>
          <a:xfrm>
            <a:off x="11887200" y="3860800"/>
            <a:ext cx="5257800" cy="3708400"/>
          </a:xfrm>
          <a:prstGeom prst="rect">
            <a:avLst/>
          </a:prstGeom>
          <a:solidFill>
            <a:srgbClr val="10182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 name="TextBox 14">
            <a:extLst>
              <a:ext uri="{FF2B5EF4-FFF2-40B4-BE49-F238E27FC236}">
                <a16:creationId xmlns:a16="http://schemas.microsoft.com/office/drawing/2014/main" id="{87A9D28E-9F45-4856-9950-98E2FCACD58C}"/>
              </a:ext>
            </a:extLst>
          </p:cNvPr>
          <p:cNvSpPr txBox="1"/>
          <p:nvPr/>
        </p:nvSpPr>
        <p:spPr>
          <a:xfrm>
            <a:off x="12319000" y="4241800"/>
            <a:ext cx="2794000" cy="381000"/>
          </a:xfrm>
          <a:prstGeom prst="rect">
            <a:avLst/>
          </a:prstGeom>
          <a:noFill/>
        </p:spPr>
        <p:txBody>
          <a:bodyPr vertOverflow="overflow" vert="horz" wrap="square" rtlCol="0" anchor="t">
            <a:normAutofit/>
          </a:bodyPr>
          <a:lstStyle/>
          <a:p>
            <a:pPr algn="l"/>
            <a:r>
              <a:rPr lang="ko-KR" altLang="en-US" sz="1600" b="1">
                <a:solidFill>
                  <a:srgbClr val="39C6E8"/>
                </a:solidFill>
                <a:latin typeface="맑은 고딕"/>
                <a:ea typeface="맑은 고딕"/>
              </a:rPr>
              <a:t>정책 효과</a:t>
            </a:r>
          </a:p>
        </p:txBody>
      </p:sp>
      <p:sp>
        <p:nvSpPr>
          <p:cNvPr id="16" name="TextBox 15">
            <a:extLst>
              <a:ext uri="{FF2B5EF4-FFF2-40B4-BE49-F238E27FC236}">
                <a16:creationId xmlns:a16="http://schemas.microsoft.com/office/drawing/2014/main" id="{A17F9F8F-613B-4FA7-9A6A-178CEA43FB12}"/>
              </a:ext>
            </a:extLst>
          </p:cNvPr>
          <p:cNvSpPr txBox="1"/>
          <p:nvPr/>
        </p:nvSpPr>
        <p:spPr>
          <a:xfrm>
            <a:off x="12319000" y="4851400"/>
            <a:ext cx="3937000" cy="685800"/>
          </a:xfrm>
          <a:prstGeom prst="rect">
            <a:avLst/>
          </a:prstGeom>
          <a:noFill/>
        </p:spPr>
        <p:txBody>
          <a:bodyPr vertOverflow="overflow" vert="horz" wrap="square" rtlCol="0" anchor="t">
            <a:normAutofit fontScale="92500" lnSpcReduction="20000"/>
          </a:bodyPr>
          <a:lstStyle/>
          <a:p>
            <a:pPr algn="l"/>
            <a:r>
              <a:rPr lang="ko-KR" altLang="en-US" sz="2400" b="1" dirty="0">
                <a:solidFill>
                  <a:srgbClr val="FFFFFF"/>
                </a:solidFill>
                <a:latin typeface="맑은 고딕"/>
                <a:ea typeface="맑은 고딕"/>
              </a:rPr>
              <a:t>소비자물가상승률 평균 </a:t>
            </a:r>
            <a:r>
              <a:rPr lang="en-US" altLang="ko-KR" sz="2400" b="1" dirty="0">
                <a:solidFill>
                  <a:srgbClr val="FFFFFF"/>
                </a:solidFill>
                <a:latin typeface="맑은 고딕"/>
                <a:ea typeface="맑은 고딕"/>
              </a:rPr>
              <a:t>0.6%p </a:t>
            </a:r>
            <a:r>
              <a:rPr lang="ko-KR" altLang="en-US" sz="2400" b="1" dirty="0">
                <a:solidFill>
                  <a:srgbClr val="FFFFFF"/>
                </a:solidFill>
                <a:latin typeface="맑은 고딕"/>
                <a:ea typeface="맑은 고딕"/>
              </a:rPr>
              <a:t>인하</a:t>
            </a:r>
          </a:p>
        </p:txBody>
      </p:sp>
      <p:sp>
        <p:nvSpPr>
          <p:cNvPr id="19" name="직사각형 18">
            <a:extLst>
              <a:ext uri="{FF2B5EF4-FFF2-40B4-BE49-F238E27FC236}">
                <a16:creationId xmlns:a16="http://schemas.microsoft.com/office/drawing/2014/main" id="{BC54D8EB-336E-4F08-90B5-0CD8BEAFE201}"/>
              </a:ext>
            </a:extLst>
          </p:cNvPr>
          <p:cNvSpPr/>
          <p:nvPr/>
        </p:nvSpPr>
        <p:spPr>
          <a:xfrm>
            <a:off x="1092200" y="7975600"/>
            <a:ext cx="4953000" cy="711200"/>
          </a:xfrm>
          <a:prstGeom prst="rect">
            <a:avLst/>
          </a:prstGeom>
          <a:solidFill>
            <a:srgbClr val="EAF0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0" name="TextBox 19">
            <a:extLst>
              <a:ext uri="{FF2B5EF4-FFF2-40B4-BE49-F238E27FC236}">
                <a16:creationId xmlns:a16="http://schemas.microsoft.com/office/drawing/2014/main" id="{DA09C831-076B-4C47-A12B-0B9CEF67DD7D}"/>
              </a:ext>
            </a:extLst>
          </p:cNvPr>
          <p:cNvSpPr txBox="1"/>
          <p:nvPr/>
        </p:nvSpPr>
        <p:spPr>
          <a:xfrm>
            <a:off x="1270000" y="8178800"/>
            <a:ext cx="698500" cy="304800"/>
          </a:xfrm>
          <a:prstGeom prst="rect">
            <a:avLst/>
          </a:prstGeom>
          <a:noFill/>
        </p:spPr>
        <p:txBody>
          <a:bodyPr vertOverflow="overflow" vert="horz" wrap="square" rtlCol="0" anchor="t">
            <a:normAutofit/>
          </a:bodyPr>
          <a:lstStyle/>
          <a:p>
            <a:pPr algn="l"/>
            <a:r>
              <a:rPr lang="en-US" altLang="ko-KR" sz="1400" b="1">
                <a:solidFill>
                  <a:srgbClr val="4775FF"/>
                </a:solidFill>
                <a:latin typeface="맑은 고딕"/>
                <a:ea typeface="맑은 고딕"/>
              </a:rPr>
              <a:t>3.17</a:t>
            </a:r>
            <a:endParaRPr lang="ko-KR" altLang="en-US" sz="1400" b="1">
              <a:solidFill>
                <a:srgbClr val="4775FF"/>
              </a:solidFill>
              <a:latin typeface="맑은 고딕"/>
              <a:ea typeface="맑은 고딕"/>
            </a:endParaRPr>
          </a:p>
        </p:txBody>
      </p:sp>
      <p:sp>
        <p:nvSpPr>
          <p:cNvPr id="21" name="TextBox 20">
            <a:extLst>
              <a:ext uri="{FF2B5EF4-FFF2-40B4-BE49-F238E27FC236}">
                <a16:creationId xmlns:a16="http://schemas.microsoft.com/office/drawing/2014/main" id="{BAF834E4-DE1C-4695-A58B-4D3F1CB17728}"/>
              </a:ext>
            </a:extLst>
          </p:cNvPr>
          <p:cNvSpPr txBox="1"/>
          <p:nvPr/>
        </p:nvSpPr>
        <p:spPr>
          <a:xfrm>
            <a:off x="2133600" y="8102600"/>
            <a:ext cx="1206500" cy="317500"/>
          </a:xfrm>
          <a:prstGeom prst="rect">
            <a:avLst/>
          </a:prstGeom>
          <a:noFill/>
        </p:spPr>
        <p:txBody>
          <a:bodyPr vertOverflow="overflow" vert="horz" wrap="square" rtlCol="0" anchor="t">
            <a:noAutofit/>
          </a:bodyPr>
          <a:lstStyle/>
          <a:p>
            <a:pPr algn="l"/>
            <a:r>
              <a:rPr lang="ko-KR" altLang="en-US" sz="1500" b="1">
                <a:solidFill>
                  <a:srgbClr val="101828"/>
                </a:solidFill>
                <a:latin typeface="맑은 고딕"/>
                <a:ea typeface="맑은 고딕"/>
              </a:rPr>
              <a:t>최초 시행</a:t>
            </a:r>
          </a:p>
        </p:txBody>
      </p:sp>
      <p:sp>
        <p:nvSpPr>
          <p:cNvPr id="22" name="TextBox 21">
            <a:extLst>
              <a:ext uri="{FF2B5EF4-FFF2-40B4-BE49-F238E27FC236}">
                <a16:creationId xmlns:a16="http://schemas.microsoft.com/office/drawing/2014/main" id="{6E0FC25D-CDA0-4486-B561-151CC1CE2E4C}"/>
              </a:ext>
            </a:extLst>
          </p:cNvPr>
          <p:cNvSpPr txBox="1"/>
          <p:nvPr/>
        </p:nvSpPr>
        <p:spPr>
          <a:xfrm>
            <a:off x="3378200" y="8102600"/>
            <a:ext cx="2476500" cy="381000"/>
          </a:xfrm>
          <a:prstGeom prst="rect">
            <a:avLst/>
          </a:prstGeom>
          <a:noFill/>
        </p:spPr>
        <p:txBody>
          <a:bodyPr vertOverflow="overflow" vert="horz" wrap="square" rtlCol="0" anchor="t">
            <a:normAutofit/>
          </a:bodyPr>
          <a:lstStyle/>
          <a:p>
            <a:pPr algn="l"/>
            <a:r>
              <a:rPr lang="ko-KR" altLang="en-US" sz="1200" dirty="0">
                <a:solidFill>
                  <a:srgbClr val="8A8F98"/>
                </a:solidFill>
                <a:latin typeface="맑은 고딕"/>
                <a:ea typeface="맑은 고딕"/>
              </a:rPr>
              <a:t>휘발유 </a:t>
            </a:r>
            <a:r>
              <a:rPr lang="en-US" altLang="ko-KR" sz="1200" dirty="0">
                <a:solidFill>
                  <a:srgbClr val="8A8F98"/>
                </a:solidFill>
                <a:latin typeface="맑은 고딕"/>
                <a:ea typeface="맑은 고딕"/>
              </a:rPr>
              <a:t>1,724</a:t>
            </a:r>
            <a:r>
              <a:rPr lang="ko-KR" altLang="en-US" sz="1200" dirty="0">
                <a:solidFill>
                  <a:srgbClr val="8A8F98"/>
                </a:solidFill>
                <a:latin typeface="맑은 고딕"/>
                <a:ea typeface="맑은 고딕"/>
              </a:rPr>
              <a:t>원 </a:t>
            </a:r>
            <a:r>
              <a:rPr lang="en-US" altLang="ko-KR" sz="1200" dirty="0">
                <a:solidFill>
                  <a:srgbClr val="8A8F98"/>
                </a:solidFill>
                <a:latin typeface="맑은 고딕"/>
                <a:ea typeface="맑은 고딕"/>
              </a:rPr>
              <a:t>/ </a:t>
            </a:r>
            <a:r>
              <a:rPr lang="ko-KR" altLang="en-US" sz="1200" dirty="0">
                <a:solidFill>
                  <a:srgbClr val="8A8F98"/>
                </a:solidFill>
                <a:latin typeface="맑은 고딕"/>
                <a:ea typeface="맑은 고딕"/>
              </a:rPr>
              <a:t>경유 </a:t>
            </a:r>
            <a:r>
              <a:rPr lang="en-US" altLang="ko-KR" sz="1200" dirty="0">
                <a:solidFill>
                  <a:srgbClr val="8A8F98"/>
                </a:solidFill>
                <a:latin typeface="맑은 고딕"/>
                <a:ea typeface="맑은 고딕"/>
              </a:rPr>
              <a:t>1,713</a:t>
            </a:r>
            <a:r>
              <a:rPr lang="ko-KR" altLang="en-US" sz="1200" dirty="0">
                <a:solidFill>
                  <a:srgbClr val="8A8F98"/>
                </a:solidFill>
                <a:latin typeface="맑은 고딕"/>
                <a:ea typeface="맑은 고딕"/>
              </a:rPr>
              <a:t>원</a:t>
            </a:r>
          </a:p>
        </p:txBody>
      </p:sp>
      <p:sp>
        <p:nvSpPr>
          <p:cNvPr id="23" name="직사각형 22">
            <a:extLst>
              <a:ext uri="{FF2B5EF4-FFF2-40B4-BE49-F238E27FC236}">
                <a16:creationId xmlns:a16="http://schemas.microsoft.com/office/drawing/2014/main" id="{F5997DC0-FDBD-42C8-9CAA-45B5FDACAEDD}"/>
              </a:ext>
            </a:extLst>
          </p:cNvPr>
          <p:cNvSpPr/>
          <p:nvPr/>
        </p:nvSpPr>
        <p:spPr>
          <a:xfrm>
            <a:off x="6489700" y="7975600"/>
            <a:ext cx="4953000" cy="711200"/>
          </a:xfrm>
          <a:prstGeom prst="rect">
            <a:avLst/>
          </a:prstGeom>
          <a:solidFill>
            <a:srgbClr val="EAF0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4" name="TextBox 23">
            <a:extLst>
              <a:ext uri="{FF2B5EF4-FFF2-40B4-BE49-F238E27FC236}">
                <a16:creationId xmlns:a16="http://schemas.microsoft.com/office/drawing/2014/main" id="{81A0C236-FCF9-42A1-A883-79F47407298E}"/>
              </a:ext>
            </a:extLst>
          </p:cNvPr>
          <p:cNvSpPr txBox="1"/>
          <p:nvPr/>
        </p:nvSpPr>
        <p:spPr>
          <a:xfrm>
            <a:off x="6667500" y="8178800"/>
            <a:ext cx="698500" cy="304800"/>
          </a:xfrm>
          <a:prstGeom prst="rect">
            <a:avLst/>
          </a:prstGeom>
          <a:noFill/>
        </p:spPr>
        <p:txBody>
          <a:bodyPr vertOverflow="overflow" vert="horz" wrap="square" rtlCol="0" anchor="t">
            <a:normAutofit/>
          </a:bodyPr>
          <a:lstStyle/>
          <a:p>
            <a:pPr algn="l"/>
            <a:r>
              <a:rPr lang="en-US" altLang="ko-KR" sz="1400" b="1">
                <a:solidFill>
                  <a:srgbClr val="4775FF"/>
                </a:solidFill>
                <a:latin typeface="맑은 고딕"/>
                <a:ea typeface="맑은 고딕"/>
              </a:rPr>
              <a:t>5.01</a:t>
            </a:r>
            <a:endParaRPr lang="ko-KR" altLang="en-US" sz="1400" b="1">
              <a:solidFill>
                <a:srgbClr val="4775FF"/>
              </a:solidFill>
              <a:latin typeface="맑은 고딕"/>
              <a:ea typeface="맑은 고딕"/>
            </a:endParaRPr>
          </a:p>
        </p:txBody>
      </p:sp>
      <p:sp>
        <p:nvSpPr>
          <p:cNvPr id="25" name="TextBox 24">
            <a:extLst>
              <a:ext uri="{FF2B5EF4-FFF2-40B4-BE49-F238E27FC236}">
                <a16:creationId xmlns:a16="http://schemas.microsoft.com/office/drawing/2014/main" id="{F1EE1381-AF63-46CB-B563-7E07CC2204CA}"/>
              </a:ext>
            </a:extLst>
          </p:cNvPr>
          <p:cNvSpPr txBox="1"/>
          <p:nvPr/>
        </p:nvSpPr>
        <p:spPr>
          <a:xfrm>
            <a:off x="7531100" y="8102600"/>
            <a:ext cx="1206500" cy="317500"/>
          </a:xfrm>
          <a:prstGeom prst="rect">
            <a:avLst/>
          </a:prstGeom>
          <a:noFill/>
        </p:spPr>
        <p:txBody>
          <a:bodyPr vertOverflow="overflow" vert="horz" wrap="square" rtlCol="0" anchor="t">
            <a:noAutofit/>
          </a:bodyPr>
          <a:lstStyle/>
          <a:p>
            <a:pPr algn="l"/>
            <a:r>
              <a:rPr lang="ko-KR" altLang="en-US" sz="1500" b="1">
                <a:solidFill>
                  <a:srgbClr val="101828"/>
                </a:solidFill>
                <a:latin typeface="맑은 고딕"/>
                <a:ea typeface="맑은 고딕"/>
              </a:rPr>
              <a:t>상한 조정</a:t>
            </a:r>
          </a:p>
        </p:txBody>
      </p:sp>
      <p:sp>
        <p:nvSpPr>
          <p:cNvPr id="26" name="TextBox 25">
            <a:extLst>
              <a:ext uri="{FF2B5EF4-FFF2-40B4-BE49-F238E27FC236}">
                <a16:creationId xmlns:a16="http://schemas.microsoft.com/office/drawing/2014/main" id="{E573CD32-F001-4267-9D06-50D047488DEB}"/>
              </a:ext>
            </a:extLst>
          </p:cNvPr>
          <p:cNvSpPr txBox="1"/>
          <p:nvPr/>
        </p:nvSpPr>
        <p:spPr>
          <a:xfrm>
            <a:off x="8775700" y="8102600"/>
            <a:ext cx="2476500" cy="381000"/>
          </a:xfrm>
          <a:prstGeom prst="rect">
            <a:avLst/>
          </a:prstGeom>
          <a:noFill/>
        </p:spPr>
        <p:txBody>
          <a:bodyPr vertOverflow="overflow" vert="horz" wrap="square" rtlCol="0" anchor="t">
            <a:normAutofit/>
          </a:bodyPr>
          <a:lstStyle/>
          <a:p>
            <a:pPr algn="l"/>
            <a:r>
              <a:rPr lang="ko-KR" altLang="en-US" sz="1200">
                <a:solidFill>
                  <a:srgbClr val="8A8F98"/>
                </a:solidFill>
                <a:latin typeface="맑은 고딕"/>
                <a:ea typeface="맑은 고딕"/>
              </a:rPr>
              <a:t>원가</a:t>
            </a:r>
            <a:r>
              <a:rPr lang="en-US" altLang="ko-KR" sz="1200">
                <a:solidFill>
                  <a:srgbClr val="8A8F98"/>
                </a:solidFill>
                <a:latin typeface="맑은 고딕"/>
                <a:ea typeface="맑은 고딕"/>
              </a:rPr>
              <a:t>·</a:t>
            </a:r>
            <a:r>
              <a:rPr lang="ko-KR" altLang="en-US" sz="1200">
                <a:solidFill>
                  <a:srgbClr val="8A8F98"/>
                </a:solidFill>
                <a:latin typeface="맑은 고딕"/>
                <a:ea typeface="맑은 고딕"/>
              </a:rPr>
              <a:t>유통비 반영 후 상향</a:t>
            </a:r>
          </a:p>
        </p:txBody>
      </p:sp>
      <p:sp>
        <p:nvSpPr>
          <p:cNvPr id="27" name="직사각형 26">
            <a:extLst>
              <a:ext uri="{FF2B5EF4-FFF2-40B4-BE49-F238E27FC236}">
                <a16:creationId xmlns:a16="http://schemas.microsoft.com/office/drawing/2014/main" id="{F69BF73F-EE37-4E44-9A94-EEEFDDDDC816}"/>
              </a:ext>
            </a:extLst>
          </p:cNvPr>
          <p:cNvSpPr/>
          <p:nvPr/>
        </p:nvSpPr>
        <p:spPr>
          <a:xfrm>
            <a:off x="11887200" y="7975600"/>
            <a:ext cx="4953000" cy="7112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8" name="TextBox 27">
            <a:extLst>
              <a:ext uri="{FF2B5EF4-FFF2-40B4-BE49-F238E27FC236}">
                <a16:creationId xmlns:a16="http://schemas.microsoft.com/office/drawing/2014/main" id="{916BA630-CBBF-469F-AAB8-E3788CDD18CF}"/>
              </a:ext>
            </a:extLst>
          </p:cNvPr>
          <p:cNvSpPr txBox="1"/>
          <p:nvPr/>
        </p:nvSpPr>
        <p:spPr>
          <a:xfrm>
            <a:off x="12065000" y="8178800"/>
            <a:ext cx="698500" cy="304800"/>
          </a:xfrm>
          <a:prstGeom prst="rect">
            <a:avLst/>
          </a:prstGeom>
          <a:noFill/>
        </p:spPr>
        <p:txBody>
          <a:bodyPr vertOverflow="overflow" vert="horz" wrap="square" rtlCol="0" anchor="t">
            <a:normAutofit/>
          </a:bodyPr>
          <a:lstStyle/>
          <a:p>
            <a:pPr algn="l"/>
            <a:r>
              <a:rPr lang="en-US" altLang="ko-KR" sz="1400" b="1">
                <a:solidFill>
                  <a:srgbClr val="FFFFFF"/>
                </a:solidFill>
                <a:latin typeface="맑은 고딕"/>
                <a:ea typeface="맑은 고딕"/>
              </a:rPr>
              <a:t>9.21</a:t>
            </a:r>
            <a:endParaRPr lang="ko-KR" altLang="en-US" sz="1400" b="1">
              <a:solidFill>
                <a:srgbClr val="FFFFFF"/>
              </a:solidFill>
              <a:latin typeface="맑은 고딕"/>
              <a:ea typeface="맑은 고딕"/>
            </a:endParaRPr>
          </a:p>
        </p:txBody>
      </p:sp>
      <p:sp>
        <p:nvSpPr>
          <p:cNvPr id="29" name="TextBox 28">
            <a:extLst>
              <a:ext uri="{FF2B5EF4-FFF2-40B4-BE49-F238E27FC236}">
                <a16:creationId xmlns:a16="http://schemas.microsoft.com/office/drawing/2014/main" id="{1FDCC597-0704-480E-99B6-D3A17578E310}"/>
              </a:ext>
            </a:extLst>
          </p:cNvPr>
          <p:cNvSpPr txBox="1"/>
          <p:nvPr/>
        </p:nvSpPr>
        <p:spPr>
          <a:xfrm>
            <a:off x="12928600" y="8102600"/>
            <a:ext cx="1206500" cy="317500"/>
          </a:xfrm>
          <a:prstGeom prst="rect">
            <a:avLst/>
          </a:prstGeom>
          <a:noFill/>
        </p:spPr>
        <p:txBody>
          <a:bodyPr vertOverflow="overflow" vert="horz" wrap="square" rtlCol="0" anchor="t">
            <a:noAutofit/>
          </a:bodyPr>
          <a:lstStyle/>
          <a:p>
            <a:pPr algn="l"/>
            <a:r>
              <a:rPr lang="en-US" altLang="ko-KR" sz="1500" b="1">
                <a:solidFill>
                  <a:srgbClr val="FFFFFF"/>
                </a:solidFill>
                <a:latin typeface="맑은 고딕"/>
                <a:ea typeface="맑은 고딕"/>
              </a:rPr>
              <a:t>10</a:t>
            </a:r>
            <a:r>
              <a:rPr lang="ko-KR" altLang="en-US" sz="1500" b="1">
                <a:solidFill>
                  <a:srgbClr val="FFFFFF"/>
                </a:solidFill>
                <a:latin typeface="맑은 고딕"/>
                <a:ea typeface="맑은 고딕"/>
              </a:rPr>
              <a:t>차 동결</a:t>
            </a:r>
          </a:p>
        </p:txBody>
      </p:sp>
      <p:sp>
        <p:nvSpPr>
          <p:cNvPr id="30" name="TextBox 29">
            <a:extLst>
              <a:ext uri="{FF2B5EF4-FFF2-40B4-BE49-F238E27FC236}">
                <a16:creationId xmlns:a16="http://schemas.microsoft.com/office/drawing/2014/main" id="{048BDA7E-FC3F-4FB3-963F-B2C5E5621C50}"/>
              </a:ext>
            </a:extLst>
          </p:cNvPr>
          <p:cNvSpPr txBox="1"/>
          <p:nvPr/>
        </p:nvSpPr>
        <p:spPr>
          <a:xfrm>
            <a:off x="14173200" y="8102600"/>
            <a:ext cx="2476500" cy="381000"/>
          </a:xfrm>
          <a:prstGeom prst="rect">
            <a:avLst/>
          </a:prstGeom>
          <a:noFill/>
        </p:spPr>
        <p:txBody>
          <a:bodyPr vertOverflow="overflow" vert="horz" wrap="square" rtlCol="0" anchor="t">
            <a:normAutofit/>
          </a:bodyPr>
          <a:lstStyle/>
          <a:p>
            <a:pPr algn="l"/>
            <a:r>
              <a:rPr lang="ko-KR" altLang="en-US" sz="1200" dirty="0">
                <a:solidFill>
                  <a:srgbClr val="FFFFFF"/>
                </a:solidFill>
                <a:latin typeface="맑은 고딕"/>
                <a:ea typeface="맑은 고딕"/>
              </a:rPr>
              <a:t>휘발유 </a:t>
            </a:r>
            <a:r>
              <a:rPr lang="en-US" altLang="ko-KR" sz="1200" dirty="0">
                <a:solidFill>
                  <a:srgbClr val="FFFFFF"/>
                </a:solidFill>
                <a:latin typeface="맑은 고딕"/>
                <a:ea typeface="맑은 고딕"/>
              </a:rPr>
              <a:t>1,784</a:t>
            </a:r>
            <a:r>
              <a:rPr lang="ko-KR" altLang="en-US" sz="1200" dirty="0">
                <a:solidFill>
                  <a:srgbClr val="FFFFFF"/>
                </a:solidFill>
                <a:latin typeface="맑은 고딕"/>
                <a:ea typeface="맑은 고딕"/>
              </a:rPr>
              <a:t>원 </a:t>
            </a:r>
            <a:r>
              <a:rPr lang="en-US" altLang="ko-KR" sz="1200" dirty="0">
                <a:solidFill>
                  <a:srgbClr val="FFFFFF"/>
                </a:solidFill>
                <a:latin typeface="맑은 고딕"/>
                <a:ea typeface="맑은 고딕"/>
              </a:rPr>
              <a:t>/ </a:t>
            </a:r>
            <a:r>
              <a:rPr lang="ko-KR" altLang="en-US" sz="1200" dirty="0">
                <a:solidFill>
                  <a:srgbClr val="FFFFFF"/>
                </a:solidFill>
                <a:latin typeface="맑은 고딕"/>
                <a:ea typeface="맑은 고딕"/>
              </a:rPr>
              <a:t>경유 </a:t>
            </a:r>
            <a:r>
              <a:rPr lang="en-US" altLang="ko-KR" sz="1200" dirty="0">
                <a:solidFill>
                  <a:srgbClr val="FFFFFF"/>
                </a:solidFill>
                <a:latin typeface="맑은 고딕"/>
                <a:ea typeface="맑은 고딕"/>
              </a:rPr>
              <a:t>1,773</a:t>
            </a:r>
            <a:r>
              <a:rPr lang="ko-KR" altLang="en-US" sz="1200" dirty="0">
                <a:solidFill>
                  <a:srgbClr val="FFFFFF"/>
                </a:solidFill>
                <a:latin typeface="맑은 고딕"/>
                <a:ea typeface="맑은 고딕"/>
              </a:rPr>
              <a:t>원</a:t>
            </a:r>
          </a:p>
        </p:txBody>
      </p:sp>
      <p:sp>
        <p:nvSpPr>
          <p:cNvPr id="31" name="TextBox 30">
            <a:extLst>
              <a:ext uri="{FF2B5EF4-FFF2-40B4-BE49-F238E27FC236}">
                <a16:creationId xmlns:a16="http://schemas.microsoft.com/office/drawing/2014/main" id="{BA005C50-4DB7-4305-8826-06BDE6C70C54}"/>
              </a:ext>
            </a:extLst>
          </p:cNvPr>
          <p:cNvSpPr txBox="1"/>
          <p:nvPr/>
        </p:nvSpPr>
        <p:spPr>
          <a:xfrm>
            <a:off x="1066800" y="8890000"/>
            <a:ext cx="14605000" cy="254000"/>
          </a:xfrm>
          <a:prstGeom prst="rect">
            <a:avLst/>
          </a:prstGeom>
          <a:noFill/>
        </p:spPr>
        <p:txBody>
          <a:bodyPr vertOverflow="overflow" vert="horz" wrap="square" rtlCol="0" anchor="t">
            <a:noAutofit/>
          </a:bodyPr>
          <a:lstStyle/>
          <a:p>
            <a:pPr algn="l"/>
            <a:r>
              <a:rPr lang="ko-KR" altLang="en-US" sz="1100">
                <a:solidFill>
                  <a:srgbClr val="8A8F98"/>
                </a:solidFill>
                <a:latin typeface="맑은 고딕"/>
                <a:ea typeface="맑은 고딕"/>
              </a:rPr>
              <a:t>출처</a:t>
            </a:r>
            <a:r>
              <a:rPr lang="en-US" altLang="ko-KR" sz="1100">
                <a:solidFill>
                  <a:srgbClr val="8A8F98"/>
                </a:solidFill>
                <a:latin typeface="맑은 고딕"/>
                <a:ea typeface="맑은 고딕"/>
              </a:rPr>
              <a:t>: </a:t>
            </a:r>
            <a:r>
              <a:rPr lang="ko-KR" altLang="en-US" sz="1100">
                <a:solidFill>
                  <a:srgbClr val="8A8F98"/>
                </a:solidFill>
                <a:latin typeface="맑은 고딕"/>
                <a:ea typeface="맑은 고딕"/>
              </a:rPr>
              <a:t>산업통상부</a:t>
            </a:r>
            <a:r>
              <a:rPr lang="en-US" altLang="ko-KR" sz="1100">
                <a:solidFill>
                  <a:srgbClr val="8A8F98"/>
                </a:solidFill>
                <a:latin typeface="맑은 고딕"/>
                <a:ea typeface="맑은 고딕"/>
              </a:rPr>
              <a:t>·</a:t>
            </a:r>
            <a:r>
              <a:rPr lang="ko-KR" altLang="en-US" sz="1100">
                <a:solidFill>
                  <a:srgbClr val="8A8F98"/>
                </a:solidFill>
                <a:latin typeface="맑은 고딕"/>
                <a:ea typeface="맑은 고딕"/>
              </a:rPr>
              <a:t>대한민국 정책브리핑</a:t>
            </a:r>
            <a:r>
              <a:rPr lang="en-US" altLang="ko-KR" sz="1100">
                <a:solidFill>
                  <a:srgbClr val="8A8F98"/>
                </a:solidFill>
                <a:latin typeface="맑은 고딕"/>
                <a:ea typeface="맑은 고딕"/>
              </a:rPr>
              <a:t>, ‘</a:t>
            </a:r>
            <a:r>
              <a:rPr lang="ko-KR" altLang="en-US" sz="1100">
                <a:solidFill>
                  <a:srgbClr val="8A8F98"/>
                </a:solidFill>
                <a:latin typeface="맑은 고딕"/>
                <a:ea typeface="맑은 고딕"/>
              </a:rPr>
              <a:t>석유 최고가격 </a:t>
            </a:r>
            <a:r>
              <a:rPr lang="en-US" altLang="ko-KR" sz="1100">
                <a:solidFill>
                  <a:srgbClr val="8A8F98"/>
                </a:solidFill>
                <a:latin typeface="맑은 고딕"/>
                <a:ea typeface="맑은 고딕"/>
              </a:rPr>
              <a:t>10</a:t>
            </a:r>
            <a:r>
              <a:rPr lang="ko-KR" altLang="en-US" sz="1100">
                <a:solidFill>
                  <a:srgbClr val="8A8F98"/>
                </a:solidFill>
                <a:latin typeface="맑은 고딕"/>
                <a:ea typeface="맑은 고딕"/>
              </a:rPr>
              <a:t>차 동결’</a:t>
            </a:r>
            <a:r>
              <a:rPr lang="en-US" altLang="ko-KR" sz="1100">
                <a:solidFill>
                  <a:srgbClr val="8A8F98"/>
                </a:solidFill>
                <a:latin typeface="맑은 고딕"/>
                <a:ea typeface="맑은 고딕"/>
              </a:rPr>
              <a:t>(2026.09.18)</a:t>
            </a:r>
            <a:endParaRPr lang="ko-KR" altLang="en-US" sz="1100">
              <a:solidFill>
                <a:srgbClr val="8A8F98"/>
              </a:solidFill>
              <a:latin typeface="맑은 고딕"/>
              <a:ea typeface="맑은 고딕"/>
            </a:endParaRPr>
          </a:p>
        </p:txBody>
      </p:sp>
    </p:spTree>
    <p:extLst>
      <p:ext uri="{BB962C8B-B14F-4D97-AF65-F5344CB8AC3E}">
        <p14:creationId xmlns:p14="http://schemas.microsoft.com/office/powerpoint/2010/main" val="1847833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CEF9844C-7A05-47D1-822C-5F5101A5B534}"/>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4" name="직사각형 43">
            <a:extLst>
              <a:ext uri="{FF2B5EF4-FFF2-40B4-BE49-F238E27FC236}">
                <a16:creationId xmlns:a16="http://schemas.microsoft.com/office/drawing/2014/main" id="{4F45F64D-C46C-429C-B0D2-F932881B9EFF}"/>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직사각형 44">
            <a:extLst>
              <a:ext uri="{FF2B5EF4-FFF2-40B4-BE49-F238E27FC236}">
                <a16:creationId xmlns:a16="http://schemas.microsoft.com/office/drawing/2014/main" id="{BC859B2C-8415-466C-94D8-262047626BE8}"/>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TextBox 45">
            <a:extLst>
              <a:ext uri="{FF2B5EF4-FFF2-40B4-BE49-F238E27FC236}">
                <a16:creationId xmlns:a16="http://schemas.microsoft.com/office/drawing/2014/main" id="{9D148C9A-D29E-4547-9EE2-44ED48D26D7A}"/>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ACTUAL POLICY TIME SERIES</a:t>
            </a:r>
            <a:endParaRPr lang="ko-KR" altLang="en-US" sz="1200">
              <a:solidFill>
                <a:srgbClr val="8793A6"/>
              </a:solidFill>
              <a:latin typeface="맑은 고딕"/>
              <a:ea typeface="맑은 고딕"/>
            </a:endParaRPr>
          </a:p>
        </p:txBody>
      </p:sp>
      <p:sp>
        <p:nvSpPr>
          <p:cNvPr id="47" name="TextBox 46">
            <a:extLst>
              <a:ext uri="{FF2B5EF4-FFF2-40B4-BE49-F238E27FC236}">
                <a16:creationId xmlns:a16="http://schemas.microsoft.com/office/drawing/2014/main" id="{782B5AC6-2072-49CB-9AFE-CA9A441ABC2B}"/>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실제 공급가격 상한은 </a:t>
            </a:r>
            <a:r>
              <a:rPr lang="en-US" altLang="ko-KR" sz="2700" b="1">
                <a:solidFill>
                  <a:srgbClr val="0F1A2E"/>
                </a:solidFill>
                <a:latin typeface="맑은 고딕"/>
                <a:ea typeface="맑은 고딕"/>
              </a:rPr>
              <a:t>3</a:t>
            </a:r>
            <a:r>
              <a:rPr lang="ko-KR" altLang="en-US" sz="2700" b="1">
                <a:solidFill>
                  <a:srgbClr val="0F1A2E"/>
                </a:solidFill>
                <a:latin typeface="맑은 고딕"/>
                <a:ea typeface="맑은 고딕"/>
              </a:rPr>
              <a:t>월 급등 후 </a:t>
            </a:r>
            <a:r>
              <a:rPr lang="en-US" altLang="ko-KR" sz="2700" b="1">
                <a:solidFill>
                  <a:srgbClr val="0F1A2E"/>
                </a:solidFill>
                <a:latin typeface="맑은 고딕"/>
                <a:ea typeface="맑은 고딕"/>
              </a:rPr>
              <a:t>6</a:t>
            </a:r>
            <a:r>
              <a:rPr lang="ko-KR" altLang="en-US" sz="2700" b="1">
                <a:solidFill>
                  <a:srgbClr val="0F1A2E"/>
                </a:solidFill>
                <a:latin typeface="맑은 고딕"/>
                <a:ea typeface="맑은 고딕"/>
              </a:rPr>
              <a:t>월에 </a:t>
            </a:r>
            <a:r>
              <a:rPr lang="en-US" altLang="ko-KR" sz="2700" b="1">
                <a:solidFill>
                  <a:srgbClr val="0F1A2E"/>
                </a:solidFill>
                <a:latin typeface="맑은 고딕"/>
                <a:ea typeface="맑은 고딕"/>
              </a:rPr>
              <a:t>150</a:t>
            </a:r>
            <a:r>
              <a:rPr lang="ko-KR" altLang="en-US" sz="2700" b="1">
                <a:solidFill>
                  <a:srgbClr val="0F1A2E"/>
                </a:solidFill>
                <a:latin typeface="맑은 고딕"/>
                <a:ea typeface="맑은 고딕"/>
              </a:rPr>
              <a:t>원 낮아졌습니다</a:t>
            </a:r>
          </a:p>
        </p:txBody>
      </p:sp>
      <p:sp>
        <p:nvSpPr>
          <p:cNvPr id="48" name="TextBox 47">
            <a:extLst>
              <a:ext uri="{FF2B5EF4-FFF2-40B4-BE49-F238E27FC236}">
                <a16:creationId xmlns:a16="http://schemas.microsoft.com/office/drawing/2014/main" id="{69B4C59E-BBCF-4358-8140-55645C445FAA}"/>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산업통상부가 발표한 정유사 출고가</a:t>
            </a:r>
            <a:r>
              <a:rPr lang="en-US" altLang="ko-KR" sz="1400">
                <a:solidFill>
                  <a:srgbClr val="8A95A8"/>
                </a:solidFill>
                <a:latin typeface="맑은 고딕"/>
                <a:ea typeface="맑은 고딕"/>
              </a:rPr>
              <a:t>(</a:t>
            </a:r>
            <a:r>
              <a:rPr lang="ko-KR" altLang="en-US" sz="1400">
                <a:solidFill>
                  <a:srgbClr val="8A95A8"/>
                </a:solidFill>
                <a:latin typeface="맑은 고딕"/>
                <a:ea typeface="맑은 고딕"/>
              </a:rPr>
              <a:t>공급가</a:t>
            </a:r>
            <a:r>
              <a:rPr lang="en-US" altLang="ko-KR" sz="1400">
                <a:solidFill>
                  <a:srgbClr val="8A95A8"/>
                </a:solidFill>
                <a:latin typeface="맑은 고딕"/>
                <a:ea typeface="맑은 고딕"/>
              </a:rPr>
              <a:t>) </a:t>
            </a:r>
            <a:r>
              <a:rPr lang="ko-KR" altLang="en-US" sz="1400">
                <a:solidFill>
                  <a:srgbClr val="8A95A8"/>
                </a:solidFill>
                <a:latin typeface="맑은 고딕"/>
                <a:ea typeface="맑은 고딕"/>
              </a:rPr>
              <a:t>상한의 시행 차수별 경로입니다</a:t>
            </a:r>
            <a:r>
              <a:rPr lang="en-US" altLang="ko-KR" sz="1400">
                <a:solidFill>
                  <a:srgbClr val="8A95A8"/>
                </a:solidFill>
                <a:latin typeface="맑은 고딕"/>
                <a:ea typeface="맑은 고딕"/>
              </a:rPr>
              <a:t>.</a:t>
            </a:r>
            <a:endParaRPr lang="ko-KR" altLang="en-US" sz="1400">
              <a:solidFill>
                <a:srgbClr val="8A95A8"/>
              </a:solidFill>
              <a:latin typeface="맑은 고딕"/>
              <a:ea typeface="맑은 고딕"/>
            </a:endParaRPr>
          </a:p>
        </p:txBody>
      </p:sp>
      <p:sp>
        <p:nvSpPr>
          <p:cNvPr id="49" name="직사각형 48">
            <a:extLst>
              <a:ext uri="{FF2B5EF4-FFF2-40B4-BE49-F238E27FC236}">
                <a16:creationId xmlns:a16="http://schemas.microsoft.com/office/drawing/2014/main" id="{BBEAF440-FF1A-4B24-AB62-3A31BC4ECB96}"/>
              </a:ext>
            </a:extLst>
          </p:cNvPr>
          <p:cNvSpPr/>
          <p:nvPr/>
        </p:nvSpPr>
        <p:spPr>
          <a:xfrm>
            <a:off x="1041400" y="3784600"/>
            <a:ext cx="11049000" cy="42926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0" name="TextBox 49">
            <a:extLst>
              <a:ext uri="{FF2B5EF4-FFF2-40B4-BE49-F238E27FC236}">
                <a16:creationId xmlns:a16="http://schemas.microsoft.com/office/drawing/2014/main" id="{091A2F7D-9993-4BB4-B0E5-5F7892C5AB3D}"/>
              </a:ext>
            </a:extLst>
          </p:cNvPr>
          <p:cNvSpPr txBox="1"/>
          <p:nvPr/>
        </p:nvSpPr>
        <p:spPr>
          <a:xfrm>
            <a:off x="1422400" y="4064000"/>
            <a:ext cx="6350000" cy="3810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정유사 공급가격 상한 추이</a:t>
            </a:r>
          </a:p>
        </p:txBody>
      </p:sp>
      <p:sp>
        <p:nvSpPr>
          <p:cNvPr id="51" name="TextBox 50">
            <a:extLst>
              <a:ext uri="{FF2B5EF4-FFF2-40B4-BE49-F238E27FC236}">
                <a16:creationId xmlns:a16="http://schemas.microsoft.com/office/drawing/2014/main" id="{CBE5BFB5-EF83-40A5-88E8-9DC3A15E40F4}"/>
              </a:ext>
            </a:extLst>
          </p:cNvPr>
          <p:cNvSpPr txBox="1"/>
          <p:nvPr/>
        </p:nvSpPr>
        <p:spPr>
          <a:xfrm>
            <a:off x="1422400" y="4470400"/>
            <a:ext cx="6350000" cy="279400"/>
          </a:xfrm>
          <a:prstGeom prst="rect">
            <a:avLst/>
          </a:prstGeom>
          <a:noFill/>
        </p:spPr>
        <p:txBody>
          <a:bodyPr vertOverflow="overflow" vert="horz" wrap="square" rtlCol="0" anchor="t">
            <a:normAutofit/>
          </a:bodyPr>
          <a:lstStyle/>
          <a:p>
            <a:pPr algn="l"/>
            <a:r>
              <a:rPr lang="ko-KR" altLang="en-US" sz="1100">
                <a:solidFill>
                  <a:srgbClr val="8A95A8"/>
                </a:solidFill>
                <a:latin typeface="맑은 고딕"/>
                <a:ea typeface="맑은 고딕"/>
              </a:rPr>
              <a:t>단위</a:t>
            </a:r>
            <a:r>
              <a:rPr lang="en-US" altLang="ko-KR" sz="1100">
                <a:solidFill>
                  <a:srgbClr val="8A95A8"/>
                </a:solidFill>
                <a:latin typeface="맑은 고딕"/>
                <a:ea typeface="맑은 고딕"/>
              </a:rPr>
              <a:t>: </a:t>
            </a:r>
            <a:r>
              <a:rPr lang="ko-KR" altLang="en-US" sz="1100">
                <a:solidFill>
                  <a:srgbClr val="8A95A8"/>
                </a:solidFill>
                <a:latin typeface="맑은 고딕"/>
                <a:ea typeface="맑은 고딕"/>
              </a:rPr>
              <a:t>원</a:t>
            </a:r>
            <a:r>
              <a:rPr lang="en-US" altLang="ko-KR" sz="1100">
                <a:solidFill>
                  <a:srgbClr val="8A95A8"/>
                </a:solidFill>
                <a:latin typeface="맑은 고딕"/>
                <a:ea typeface="맑은 고딕"/>
              </a:rPr>
              <a:t>/L · 2026</a:t>
            </a:r>
            <a:r>
              <a:rPr lang="ko-KR" altLang="en-US" sz="1100">
                <a:solidFill>
                  <a:srgbClr val="8A95A8"/>
                </a:solidFill>
                <a:latin typeface="맑은 고딕"/>
                <a:ea typeface="맑은 고딕"/>
              </a:rPr>
              <a:t>년 </a:t>
            </a:r>
            <a:r>
              <a:rPr lang="en-US" altLang="ko-KR" sz="1100">
                <a:solidFill>
                  <a:srgbClr val="8A95A8"/>
                </a:solidFill>
                <a:latin typeface="맑은 고딕"/>
                <a:ea typeface="맑은 고딕"/>
              </a:rPr>
              <a:t>3</a:t>
            </a:r>
            <a:r>
              <a:rPr lang="ko-KR" altLang="en-US" sz="1100">
                <a:solidFill>
                  <a:srgbClr val="8A95A8"/>
                </a:solidFill>
                <a:latin typeface="맑은 고딕"/>
                <a:ea typeface="맑은 고딕"/>
              </a:rPr>
              <a:t>월 </a:t>
            </a:r>
            <a:r>
              <a:rPr lang="en-US" altLang="ko-KR" sz="1100">
                <a:solidFill>
                  <a:srgbClr val="8A95A8"/>
                </a:solidFill>
                <a:latin typeface="맑은 고딕"/>
                <a:ea typeface="맑은 고딕"/>
              </a:rPr>
              <a:t>13</a:t>
            </a:r>
            <a:r>
              <a:rPr lang="ko-KR" altLang="en-US" sz="1100">
                <a:solidFill>
                  <a:srgbClr val="8A95A8"/>
                </a:solidFill>
                <a:latin typeface="맑은 고딕"/>
                <a:ea typeface="맑은 고딕"/>
              </a:rPr>
              <a:t>일</a:t>
            </a:r>
            <a:r>
              <a:rPr lang="en-US" altLang="ko-KR" sz="1100">
                <a:solidFill>
                  <a:srgbClr val="8A95A8"/>
                </a:solidFill>
                <a:latin typeface="맑은 고딕"/>
                <a:ea typeface="맑은 고딕"/>
              </a:rPr>
              <a:t>~9</a:t>
            </a:r>
            <a:r>
              <a:rPr lang="ko-KR" altLang="en-US" sz="1100">
                <a:solidFill>
                  <a:srgbClr val="8A95A8"/>
                </a:solidFill>
                <a:latin typeface="맑은 고딕"/>
                <a:ea typeface="맑은 고딕"/>
              </a:rPr>
              <a:t>월 </a:t>
            </a:r>
            <a:r>
              <a:rPr lang="en-US" altLang="ko-KR" sz="1100">
                <a:solidFill>
                  <a:srgbClr val="8A95A8"/>
                </a:solidFill>
                <a:latin typeface="맑은 고딕"/>
                <a:ea typeface="맑은 고딕"/>
              </a:rPr>
              <a:t>27</a:t>
            </a:r>
            <a:r>
              <a:rPr lang="ko-KR" altLang="en-US" sz="1100">
                <a:solidFill>
                  <a:srgbClr val="8A95A8"/>
                </a:solidFill>
                <a:latin typeface="맑은 고딕"/>
                <a:ea typeface="맑은 고딕"/>
              </a:rPr>
              <a:t>일</a:t>
            </a:r>
          </a:p>
        </p:txBody>
      </p:sp>
      <p:sp>
        <p:nvSpPr>
          <p:cNvPr id="52" name="직사각형 51">
            <a:extLst>
              <a:ext uri="{FF2B5EF4-FFF2-40B4-BE49-F238E27FC236}">
                <a16:creationId xmlns:a16="http://schemas.microsoft.com/office/drawing/2014/main" id="{4FE0113E-12E0-46A5-8587-C75D8EE6EDD5}"/>
              </a:ext>
            </a:extLst>
          </p:cNvPr>
          <p:cNvSpPr/>
          <p:nvPr/>
        </p:nvSpPr>
        <p:spPr>
          <a:xfrm>
            <a:off x="12471400" y="3784600"/>
            <a:ext cx="4673600" cy="42926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3" name="TextBox 52">
            <a:extLst>
              <a:ext uri="{FF2B5EF4-FFF2-40B4-BE49-F238E27FC236}">
                <a16:creationId xmlns:a16="http://schemas.microsoft.com/office/drawing/2014/main" id="{768B544F-D2A0-4E2A-B7AA-8A886502EECA}"/>
              </a:ext>
            </a:extLst>
          </p:cNvPr>
          <p:cNvSpPr txBox="1"/>
          <p:nvPr/>
        </p:nvSpPr>
        <p:spPr>
          <a:xfrm>
            <a:off x="12903200" y="4165600"/>
            <a:ext cx="2159000" cy="304800"/>
          </a:xfrm>
          <a:prstGeom prst="rect">
            <a:avLst/>
          </a:prstGeom>
          <a:noFill/>
        </p:spPr>
        <p:txBody>
          <a:bodyPr vertOverflow="overflow" vert="horz" wrap="square" rtlCol="0" anchor="t">
            <a:normAutofit/>
          </a:bodyPr>
          <a:lstStyle/>
          <a:p>
            <a:pPr algn="l"/>
            <a:r>
              <a:rPr lang="en-US" altLang="ko-KR" sz="1200" b="1">
                <a:solidFill>
                  <a:srgbClr val="35C6E8"/>
                </a:solidFill>
                <a:latin typeface="맑은 고딕"/>
                <a:ea typeface="맑은 고딕"/>
              </a:rPr>
              <a:t>KEY READ</a:t>
            </a:r>
            <a:endParaRPr lang="ko-KR" altLang="en-US" sz="1200" b="1">
              <a:solidFill>
                <a:srgbClr val="35C6E8"/>
              </a:solidFill>
              <a:latin typeface="맑은 고딕"/>
              <a:ea typeface="맑은 고딕"/>
            </a:endParaRPr>
          </a:p>
        </p:txBody>
      </p:sp>
      <p:sp>
        <p:nvSpPr>
          <p:cNvPr id="54" name="TextBox 53">
            <a:extLst>
              <a:ext uri="{FF2B5EF4-FFF2-40B4-BE49-F238E27FC236}">
                <a16:creationId xmlns:a16="http://schemas.microsoft.com/office/drawing/2014/main" id="{0B10D69C-D225-4C82-A78B-D2AA6F48F43B}"/>
              </a:ext>
            </a:extLst>
          </p:cNvPr>
          <p:cNvSpPr txBox="1"/>
          <p:nvPr/>
        </p:nvSpPr>
        <p:spPr>
          <a:xfrm>
            <a:off x="12903200" y="47498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1</a:t>
            </a:r>
            <a:r>
              <a:rPr lang="ko-KR" altLang="en-US" sz="1600" b="1">
                <a:solidFill>
                  <a:srgbClr val="FFFFFF"/>
                </a:solidFill>
                <a:latin typeface="맑은 고딕"/>
                <a:ea typeface="맑은 고딕"/>
              </a:rPr>
              <a:t>차 → </a:t>
            </a:r>
            <a:r>
              <a:rPr lang="en-US" altLang="ko-KR" sz="1600" b="1">
                <a:solidFill>
                  <a:srgbClr val="FFFFFF"/>
                </a:solidFill>
                <a:latin typeface="맑은 고딕"/>
                <a:ea typeface="맑은 고딕"/>
              </a:rPr>
              <a:t>2</a:t>
            </a:r>
            <a:r>
              <a:rPr lang="ko-KR" altLang="en-US" sz="1600" b="1">
                <a:solidFill>
                  <a:srgbClr val="FFFFFF"/>
                </a:solidFill>
                <a:latin typeface="맑은 고딕"/>
                <a:ea typeface="맑은 고딕"/>
              </a:rPr>
              <a:t>차</a:t>
            </a:r>
          </a:p>
        </p:txBody>
      </p:sp>
      <p:sp>
        <p:nvSpPr>
          <p:cNvPr id="55" name="TextBox 54">
            <a:extLst>
              <a:ext uri="{FF2B5EF4-FFF2-40B4-BE49-F238E27FC236}">
                <a16:creationId xmlns:a16="http://schemas.microsoft.com/office/drawing/2014/main" id="{D8A5A3AD-07C6-473A-AA2A-E81F80C2C05F}"/>
              </a:ext>
            </a:extLst>
          </p:cNvPr>
          <p:cNvSpPr txBox="1"/>
          <p:nvPr/>
        </p:nvSpPr>
        <p:spPr>
          <a:xfrm>
            <a:off x="12903200" y="5207000"/>
            <a:ext cx="3302000" cy="9906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휘발유 </a:t>
            </a:r>
            <a:r>
              <a:rPr lang="en-US" altLang="ko-KR" sz="1500">
                <a:solidFill>
                  <a:srgbClr val="FFFFFF"/>
                </a:solidFill>
                <a:latin typeface="맑은 고딕"/>
                <a:ea typeface="맑은 고딕"/>
              </a:rPr>
              <a:t>+210</a:t>
            </a:r>
            <a:r>
              <a:rPr lang="ko-KR" altLang="en-US" sz="1500">
                <a:solidFill>
                  <a:srgbClr val="FFFFFF"/>
                </a:solidFill>
                <a:latin typeface="맑은 고딕"/>
                <a:ea typeface="맑은 고딕"/>
              </a:rPr>
              <a:t>원
경유 </a:t>
            </a:r>
            <a:r>
              <a:rPr lang="en-US" altLang="ko-KR" sz="1500">
                <a:solidFill>
                  <a:srgbClr val="FFFFFF"/>
                </a:solidFill>
                <a:latin typeface="맑은 고딕"/>
                <a:ea typeface="맑은 고딕"/>
              </a:rPr>
              <a:t>+210</a:t>
            </a:r>
            <a:r>
              <a:rPr lang="ko-KR" altLang="en-US" sz="1500">
                <a:solidFill>
                  <a:srgbClr val="FFFFFF"/>
                </a:solidFill>
                <a:latin typeface="맑은 고딕"/>
                <a:ea typeface="맑은 고딕"/>
              </a:rPr>
              <a:t>원
등유 </a:t>
            </a:r>
            <a:r>
              <a:rPr lang="en-US" altLang="ko-KR" sz="1500">
                <a:solidFill>
                  <a:srgbClr val="FFFFFF"/>
                </a:solidFill>
                <a:latin typeface="맑은 고딕"/>
                <a:ea typeface="맑은 고딕"/>
              </a:rPr>
              <a:t>+210</a:t>
            </a:r>
            <a:r>
              <a:rPr lang="ko-KR" altLang="en-US" sz="1500">
                <a:solidFill>
                  <a:srgbClr val="FFFFFF"/>
                </a:solidFill>
                <a:latin typeface="맑은 고딕"/>
                <a:ea typeface="맑은 고딕"/>
              </a:rPr>
              <a:t>원</a:t>
            </a:r>
          </a:p>
        </p:txBody>
      </p:sp>
      <p:sp>
        <p:nvSpPr>
          <p:cNvPr id="56" name="TextBox 55">
            <a:extLst>
              <a:ext uri="{FF2B5EF4-FFF2-40B4-BE49-F238E27FC236}">
                <a16:creationId xmlns:a16="http://schemas.microsoft.com/office/drawing/2014/main" id="{CF4D7D32-DCD4-4197-ADAB-708F7B3E71BA}"/>
              </a:ext>
            </a:extLst>
          </p:cNvPr>
          <p:cNvSpPr txBox="1"/>
          <p:nvPr/>
        </p:nvSpPr>
        <p:spPr>
          <a:xfrm>
            <a:off x="12903200" y="64770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7</a:t>
            </a:r>
            <a:r>
              <a:rPr lang="ko-KR" altLang="en-US" sz="1600" b="1">
                <a:solidFill>
                  <a:srgbClr val="FFFFFF"/>
                </a:solidFill>
                <a:latin typeface="맑은 고딕"/>
                <a:ea typeface="맑은 고딕"/>
              </a:rPr>
              <a:t>차 조정</a:t>
            </a:r>
          </a:p>
        </p:txBody>
      </p:sp>
      <p:sp>
        <p:nvSpPr>
          <p:cNvPr id="57" name="TextBox 56">
            <a:extLst>
              <a:ext uri="{FF2B5EF4-FFF2-40B4-BE49-F238E27FC236}">
                <a16:creationId xmlns:a16="http://schemas.microsoft.com/office/drawing/2014/main" id="{F050DC6E-F3A3-48A8-A0B0-16DA1350418B}"/>
              </a:ext>
            </a:extLst>
          </p:cNvPr>
          <p:cNvSpPr txBox="1"/>
          <p:nvPr/>
        </p:nvSpPr>
        <p:spPr>
          <a:xfrm>
            <a:off x="12903200" y="6934200"/>
            <a:ext cx="3302000" cy="7366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세 품목 모두
리터당 </a:t>
            </a:r>
            <a:r>
              <a:rPr lang="en-US" altLang="ko-KR" sz="1500">
                <a:solidFill>
                  <a:srgbClr val="FFFFFF"/>
                </a:solidFill>
                <a:latin typeface="맑은 고딕"/>
                <a:ea typeface="맑은 고딕"/>
              </a:rPr>
              <a:t>150</a:t>
            </a:r>
            <a:r>
              <a:rPr lang="ko-KR" altLang="en-US" sz="1500">
                <a:solidFill>
                  <a:srgbClr val="FFFFFF"/>
                </a:solidFill>
                <a:latin typeface="맑은 고딕"/>
                <a:ea typeface="맑은 고딕"/>
              </a:rPr>
              <a:t>원 인하</a:t>
            </a:r>
          </a:p>
        </p:txBody>
      </p:sp>
      <p:sp>
        <p:nvSpPr>
          <p:cNvPr id="58" name="TextBox 57">
            <a:extLst>
              <a:ext uri="{FF2B5EF4-FFF2-40B4-BE49-F238E27FC236}">
                <a16:creationId xmlns:a16="http://schemas.microsoft.com/office/drawing/2014/main" id="{FF7FB84B-F609-45B2-9195-8F8D03392930}"/>
              </a:ext>
            </a:extLst>
          </p:cNvPr>
          <p:cNvSpPr txBox="1"/>
          <p:nvPr/>
        </p:nvSpPr>
        <p:spPr>
          <a:xfrm>
            <a:off x="1066800" y="8864600"/>
            <a:ext cx="14224000" cy="228600"/>
          </a:xfrm>
          <a:prstGeom prst="rect">
            <a:avLst/>
          </a:prstGeom>
          <a:noFill/>
        </p:spPr>
        <p:txBody>
          <a:bodyPr vertOverflow="overflow" vert="horz" wrap="square" rtlCol="0" anchor="t">
            <a:normAutofit lnSpcReduction="10000"/>
          </a:bodyPr>
          <a:lstStyle/>
          <a:p>
            <a:pPr algn="l"/>
            <a:r>
              <a:rPr lang="ko-KR" altLang="en-US" sz="1000">
                <a:solidFill>
                  <a:srgbClr val="98A2B3"/>
                </a:solidFill>
                <a:latin typeface="맑은 고딕"/>
                <a:ea typeface="맑은 고딕"/>
              </a:rPr>
              <a:t>출처</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산업통상부</a:t>
            </a:r>
            <a:r>
              <a:rPr lang="en-US" altLang="ko-KR" sz="1000">
                <a:solidFill>
                  <a:srgbClr val="98A2B3"/>
                </a:solidFill>
                <a:latin typeface="맑은 고딕"/>
                <a:ea typeface="맑은 고딕"/>
              </a:rPr>
              <a:t>·</a:t>
            </a:r>
            <a:r>
              <a:rPr lang="ko-KR" altLang="en-US" sz="1000">
                <a:solidFill>
                  <a:srgbClr val="98A2B3"/>
                </a:solidFill>
                <a:latin typeface="맑은 고딕"/>
                <a:ea typeface="맑은 고딕"/>
              </a:rPr>
              <a:t>대한민국 정책브리핑</a:t>
            </a:r>
            <a:r>
              <a:rPr lang="en-US" altLang="ko-KR" sz="1000">
                <a:solidFill>
                  <a:srgbClr val="98A2B3"/>
                </a:solidFill>
                <a:latin typeface="맑은 고딕"/>
                <a:ea typeface="맑은 고딕"/>
              </a:rPr>
              <a:t>, 1~10</a:t>
            </a:r>
            <a:r>
              <a:rPr lang="ko-KR" altLang="en-US" sz="1000">
                <a:solidFill>
                  <a:srgbClr val="98A2B3"/>
                </a:solidFill>
                <a:latin typeface="맑은 고딕"/>
                <a:ea typeface="맑은 고딕"/>
              </a:rPr>
              <a:t>차 석유 최고가격 발표</a:t>
            </a:r>
          </a:p>
        </p:txBody>
      </p:sp>
      <p:graphicFrame>
        <p:nvGraphicFramePr>
          <p:cNvPr id="900" name="Policy cap time series"/>
          <p:cNvGraphicFramePr/>
          <p:nvPr>
            <p:extLst>
              <p:ext uri="{D42A27DB-BD31-4B8C-83A1-F6EECF244321}">
                <p14:modId xmlns:p14="http://schemas.microsoft.com/office/powerpoint/2010/main" val="294149291"/>
              </p:ext>
            </p:extLst>
          </p:nvPr>
        </p:nvGraphicFramePr>
        <p:xfrm>
          <a:off x="1422400" y="4851400"/>
          <a:ext cx="10287000" cy="2844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70687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50725CF3-3B47-418F-8049-BEA3E02FDDCA}"/>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ANALYSIS FRAMEWORK</a:t>
            </a:r>
            <a:endParaRPr lang="ko-KR" altLang="en-US" sz="1200">
              <a:solidFill>
                <a:srgbClr val="8793A6"/>
              </a:solidFill>
              <a:latin typeface="맑은 고딕"/>
              <a:ea typeface="맑은 고딕"/>
            </a:endParaRPr>
          </a:p>
        </p:txBody>
      </p:sp>
      <p:sp>
        <p:nvSpPr>
          <p:cNvPr id="39" name="TextBox 38">
            <a:extLst>
              <a:ext uri="{FF2B5EF4-FFF2-40B4-BE49-F238E27FC236}">
                <a16:creationId xmlns:a16="http://schemas.microsoft.com/office/drawing/2014/main" id="{897FFE94-A85A-4D0B-812A-2CAC28D13A02}"/>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전처리부터 모델 비교까지 네 단계로 분석을 완성합니다</a:t>
            </a:r>
          </a:p>
        </p:txBody>
      </p:sp>
      <p:sp>
        <p:nvSpPr>
          <p:cNvPr id="40" name="TextBox 39">
            <a:extLst>
              <a:ext uri="{FF2B5EF4-FFF2-40B4-BE49-F238E27FC236}">
                <a16:creationId xmlns:a16="http://schemas.microsoft.com/office/drawing/2014/main" id="{F2C9D9C7-3AF5-43B8-A8DE-965D6977FA82}"/>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동일한 실제 데이터를 기준으로 회귀와 딥러닝 결과를 비교하고 정책적 시사점을 도출합니다</a:t>
            </a:r>
            <a:r>
              <a:rPr lang="en-US" altLang="ko-KR" sz="1400">
                <a:solidFill>
                  <a:srgbClr val="8A95A8"/>
                </a:solidFill>
                <a:latin typeface="맑은 고딕"/>
                <a:ea typeface="맑은 고딕"/>
              </a:rPr>
              <a:t>.</a:t>
            </a:r>
            <a:endParaRPr lang="ko-KR" altLang="en-US" sz="1400">
              <a:solidFill>
                <a:srgbClr val="8A95A8"/>
              </a:solidFill>
              <a:latin typeface="맑은 고딕"/>
              <a:ea typeface="맑은 고딕"/>
            </a:endParaRPr>
          </a:p>
        </p:txBody>
      </p:sp>
      <p:sp>
        <p:nvSpPr>
          <p:cNvPr id="41" name="직사각형 40">
            <a:extLst>
              <a:ext uri="{FF2B5EF4-FFF2-40B4-BE49-F238E27FC236}">
                <a16:creationId xmlns:a16="http://schemas.microsoft.com/office/drawing/2014/main" id="{46585AA3-20BF-4BEE-A094-C4197D535EE9}"/>
              </a:ext>
            </a:extLst>
          </p:cNvPr>
          <p:cNvSpPr/>
          <p:nvPr/>
        </p:nvSpPr>
        <p:spPr>
          <a:xfrm>
            <a:off x="9144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2" name="직사각형 41">
            <a:extLst>
              <a:ext uri="{FF2B5EF4-FFF2-40B4-BE49-F238E27FC236}">
                <a16:creationId xmlns:a16="http://schemas.microsoft.com/office/drawing/2014/main" id="{8F6FF96F-CA37-498B-82EE-50311644797B}"/>
              </a:ext>
            </a:extLst>
          </p:cNvPr>
          <p:cNvSpPr/>
          <p:nvPr/>
        </p:nvSpPr>
        <p:spPr>
          <a:xfrm>
            <a:off x="914400" y="3835400"/>
            <a:ext cx="127000" cy="39370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3" name="TextBox 42">
            <a:extLst>
              <a:ext uri="{FF2B5EF4-FFF2-40B4-BE49-F238E27FC236}">
                <a16:creationId xmlns:a16="http://schemas.microsoft.com/office/drawing/2014/main" id="{523CB0D8-23EB-4021-9314-56BCE2D6802E}"/>
              </a:ext>
            </a:extLst>
          </p:cNvPr>
          <p:cNvSpPr txBox="1"/>
          <p:nvPr/>
        </p:nvSpPr>
        <p:spPr>
          <a:xfrm>
            <a:off x="1295400" y="4191000"/>
            <a:ext cx="584200" cy="330200"/>
          </a:xfrm>
          <a:prstGeom prst="rect">
            <a:avLst/>
          </a:prstGeom>
          <a:noFill/>
        </p:spPr>
        <p:txBody>
          <a:bodyPr vertOverflow="overflow" vert="horz" wrap="square" rtlCol="0" anchor="t">
            <a:normAutofit/>
          </a:bodyPr>
          <a:lstStyle/>
          <a:p>
            <a:pPr algn="l"/>
            <a:r>
              <a:rPr lang="en-US" altLang="ko-KR" sz="1400" b="1">
                <a:solidFill>
                  <a:srgbClr val="35C6E8"/>
                </a:solidFill>
                <a:latin typeface="맑은 고딕"/>
                <a:ea typeface="맑은 고딕"/>
              </a:rPr>
              <a:t>01</a:t>
            </a:r>
            <a:endParaRPr lang="ko-KR" altLang="en-US" sz="1400" b="1">
              <a:solidFill>
                <a:srgbClr val="35C6E8"/>
              </a:solidFill>
              <a:latin typeface="맑은 고딕"/>
              <a:ea typeface="맑은 고딕"/>
            </a:endParaRPr>
          </a:p>
        </p:txBody>
      </p:sp>
      <p:sp>
        <p:nvSpPr>
          <p:cNvPr id="44" name="TextBox 43">
            <a:extLst>
              <a:ext uri="{FF2B5EF4-FFF2-40B4-BE49-F238E27FC236}">
                <a16:creationId xmlns:a16="http://schemas.microsoft.com/office/drawing/2014/main" id="{E5086508-4077-4007-A1EA-CB30C999384B}"/>
              </a:ext>
            </a:extLst>
          </p:cNvPr>
          <p:cNvSpPr txBox="1"/>
          <p:nvPr/>
        </p:nvSpPr>
        <p:spPr>
          <a:xfrm>
            <a:off x="12954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데이터 전처리</a:t>
            </a:r>
          </a:p>
        </p:txBody>
      </p:sp>
      <p:sp>
        <p:nvSpPr>
          <p:cNvPr id="45" name="TextBox 44">
            <a:extLst>
              <a:ext uri="{FF2B5EF4-FFF2-40B4-BE49-F238E27FC236}">
                <a16:creationId xmlns:a16="http://schemas.microsoft.com/office/drawing/2014/main" id="{BEF62ADC-3ED0-4A63-A31B-DC6501227C55}"/>
              </a:ext>
            </a:extLst>
          </p:cNvPr>
          <p:cNvSpPr txBox="1"/>
          <p:nvPr/>
        </p:nvSpPr>
        <p:spPr>
          <a:xfrm>
            <a:off x="12954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국제 제품가격과 정유사 세전 공급가격을 주간 단위로 통합
결측</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단위</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시차를 정리하고 정책 이전 학습 구간을 설정</a:t>
            </a:r>
          </a:p>
        </p:txBody>
      </p:sp>
      <p:sp>
        <p:nvSpPr>
          <p:cNvPr id="46" name="직사각형 45">
            <a:extLst>
              <a:ext uri="{FF2B5EF4-FFF2-40B4-BE49-F238E27FC236}">
                <a16:creationId xmlns:a16="http://schemas.microsoft.com/office/drawing/2014/main" id="{25D172A9-E434-46F3-8989-9E85BE8A531A}"/>
              </a:ext>
            </a:extLst>
          </p:cNvPr>
          <p:cNvSpPr/>
          <p:nvPr/>
        </p:nvSpPr>
        <p:spPr>
          <a:xfrm>
            <a:off x="49022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7" name="직사각형 46">
            <a:extLst>
              <a:ext uri="{FF2B5EF4-FFF2-40B4-BE49-F238E27FC236}">
                <a16:creationId xmlns:a16="http://schemas.microsoft.com/office/drawing/2014/main" id="{4D12E434-2395-48F6-8D50-538EDC311041}"/>
              </a:ext>
            </a:extLst>
          </p:cNvPr>
          <p:cNvSpPr/>
          <p:nvPr/>
        </p:nvSpPr>
        <p:spPr>
          <a:xfrm>
            <a:off x="4902200" y="3835400"/>
            <a:ext cx="127000" cy="39370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8" name="TextBox 47">
            <a:extLst>
              <a:ext uri="{FF2B5EF4-FFF2-40B4-BE49-F238E27FC236}">
                <a16:creationId xmlns:a16="http://schemas.microsoft.com/office/drawing/2014/main" id="{F57F42DC-BFD6-42D7-AE14-7A1B29FFE088}"/>
              </a:ext>
            </a:extLst>
          </p:cNvPr>
          <p:cNvSpPr txBox="1"/>
          <p:nvPr/>
        </p:nvSpPr>
        <p:spPr>
          <a:xfrm>
            <a:off x="5283200" y="4191000"/>
            <a:ext cx="584200" cy="3302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02</a:t>
            </a:r>
            <a:endParaRPr lang="ko-KR" altLang="en-US" sz="1400" b="1">
              <a:solidFill>
                <a:srgbClr val="4B73FF"/>
              </a:solidFill>
              <a:latin typeface="맑은 고딕"/>
              <a:ea typeface="맑은 고딕"/>
            </a:endParaRPr>
          </a:p>
        </p:txBody>
      </p:sp>
      <p:sp>
        <p:nvSpPr>
          <p:cNvPr id="49" name="TextBox 48">
            <a:extLst>
              <a:ext uri="{FF2B5EF4-FFF2-40B4-BE49-F238E27FC236}">
                <a16:creationId xmlns:a16="http://schemas.microsoft.com/office/drawing/2014/main" id="{EE606241-B3EE-4A9B-9C48-D732F8DAC580}"/>
              </a:ext>
            </a:extLst>
          </p:cNvPr>
          <p:cNvSpPr txBox="1"/>
          <p:nvPr/>
        </p:nvSpPr>
        <p:spPr>
          <a:xfrm>
            <a:off x="52832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회귀분석 방식</a:t>
            </a:r>
          </a:p>
        </p:txBody>
      </p:sp>
      <p:sp>
        <p:nvSpPr>
          <p:cNvPr id="50" name="TextBox 49">
            <a:extLst>
              <a:ext uri="{FF2B5EF4-FFF2-40B4-BE49-F238E27FC236}">
                <a16:creationId xmlns:a16="http://schemas.microsoft.com/office/drawing/2014/main" id="{30D3254E-125D-43A2-8A46-6A6373B787CE}"/>
              </a:ext>
            </a:extLst>
          </p:cNvPr>
          <p:cNvSpPr txBox="1"/>
          <p:nvPr/>
        </p:nvSpPr>
        <p:spPr>
          <a:xfrm>
            <a:off x="52832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국제 제품가격</a:t>
            </a:r>
            <a:r>
              <a:rPr lang="en-US" altLang="ko-KR" sz="1300">
                <a:solidFill>
                  <a:srgbClr val="7E899B"/>
                </a:solidFill>
                <a:latin typeface="맑은 고딕"/>
                <a:ea typeface="맑은 고딕"/>
              </a:rPr>
              <a:t>(t−1)</a:t>
            </a:r>
            <a:r>
              <a:rPr lang="ko-KR" altLang="en-US" sz="1300">
                <a:solidFill>
                  <a:srgbClr val="7E899B"/>
                </a:solidFill>
                <a:latin typeface="맑은 고딕"/>
                <a:ea typeface="맑은 고딕"/>
              </a:rPr>
              <a:t>으로 무상한 세전 공급가격을 제품별 회귀 추정
상한과의 차이를 재정부담 계산에 연결</a:t>
            </a:r>
          </a:p>
        </p:txBody>
      </p:sp>
      <p:sp>
        <p:nvSpPr>
          <p:cNvPr id="51" name="직사각형 50">
            <a:extLst>
              <a:ext uri="{FF2B5EF4-FFF2-40B4-BE49-F238E27FC236}">
                <a16:creationId xmlns:a16="http://schemas.microsoft.com/office/drawing/2014/main" id="{AF8B4B78-FB69-4B16-9BED-C757B7EABAC8}"/>
              </a:ext>
            </a:extLst>
          </p:cNvPr>
          <p:cNvSpPr/>
          <p:nvPr/>
        </p:nvSpPr>
        <p:spPr>
          <a:xfrm>
            <a:off x="88900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2" name="직사각형 51">
            <a:extLst>
              <a:ext uri="{FF2B5EF4-FFF2-40B4-BE49-F238E27FC236}">
                <a16:creationId xmlns:a16="http://schemas.microsoft.com/office/drawing/2014/main" id="{14F9A805-C444-42DB-B9F7-8C21064DD86A}"/>
              </a:ext>
            </a:extLst>
          </p:cNvPr>
          <p:cNvSpPr/>
          <p:nvPr/>
        </p:nvSpPr>
        <p:spPr>
          <a:xfrm>
            <a:off x="8890000" y="3835400"/>
            <a:ext cx="127000" cy="39370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3" name="TextBox 52">
            <a:extLst>
              <a:ext uri="{FF2B5EF4-FFF2-40B4-BE49-F238E27FC236}">
                <a16:creationId xmlns:a16="http://schemas.microsoft.com/office/drawing/2014/main" id="{BDED3F1F-991A-4ABF-A340-9E8C253F79DE}"/>
              </a:ext>
            </a:extLst>
          </p:cNvPr>
          <p:cNvSpPr txBox="1"/>
          <p:nvPr/>
        </p:nvSpPr>
        <p:spPr>
          <a:xfrm>
            <a:off x="9271000" y="4191000"/>
            <a:ext cx="584200" cy="330200"/>
          </a:xfrm>
          <a:prstGeom prst="rect">
            <a:avLst/>
          </a:prstGeom>
          <a:noFill/>
        </p:spPr>
        <p:txBody>
          <a:bodyPr vertOverflow="overflow" vert="horz" wrap="square" rtlCol="0" anchor="t">
            <a:normAutofit/>
          </a:bodyPr>
          <a:lstStyle/>
          <a:p>
            <a:pPr algn="l"/>
            <a:r>
              <a:rPr lang="en-US" altLang="ko-KR" sz="1400" b="1">
                <a:solidFill>
                  <a:srgbClr val="35C6E8"/>
                </a:solidFill>
                <a:latin typeface="맑은 고딕"/>
                <a:ea typeface="맑은 고딕"/>
              </a:rPr>
              <a:t>03</a:t>
            </a:r>
            <a:endParaRPr lang="ko-KR" altLang="en-US" sz="1400" b="1">
              <a:solidFill>
                <a:srgbClr val="35C6E8"/>
              </a:solidFill>
              <a:latin typeface="맑은 고딕"/>
              <a:ea typeface="맑은 고딕"/>
            </a:endParaRPr>
          </a:p>
        </p:txBody>
      </p:sp>
      <p:sp>
        <p:nvSpPr>
          <p:cNvPr id="54" name="TextBox 53">
            <a:extLst>
              <a:ext uri="{FF2B5EF4-FFF2-40B4-BE49-F238E27FC236}">
                <a16:creationId xmlns:a16="http://schemas.microsoft.com/office/drawing/2014/main" id="{B2919377-C21C-42A1-A525-EB345FC276E2}"/>
              </a:ext>
            </a:extLst>
          </p:cNvPr>
          <p:cNvSpPr txBox="1"/>
          <p:nvPr/>
        </p:nvSpPr>
        <p:spPr>
          <a:xfrm>
            <a:off x="92710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딥러닝 모델 방식</a:t>
            </a:r>
          </a:p>
        </p:txBody>
      </p:sp>
      <p:sp>
        <p:nvSpPr>
          <p:cNvPr id="55" name="TextBox 54">
            <a:extLst>
              <a:ext uri="{FF2B5EF4-FFF2-40B4-BE49-F238E27FC236}">
                <a16:creationId xmlns:a16="http://schemas.microsoft.com/office/drawing/2014/main" id="{60084CE5-E76B-455C-AD20-1AD88280C556}"/>
              </a:ext>
            </a:extLst>
          </p:cNvPr>
          <p:cNvSpPr txBox="1"/>
          <p:nvPr/>
        </p:nvSpPr>
        <p:spPr>
          <a:xfrm>
            <a:off x="92710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장기 공급가격 시계열과 국제가격 정보를 </a:t>
            </a:r>
            <a:r>
              <a:rPr lang="en-US" altLang="ko-KR" sz="1300">
                <a:solidFill>
                  <a:srgbClr val="7E899B"/>
                </a:solidFill>
                <a:latin typeface="맑은 고딕"/>
                <a:ea typeface="맑은 고딕"/>
              </a:rPr>
              <a:t>TimesFM</a:t>
            </a:r>
            <a:r>
              <a:rPr lang="ko-KR" altLang="en-US" sz="1300">
                <a:solidFill>
                  <a:srgbClr val="7E899B"/>
                </a:solidFill>
                <a:latin typeface="맑은 고딕"/>
                <a:ea typeface="맑은 고딕"/>
              </a:rPr>
              <a:t>에 입력
비선형 패턴을 반영한 무상한 가격 경로 산출</a:t>
            </a:r>
          </a:p>
        </p:txBody>
      </p:sp>
      <p:sp>
        <p:nvSpPr>
          <p:cNvPr id="56" name="직사각형 55">
            <a:extLst>
              <a:ext uri="{FF2B5EF4-FFF2-40B4-BE49-F238E27FC236}">
                <a16:creationId xmlns:a16="http://schemas.microsoft.com/office/drawing/2014/main" id="{3277B414-D14A-49CF-BCAC-BA275DFC1DD4}"/>
              </a:ext>
            </a:extLst>
          </p:cNvPr>
          <p:cNvSpPr/>
          <p:nvPr/>
        </p:nvSpPr>
        <p:spPr>
          <a:xfrm>
            <a:off x="128778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7" name="직사각형 56">
            <a:extLst>
              <a:ext uri="{FF2B5EF4-FFF2-40B4-BE49-F238E27FC236}">
                <a16:creationId xmlns:a16="http://schemas.microsoft.com/office/drawing/2014/main" id="{874A2621-50AB-4377-9C88-22145F886426}"/>
              </a:ext>
            </a:extLst>
          </p:cNvPr>
          <p:cNvSpPr/>
          <p:nvPr/>
        </p:nvSpPr>
        <p:spPr>
          <a:xfrm>
            <a:off x="12877800" y="3835400"/>
            <a:ext cx="127000" cy="39370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8" name="TextBox 57">
            <a:extLst>
              <a:ext uri="{FF2B5EF4-FFF2-40B4-BE49-F238E27FC236}">
                <a16:creationId xmlns:a16="http://schemas.microsoft.com/office/drawing/2014/main" id="{C50096E8-210C-4449-833D-4AB79720EA56}"/>
              </a:ext>
            </a:extLst>
          </p:cNvPr>
          <p:cNvSpPr txBox="1"/>
          <p:nvPr/>
        </p:nvSpPr>
        <p:spPr>
          <a:xfrm>
            <a:off x="13258800" y="4191000"/>
            <a:ext cx="584200" cy="3302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04</a:t>
            </a:r>
            <a:endParaRPr lang="ko-KR" altLang="en-US" sz="1400" b="1">
              <a:solidFill>
                <a:srgbClr val="4B73FF"/>
              </a:solidFill>
              <a:latin typeface="맑은 고딕"/>
              <a:ea typeface="맑은 고딕"/>
            </a:endParaRPr>
          </a:p>
        </p:txBody>
      </p:sp>
      <p:sp>
        <p:nvSpPr>
          <p:cNvPr id="59" name="TextBox 58">
            <a:extLst>
              <a:ext uri="{FF2B5EF4-FFF2-40B4-BE49-F238E27FC236}">
                <a16:creationId xmlns:a16="http://schemas.microsoft.com/office/drawing/2014/main" id="{75F62465-861D-4C01-A372-BF9371CF4F91}"/>
              </a:ext>
            </a:extLst>
          </p:cNvPr>
          <p:cNvSpPr txBox="1"/>
          <p:nvPr/>
        </p:nvSpPr>
        <p:spPr>
          <a:xfrm>
            <a:off x="132588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결과 비교 및 시사점</a:t>
            </a:r>
          </a:p>
        </p:txBody>
      </p:sp>
      <p:sp>
        <p:nvSpPr>
          <p:cNvPr id="60" name="TextBox 59">
            <a:extLst>
              <a:ext uri="{FF2B5EF4-FFF2-40B4-BE49-F238E27FC236}">
                <a16:creationId xmlns:a16="http://schemas.microsoft.com/office/drawing/2014/main" id="{AA8AA3C3-791E-493C-8DC2-F36992E9CAB8}"/>
              </a:ext>
            </a:extLst>
          </p:cNvPr>
          <p:cNvSpPr txBox="1"/>
          <p:nvPr/>
        </p:nvSpPr>
        <p:spPr>
          <a:xfrm>
            <a:off x="132588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회귀와 딥러닝의 오차</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해석력</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정책 활용성을 표로 비교
주모형과 보조모형을 결정하고 정책 시사점 제시</a:t>
            </a:r>
          </a:p>
        </p:txBody>
      </p:sp>
      <p:sp>
        <p:nvSpPr>
          <p:cNvPr id="61" name="직사각형 60">
            <a:extLst>
              <a:ext uri="{FF2B5EF4-FFF2-40B4-BE49-F238E27FC236}">
                <a16:creationId xmlns:a16="http://schemas.microsoft.com/office/drawing/2014/main" id="{82C7C86D-FB2A-4830-8E81-772725677473}"/>
              </a:ext>
            </a:extLst>
          </p:cNvPr>
          <p:cNvSpPr/>
          <p:nvPr/>
        </p:nvSpPr>
        <p:spPr>
          <a:xfrm>
            <a:off x="914400" y="8102600"/>
            <a:ext cx="15595600" cy="635000"/>
          </a:xfrm>
          <a:prstGeom prst="rect">
            <a:avLst/>
          </a:prstGeom>
          <a:solidFill>
            <a:srgbClr val="EEF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2" name="TextBox 61">
            <a:extLst>
              <a:ext uri="{FF2B5EF4-FFF2-40B4-BE49-F238E27FC236}">
                <a16:creationId xmlns:a16="http://schemas.microsoft.com/office/drawing/2014/main" id="{7A1AA953-E043-43B9-959A-4EAFF4DF49B1}"/>
              </a:ext>
            </a:extLst>
          </p:cNvPr>
          <p:cNvSpPr txBox="1"/>
          <p:nvPr/>
        </p:nvSpPr>
        <p:spPr>
          <a:xfrm>
            <a:off x="1320800" y="8280400"/>
            <a:ext cx="14732000" cy="330200"/>
          </a:xfrm>
          <a:prstGeom prst="rect">
            <a:avLst/>
          </a:prstGeom>
          <a:noFill/>
        </p:spPr>
        <p:txBody>
          <a:bodyPr vertOverflow="overflow" vert="horz" wrap="square" rtlCol="0" anchor="t">
            <a:normAutofit/>
          </a:bodyPr>
          <a:lstStyle/>
          <a:p>
            <a:pPr algn="l"/>
            <a:r>
              <a:rPr lang="ko-KR" altLang="en-US" sz="1400" b="1">
                <a:solidFill>
                  <a:srgbClr val="0F1A2E"/>
                </a:solidFill>
                <a:latin typeface="맑은 고딕"/>
                <a:ea typeface="맑은 고딕"/>
              </a:rPr>
              <a:t>분석 순서  </a:t>
            </a:r>
            <a:r>
              <a:rPr lang="en-US" altLang="ko-KR" sz="1400" b="1">
                <a:solidFill>
                  <a:srgbClr val="0F1A2E"/>
                </a:solidFill>
                <a:latin typeface="맑은 고딕"/>
                <a:ea typeface="맑은 고딕"/>
              </a:rPr>
              <a:t>|  </a:t>
            </a:r>
            <a:r>
              <a:rPr lang="ko-KR" altLang="en-US" sz="1400" b="1">
                <a:solidFill>
                  <a:srgbClr val="0F1A2E"/>
                </a:solidFill>
                <a:latin typeface="맑은 고딕"/>
                <a:ea typeface="맑은 고딕"/>
              </a:rPr>
              <a:t>실제 데이터 정제 → 회귀 반사실 추정 → 딥러닝 반사실 추정 → 모델 비교</a:t>
            </a:r>
            <a:r>
              <a:rPr lang="en-US" altLang="ko-KR" sz="1400" b="1">
                <a:solidFill>
                  <a:srgbClr val="0F1A2E"/>
                </a:solidFill>
                <a:latin typeface="맑은 고딕"/>
                <a:ea typeface="맑은 고딕"/>
              </a:rPr>
              <a:t>·</a:t>
            </a:r>
            <a:r>
              <a:rPr lang="ko-KR" altLang="en-US" sz="1400" b="1">
                <a:solidFill>
                  <a:srgbClr val="0F1A2E"/>
                </a:solidFill>
                <a:latin typeface="맑은 고딕"/>
                <a:ea typeface="맑은 고딕"/>
              </a:rPr>
              <a:t>정책 해석</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B3784CCB-1599-414B-903C-D7ED4C867B19}"/>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직사각형 9">
            <a:extLst>
              <a:ext uri="{FF2B5EF4-FFF2-40B4-BE49-F238E27FC236}">
                <a16:creationId xmlns:a16="http://schemas.microsoft.com/office/drawing/2014/main" id="{17DC77E7-5073-47D5-9AB5-CBD2AD42A41C}"/>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1" name="직사각형 10">
            <a:extLst>
              <a:ext uri="{FF2B5EF4-FFF2-40B4-BE49-F238E27FC236}">
                <a16:creationId xmlns:a16="http://schemas.microsoft.com/office/drawing/2014/main" id="{064030C9-C0A6-4EE8-982E-822BE07BE599}"/>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2" name="TextBox 11">
            <a:extLst>
              <a:ext uri="{FF2B5EF4-FFF2-40B4-BE49-F238E27FC236}">
                <a16:creationId xmlns:a16="http://schemas.microsoft.com/office/drawing/2014/main" id="{F34843A2-E5C9-44D4-A275-FDD8132313FF}"/>
              </a:ext>
            </a:extLst>
          </p:cNvPr>
          <p:cNvSpPr txBox="1"/>
          <p:nvPr/>
        </p:nvSpPr>
        <p:spPr>
          <a:xfrm>
            <a:off x="1397000" y="3111500"/>
            <a:ext cx="7620000" cy="431800"/>
          </a:xfrm>
          <a:prstGeom prst="rect">
            <a:avLst/>
          </a:prstGeom>
          <a:noFill/>
        </p:spPr>
        <p:txBody>
          <a:bodyPr vertOverflow="overflow" vert="horz" wrap="square" rtlCol="0" anchor="t">
            <a:normAutofit/>
          </a:bodyPr>
          <a:lstStyle/>
          <a:p>
            <a:pPr algn="l"/>
            <a:r>
              <a:rPr lang="en-US" altLang="ko-KR" sz="1600">
                <a:solidFill>
                  <a:srgbClr val="8A8F98"/>
                </a:solidFill>
                <a:latin typeface="맑은 고딕"/>
                <a:ea typeface="맑은 고딕"/>
              </a:rPr>
              <a:t>DATA PREPROCESSING</a:t>
            </a:r>
            <a:endParaRPr lang="ko-KR" altLang="en-US" sz="1600">
              <a:solidFill>
                <a:srgbClr val="8A8F98"/>
              </a:solidFill>
              <a:latin typeface="맑은 고딕"/>
              <a:ea typeface="맑은 고딕"/>
            </a:endParaRPr>
          </a:p>
        </p:txBody>
      </p:sp>
      <p:sp>
        <p:nvSpPr>
          <p:cNvPr id="13" name="TextBox 12">
            <a:extLst>
              <a:ext uri="{FF2B5EF4-FFF2-40B4-BE49-F238E27FC236}">
                <a16:creationId xmlns:a16="http://schemas.microsoft.com/office/drawing/2014/main" id="{CFF5FB31-267D-45AA-8B65-386DB3BDEFDF}"/>
              </a:ext>
            </a:extLst>
          </p:cNvPr>
          <p:cNvSpPr txBox="1"/>
          <p:nvPr/>
        </p:nvSpPr>
        <p:spPr>
          <a:xfrm>
            <a:off x="1333500" y="3810000"/>
            <a:ext cx="8890000" cy="1270000"/>
          </a:xfrm>
          <a:prstGeom prst="rect">
            <a:avLst/>
          </a:prstGeom>
          <a:noFill/>
        </p:spPr>
        <p:txBody>
          <a:bodyPr vertOverflow="overflow" vert="horz" wrap="square" rtlCol="0" anchor="t">
            <a:normAutofit/>
          </a:bodyPr>
          <a:lstStyle/>
          <a:p>
            <a:pPr algn="l"/>
            <a:r>
              <a:rPr lang="ko-KR" altLang="en-US" sz="4400" b="1">
                <a:solidFill>
                  <a:srgbClr val="101828"/>
                </a:solidFill>
                <a:latin typeface="맑은 고딕"/>
                <a:ea typeface="맑은 고딕"/>
              </a:rPr>
              <a:t>데이터 전처리</a:t>
            </a:r>
          </a:p>
        </p:txBody>
      </p:sp>
      <p:sp>
        <p:nvSpPr>
          <p:cNvPr id="14" name="직사각형 13">
            <a:extLst>
              <a:ext uri="{FF2B5EF4-FFF2-40B4-BE49-F238E27FC236}">
                <a16:creationId xmlns:a16="http://schemas.microsoft.com/office/drawing/2014/main" id="{2C68EE38-6D65-4789-9D6F-5B6962BF2804}"/>
              </a:ext>
            </a:extLst>
          </p:cNvPr>
          <p:cNvSpPr/>
          <p:nvPr/>
        </p:nvSpPr>
        <p:spPr>
          <a:xfrm>
            <a:off x="1397000" y="5524500"/>
            <a:ext cx="1587500" cy="889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Tree>
    <p:extLst>
      <p:ext uri="{BB962C8B-B14F-4D97-AF65-F5344CB8AC3E}">
        <p14:creationId xmlns:p14="http://schemas.microsoft.com/office/powerpoint/2010/main" val="868140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F3EA09-AF67-48C7-B17B-4466E70E2CEC}"/>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DATA &amp; VARIABLES</a:t>
            </a:r>
            <a:endParaRPr lang="ko-KR" altLang="en-US" sz="1200">
              <a:solidFill>
                <a:srgbClr val="8793A6"/>
              </a:solidFill>
              <a:latin typeface="맑은 고딕"/>
              <a:ea typeface="맑은 고딕"/>
            </a:endParaRPr>
          </a:p>
        </p:txBody>
      </p:sp>
      <p:sp>
        <p:nvSpPr>
          <p:cNvPr id="3" name="TextBox 2">
            <a:extLst>
              <a:ext uri="{FF2B5EF4-FFF2-40B4-BE49-F238E27FC236}">
                <a16:creationId xmlns:a16="http://schemas.microsoft.com/office/drawing/2014/main" id="{50CEE280-71D3-4915-9DEF-94ECAB7BCF80}"/>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국제가격 </a:t>
            </a:r>
            <a:r>
              <a:rPr lang="en-US" altLang="ko-KR" sz="2700" b="1">
                <a:solidFill>
                  <a:srgbClr val="0F1A2E"/>
                </a:solidFill>
                <a:latin typeface="맑은 고딕"/>
                <a:ea typeface="맑은 고딕"/>
              </a:rPr>
              <a:t>3</a:t>
            </a:r>
            <a:r>
              <a:rPr lang="ko-KR" altLang="en-US" sz="2700" b="1">
                <a:solidFill>
                  <a:srgbClr val="0F1A2E"/>
                </a:solidFill>
                <a:latin typeface="맑은 고딕"/>
                <a:ea typeface="맑은 고딕"/>
              </a:rPr>
              <a:t>개 시점과 같은 주 환율을 함께 입력합니다</a:t>
            </a:r>
          </a:p>
        </p:txBody>
      </p:sp>
      <p:sp>
        <p:nvSpPr>
          <p:cNvPr id="4" name="TextBox 3">
            <a:extLst>
              <a:ext uri="{FF2B5EF4-FFF2-40B4-BE49-F238E27FC236}">
                <a16:creationId xmlns:a16="http://schemas.microsoft.com/office/drawing/2014/main" id="{95DCE9FF-519C-47C6-BA75-6C5D750C473F}"/>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휘발유</a:t>
            </a:r>
            <a:r>
              <a:rPr lang="en-US" altLang="ko-KR" sz="1400">
                <a:solidFill>
                  <a:srgbClr val="8A95A8"/>
                </a:solidFill>
                <a:latin typeface="맑은 고딕"/>
                <a:ea typeface="맑은 고딕"/>
              </a:rPr>
              <a:t>·</a:t>
            </a:r>
            <a:r>
              <a:rPr lang="ko-KR" altLang="en-US" sz="1400">
                <a:solidFill>
                  <a:srgbClr val="8A95A8"/>
                </a:solidFill>
                <a:latin typeface="맑은 고딕"/>
                <a:ea typeface="맑은 고딕"/>
              </a:rPr>
              <a:t>경유</a:t>
            </a:r>
            <a:r>
              <a:rPr lang="en-US" altLang="ko-KR" sz="1400">
                <a:solidFill>
                  <a:srgbClr val="8A95A8"/>
                </a:solidFill>
                <a:latin typeface="맑은 고딕"/>
                <a:ea typeface="맑은 고딕"/>
              </a:rPr>
              <a:t>·</a:t>
            </a:r>
            <a:r>
              <a:rPr lang="ko-KR" altLang="en-US" sz="1400">
                <a:solidFill>
                  <a:srgbClr val="8A95A8"/>
                </a:solidFill>
                <a:latin typeface="맑은 고딕"/>
                <a:ea typeface="맑은 고딕"/>
              </a:rPr>
              <a:t>등유별 대응 국제가격</a:t>
            </a:r>
            <a:r>
              <a:rPr lang="en-US" altLang="ko-KR" sz="1400">
                <a:solidFill>
                  <a:srgbClr val="8A95A8"/>
                </a:solidFill>
                <a:latin typeface="맑은 고딕"/>
                <a:ea typeface="맑은 고딕"/>
              </a:rPr>
              <a:t>(</a:t>
            </a:r>
            <a:r>
              <a:rPr lang="ko-KR" altLang="en-US" sz="1400">
                <a:solidFill>
                  <a:srgbClr val="8A95A8"/>
                </a:solidFill>
                <a:latin typeface="맑은 고딕"/>
                <a:ea typeface="맑은 고딕"/>
              </a:rPr>
              <a:t>당주</a:t>
            </a:r>
            <a:r>
              <a:rPr lang="en-US" altLang="ko-KR" sz="1400">
                <a:solidFill>
                  <a:srgbClr val="8A95A8"/>
                </a:solidFill>
                <a:latin typeface="맑은 고딕"/>
                <a:ea typeface="맑은 고딕"/>
              </a:rPr>
              <a:t>·1</a:t>
            </a:r>
            <a:r>
              <a:rPr lang="ko-KR" altLang="en-US" sz="1400">
                <a:solidFill>
                  <a:srgbClr val="8A95A8"/>
                </a:solidFill>
                <a:latin typeface="맑은 고딕"/>
                <a:ea typeface="맑은 고딕"/>
              </a:rPr>
              <a:t>주 전</a:t>
            </a:r>
            <a:r>
              <a:rPr lang="en-US" altLang="ko-KR" sz="1400">
                <a:solidFill>
                  <a:srgbClr val="8A95A8"/>
                </a:solidFill>
                <a:latin typeface="맑은 고딕"/>
                <a:ea typeface="맑은 고딕"/>
              </a:rPr>
              <a:t>·2</a:t>
            </a:r>
            <a:r>
              <a:rPr lang="ko-KR" altLang="en-US" sz="1400">
                <a:solidFill>
                  <a:srgbClr val="8A95A8"/>
                </a:solidFill>
                <a:latin typeface="맑은 고딕"/>
                <a:ea typeface="맑은 고딕"/>
              </a:rPr>
              <a:t>주 전</a:t>
            </a:r>
            <a:r>
              <a:rPr lang="en-US" altLang="ko-KR" sz="1400">
                <a:solidFill>
                  <a:srgbClr val="8A95A8"/>
                </a:solidFill>
                <a:latin typeface="맑은 고딕"/>
                <a:ea typeface="맑은 고딕"/>
              </a:rPr>
              <a:t>)</a:t>
            </a:r>
            <a:r>
              <a:rPr lang="ko-KR" altLang="en-US" sz="1400">
                <a:solidFill>
                  <a:srgbClr val="8A95A8"/>
                </a:solidFill>
                <a:latin typeface="맑은 고딕"/>
                <a:ea typeface="맑은 고딕"/>
              </a:rPr>
              <a:t>과 원</a:t>
            </a:r>
            <a:r>
              <a:rPr lang="en-US" altLang="ko-KR" sz="1400">
                <a:solidFill>
                  <a:srgbClr val="8A95A8"/>
                </a:solidFill>
                <a:latin typeface="맑은 고딕"/>
                <a:ea typeface="맑은 고딕"/>
              </a:rPr>
              <a:t>/</a:t>
            </a:r>
            <a:r>
              <a:rPr lang="ko-KR" altLang="en-US" sz="1400">
                <a:solidFill>
                  <a:srgbClr val="8A95A8"/>
                </a:solidFill>
                <a:latin typeface="맑은 고딕"/>
                <a:ea typeface="맑은 고딕"/>
              </a:rPr>
              <a:t>달러 환율을 사용해 세전 공급가격을 추정합니다</a:t>
            </a:r>
            <a:r>
              <a:rPr lang="en-US" altLang="ko-KR" sz="1400">
                <a:solidFill>
                  <a:srgbClr val="8A95A8"/>
                </a:solidFill>
                <a:latin typeface="맑은 고딕"/>
                <a:ea typeface="맑은 고딕"/>
              </a:rPr>
              <a:t>.</a:t>
            </a:r>
            <a:endParaRPr lang="ko-KR" altLang="en-US" sz="1400">
              <a:solidFill>
                <a:srgbClr val="8A95A8"/>
              </a:solidFill>
              <a:latin typeface="맑은 고딕"/>
              <a:ea typeface="맑은 고딕"/>
            </a:endParaRPr>
          </a:p>
        </p:txBody>
      </p:sp>
      <p:sp>
        <p:nvSpPr>
          <p:cNvPr id="5" name="TextBox 4">
            <a:extLst>
              <a:ext uri="{FF2B5EF4-FFF2-40B4-BE49-F238E27FC236}">
                <a16:creationId xmlns:a16="http://schemas.microsoft.com/office/drawing/2014/main" id="{15B7626F-1D2C-413E-9CA2-C359049BA63C}"/>
              </a:ext>
            </a:extLst>
          </p:cNvPr>
          <p:cNvSpPr txBox="1"/>
          <p:nvPr/>
        </p:nvSpPr>
        <p:spPr>
          <a:xfrm>
            <a:off x="1041400" y="3733800"/>
            <a:ext cx="3810000" cy="3810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불러온 실제 데이터</a:t>
            </a:r>
          </a:p>
        </p:txBody>
      </p:sp>
      <p:sp>
        <p:nvSpPr>
          <p:cNvPr id="29" name="TextBox 28">
            <a:extLst>
              <a:ext uri="{FF2B5EF4-FFF2-40B4-BE49-F238E27FC236}">
                <a16:creationId xmlns:a16="http://schemas.microsoft.com/office/drawing/2014/main" id="{107444C0-C502-46B4-AEB3-02F472B7A59F}"/>
              </a:ext>
            </a:extLst>
          </p:cNvPr>
          <p:cNvSpPr txBox="1"/>
          <p:nvPr/>
        </p:nvSpPr>
        <p:spPr>
          <a:xfrm>
            <a:off x="1066800" y="8940800"/>
            <a:ext cx="14986000" cy="203200"/>
          </a:xfrm>
          <a:prstGeom prst="rect">
            <a:avLst/>
          </a:prstGeom>
          <a:noFill/>
        </p:spPr>
        <p:txBody>
          <a:bodyPr vertOverflow="overflow" vert="horz" wrap="square" rtlCol="0" anchor="t">
            <a:normAutofit fontScale="92500" lnSpcReduction="20000"/>
          </a:bodyPr>
          <a:lstStyle/>
          <a:p>
            <a:pPr algn="l"/>
            <a:r>
              <a:rPr lang="ko-KR" altLang="en-US" sz="950">
                <a:solidFill>
                  <a:srgbClr val="98A2B3"/>
                </a:solidFill>
                <a:latin typeface="맑은 고딕"/>
                <a:ea typeface="맑은 고딕"/>
              </a:rPr>
              <a:t>유종별 회귀</a:t>
            </a:r>
            <a:r>
              <a:rPr lang="en-US" altLang="ko-KR" sz="950">
                <a:solidFill>
                  <a:srgbClr val="98A2B3"/>
                </a:solidFill>
                <a:latin typeface="맑은 고딕"/>
                <a:ea typeface="맑은 고딕"/>
              </a:rPr>
              <a:t>: </a:t>
            </a:r>
            <a:r>
              <a:rPr lang="ko-KR" altLang="en-US" sz="950">
                <a:solidFill>
                  <a:srgbClr val="98A2B3"/>
                </a:solidFill>
                <a:latin typeface="맑은 고딕"/>
                <a:ea typeface="맑은 고딕"/>
              </a:rPr>
              <a:t>대응 국제가격 </a:t>
            </a:r>
            <a:r>
              <a:rPr lang="en-US" altLang="ko-KR" sz="950">
                <a:solidFill>
                  <a:srgbClr val="98A2B3"/>
                </a:solidFill>
                <a:latin typeface="맑은 고딕"/>
                <a:ea typeface="맑은 고딕"/>
              </a:rPr>
              <a:t>3</a:t>
            </a:r>
            <a:r>
              <a:rPr lang="ko-KR" altLang="en-US" sz="950">
                <a:solidFill>
                  <a:srgbClr val="98A2B3"/>
                </a:solidFill>
                <a:latin typeface="맑은 고딕"/>
                <a:ea typeface="맑은 고딕"/>
              </a:rPr>
              <a:t>개 시점 </a:t>
            </a:r>
            <a:r>
              <a:rPr lang="en-US" altLang="ko-KR" sz="950">
                <a:solidFill>
                  <a:srgbClr val="98A2B3"/>
                </a:solidFill>
                <a:latin typeface="맑은 고딕"/>
                <a:ea typeface="맑은 고딕"/>
              </a:rPr>
              <a:t>+ </a:t>
            </a:r>
            <a:r>
              <a:rPr lang="ko-KR" altLang="en-US" sz="950">
                <a:solidFill>
                  <a:srgbClr val="98A2B3"/>
                </a:solidFill>
                <a:latin typeface="맑은 고딕"/>
                <a:ea typeface="맑은 고딕"/>
              </a:rPr>
              <a:t>같은 주 환율 </a:t>
            </a:r>
            <a:r>
              <a:rPr lang="en-US" altLang="ko-KR" sz="950">
                <a:solidFill>
                  <a:srgbClr val="98A2B3"/>
                </a:solidFill>
                <a:latin typeface="맑은 고딕"/>
                <a:ea typeface="맑은 고딕"/>
              </a:rPr>
              <a:t>+ </a:t>
            </a:r>
            <a:r>
              <a:rPr lang="ko-KR" altLang="en-US" sz="950">
                <a:solidFill>
                  <a:srgbClr val="98A2B3"/>
                </a:solidFill>
                <a:latin typeface="맑은 고딕"/>
                <a:ea typeface="맑은 고딕"/>
              </a:rPr>
              <a:t>최근 </a:t>
            </a:r>
            <a:r>
              <a:rPr lang="en-US" altLang="ko-KR" sz="950">
                <a:solidFill>
                  <a:srgbClr val="98A2B3"/>
                </a:solidFill>
                <a:latin typeface="맑은 고딕"/>
                <a:ea typeface="맑은 고딕"/>
              </a:rPr>
              <a:t>52</a:t>
            </a:r>
            <a:r>
              <a:rPr lang="ko-KR" altLang="en-US" sz="950">
                <a:solidFill>
                  <a:srgbClr val="98A2B3"/>
                </a:solidFill>
                <a:latin typeface="맑은 고딕"/>
                <a:ea typeface="맑은 고딕"/>
              </a:rPr>
              <a:t>주 평균 잔차 보정 → 세전 공급가격 추정</a:t>
            </a:r>
          </a:p>
        </p:txBody>
      </p:sp>
      <p:sp>
        <p:nvSpPr>
          <p:cNvPr id="30" name="직사각형 29">
            <a:extLst>
              <a:ext uri="{FF2B5EF4-FFF2-40B4-BE49-F238E27FC236}">
                <a16:creationId xmlns:a16="http://schemas.microsoft.com/office/drawing/2014/main" id="{6E6CB3AE-E871-46A4-8ADC-ADD2B71896EF}"/>
              </a:ext>
            </a:extLst>
          </p:cNvPr>
          <p:cNvSpPr/>
          <p:nvPr/>
        </p:nvSpPr>
        <p:spPr>
          <a:xfrm>
            <a:off x="9271000" y="3733800"/>
            <a:ext cx="7747000" cy="14986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1" name="TextBox 30">
            <a:extLst>
              <a:ext uri="{FF2B5EF4-FFF2-40B4-BE49-F238E27FC236}">
                <a16:creationId xmlns:a16="http://schemas.microsoft.com/office/drawing/2014/main" id="{464A5901-0D63-487B-9831-94741DACFC44}"/>
              </a:ext>
            </a:extLst>
          </p:cNvPr>
          <p:cNvSpPr txBox="1"/>
          <p:nvPr/>
        </p:nvSpPr>
        <p:spPr>
          <a:xfrm>
            <a:off x="9677400" y="4038600"/>
            <a:ext cx="3810000" cy="355600"/>
          </a:xfrm>
          <a:prstGeom prst="rect">
            <a:avLst/>
          </a:prstGeom>
          <a:noFill/>
        </p:spPr>
        <p:txBody>
          <a:bodyPr vertOverflow="overflow" vert="horz" wrap="square" rtlCol="0" anchor="t">
            <a:normAutofit lnSpcReduction="10000"/>
          </a:bodyPr>
          <a:lstStyle/>
          <a:p>
            <a:pPr algn="l"/>
            <a:r>
              <a:rPr lang="ko-KR" altLang="en-US" b="1">
                <a:solidFill>
                  <a:srgbClr val="FFFFFF"/>
                </a:solidFill>
                <a:latin typeface="맑은 고딕"/>
                <a:ea typeface="맑은 고딕"/>
              </a:rPr>
              <a:t>유종별 회귀분석 방식</a:t>
            </a:r>
          </a:p>
        </p:txBody>
      </p:sp>
      <p:sp>
        <p:nvSpPr>
          <p:cNvPr id="32" name="TextBox 31">
            <a:extLst>
              <a:ext uri="{FF2B5EF4-FFF2-40B4-BE49-F238E27FC236}">
                <a16:creationId xmlns:a16="http://schemas.microsoft.com/office/drawing/2014/main" id="{82AFB56E-0DD3-43EA-82FB-63A550ED9A76}"/>
              </a:ext>
            </a:extLst>
          </p:cNvPr>
          <p:cNvSpPr txBox="1"/>
          <p:nvPr/>
        </p:nvSpPr>
        <p:spPr>
          <a:xfrm>
            <a:off x="9677400" y="4546600"/>
            <a:ext cx="6731000" cy="533400"/>
          </a:xfrm>
          <a:prstGeom prst="rect">
            <a:avLst/>
          </a:prstGeom>
          <a:noFill/>
        </p:spPr>
        <p:txBody>
          <a:bodyPr vertOverflow="overflow" vert="horz" wrap="square" rtlCol="0" anchor="t">
            <a:normAutofit/>
          </a:bodyPr>
          <a:lstStyle/>
          <a:p>
            <a:pPr algn="l"/>
            <a:r>
              <a:rPr lang="ko-KR" altLang="en-US" sz="1250">
                <a:solidFill>
                  <a:srgbClr val="B8C3D4"/>
                </a:solidFill>
                <a:latin typeface="맑은 고딕"/>
                <a:ea typeface="맑은 고딕"/>
              </a:rPr>
              <a:t>국제가격 세 시점의 반영 비중과 같은 주 환율의 독립 효과를 함께 추정합니다</a:t>
            </a:r>
            <a:r>
              <a:rPr lang="en-US" altLang="ko-KR" sz="1250">
                <a:solidFill>
                  <a:srgbClr val="B8C3D4"/>
                </a:solidFill>
                <a:latin typeface="맑은 고딕"/>
                <a:ea typeface="맑은 고딕"/>
              </a:rPr>
              <a:t>.
</a:t>
            </a:r>
            <a:r>
              <a:rPr lang="ko-KR" altLang="en-US" sz="1250">
                <a:solidFill>
                  <a:srgbClr val="B8C3D4"/>
                </a:solidFill>
                <a:latin typeface="맑은 고딕"/>
                <a:ea typeface="맑은 고딕"/>
              </a:rPr>
              <a:t>최근 </a:t>
            </a:r>
            <a:r>
              <a:rPr lang="en-US" altLang="ko-KR" sz="1250">
                <a:solidFill>
                  <a:srgbClr val="B8C3D4"/>
                </a:solidFill>
                <a:latin typeface="맑은 고딕"/>
                <a:ea typeface="맑은 고딕"/>
              </a:rPr>
              <a:t>52</a:t>
            </a:r>
            <a:r>
              <a:rPr lang="ko-KR" altLang="en-US" sz="1250">
                <a:solidFill>
                  <a:srgbClr val="B8C3D4"/>
                </a:solidFill>
                <a:latin typeface="맑은 고딕"/>
                <a:ea typeface="맑은 고딕"/>
              </a:rPr>
              <a:t>주는 환율 효과까지 제거한 평균 잔차를 보정값으로 사용합니다</a:t>
            </a:r>
            <a:r>
              <a:rPr lang="en-US" altLang="ko-KR" sz="1250">
                <a:solidFill>
                  <a:srgbClr val="B8C3D4"/>
                </a:solidFill>
                <a:latin typeface="맑은 고딕"/>
                <a:ea typeface="맑은 고딕"/>
              </a:rPr>
              <a:t>.</a:t>
            </a:r>
            <a:endParaRPr lang="ko-KR" altLang="en-US" sz="1250">
              <a:solidFill>
                <a:srgbClr val="B8C3D4"/>
              </a:solidFill>
              <a:latin typeface="맑은 고딕"/>
              <a:ea typeface="맑은 고딕"/>
            </a:endParaRPr>
          </a:p>
        </p:txBody>
      </p:sp>
      <p:sp>
        <p:nvSpPr>
          <p:cNvPr id="33" name="직사각형 32">
            <a:extLst>
              <a:ext uri="{FF2B5EF4-FFF2-40B4-BE49-F238E27FC236}">
                <a16:creationId xmlns:a16="http://schemas.microsoft.com/office/drawing/2014/main" id="{63E5FA8B-B38B-4C63-8CC3-7C063B65B3F7}"/>
              </a:ext>
            </a:extLst>
          </p:cNvPr>
          <p:cNvSpPr/>
          <p:nvPr/>
        </p:nvSpPr>
        <p:spPr>
          <a:xfrm>
            <a:off x="9271000" y="5461000"/>
            <a:ext cx="7747000" cy="9144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4" name="직사각형 33">
            <a:extLst>
              <a:ext uri="{FF2B5EF4-FFF2-40B4-BE49-F238E27FC236}">
                <a16:creationId xmlns:a16="http://schemas.microsoft.com/office/drawing/2014/main" id="{552D766E-ABE1-4F02-A59C-A2BD62665090}"/>
              </a:ext>
            </a:extLst>
          </p:cNvPr>
          <p:cNvSpPr/>
          <p:nvPr/>
        </p:nvSpPr>
        <p:spPr>
          <a:xfrm>
            <a:off x="9271000" y="5461000"/>
            <a:ext cx="127000" cy="914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5" name="TextBox 34">
            <a:extLst>
              <a:ext uri="{FF2B5EF4-FFF2-40B4-BE49-F238E27FC236}">
                <a16:creationId xmlns:a16="http://schemas.microsoft.com/office/drawing/2014/main" id="{75AE346E-D2BC-4F23-A29B-CA799BBC0E9E}"/>
              </a:ext>
            </a:extLst>
          </p:cNvPr>
          <p:cNvSpPr txBox="1"/>
          <p:nvPr/>
        </p:nvSpPr>
        <p:spPr>
          <a:xfrm>
            <a:off x="9626600" y="5715000"/>
            <a:ext cx="1016000" cy="355600"/>
          </a:xfrm>
          <a:prstGeom prst="rect">
            <a:avLst/>
          </a:prstGeom>
          <a:noFill/>
        </p:spPr>
        <p:txBody>
          <a:bodyPr vertOverflow="overflow" vert="horz" wrap="square" rtlCol="0" anchor="t">
            <a:normAutofit/>
          </a:bodyPr>
          <a:lstStyle/>
          <a:p>
            <a:pPr algn="l"/>
            <a:r>
              <a:rPr lang="ko-KR" altLang="en-US" sz="1700" b="1">
                <a:solidFill>
                  <a:srgbClr val="4B73FF"/>
                </a:solidFill>
                <a:latin typeface="맑은 고딕"/>
                <a:ea typeface="맑은 고딕"/>
              </a:rPr>
              <a:t>휘발유</a:t>
            </a:r>
          </a:p>
        </p:txBody>
      </p:sp>
      <p:sp>
        <p:nvSpPr>
          <p:cNvPr id="36" name="TextBox 35">
            <a:extLst>
              <a:ext uri="{FF2B5EF4-FFF2-40B4-BE49-F238E27FC236}">
                <a16:creationId xmlns:a16="http://schemas.microsoft.com/office/drawing/2014/main" id="{F020FC0D-A312-4142-BA47-8F9B6EF8F4EE}"/>
              </a:ext>
            </a:extLst>
          </p:cNvPr>
          <p:cNvSpPr txBox="1"/>
          <p:nvPr/>
        </p:nvSpPr>
        <p:spPr>
          <a:xfrm>
            <a:off x="10820400" y="5638800"/>
            <a:ext cx="2413000" cy="304800"/>
          </a:xfrm>
          <a:prstGeom prst="rect">
            <a:avLst/>
          </a:prstGeom>
          <a:noFill/>
        </p:spPr>
        <p:txBody>
          <a:bodyPr vertOverflow="overflow" vert="horz" wrap="square" rtlCol="0" anchor="t">
            <a:normAutofit/>
          </a:bodyPr>
          <a:lstStyle/>
          <a:p>
            <a:pPr algn="l"/>
            <a:r>
              <a:rPr lang="ko-KR" altLang="en-US" sz="1300" b="1">
                <a:solidFill>
                  <a:srgbClr val="0F1A2E"/>
                </a:solidFill>
                <a:latin typeface="맑은 고딕"/>
                <a:ea typeface="맑은 고딕"/>
              </a:rPr>
              <a:t>국제 휘발유 </a:t>
            </a:r>
            <a:r>
              <a:rPr lang="en-US" altLang="ko-KR" sz="1300" b="1">
                <a:solidFill>
                  <a:srgbClr val="0F1A2E"/>
                </a:solidFill>
                <a:latin typeface="맑은 고딕"/>
                <a:ea typeface="맑은 고딕"/>
              </a:rPr>
              <a:t>92RON </a:t>
            </a:r>
            <a:r>
              <a:rPr lang="ko-KR" altLang="en-US" sz="1300" b="1">
                <a:solidFill>
                  <a:srgbClr val="0F1A2E"/>
                </a:solidFill>
                <a:latin typeface="맑은 고딕"/>
                <a:ea typeface="맑은 고딕"/>
              </a:rPr>
              <a:t>가격</a:t>
            </a:r>
          </a:p>
        </p:txBody>
      </p:sp>
      <p:sp>
        <p:nvSpPr>
          <p:cNvPr id="37" name="TextBox 36">
            <a:extLst>
              <a:ext uri="{FF2B5EF4-FFF2-40B4-BE49-F238E27FC236}">
                <a16:creationId xmlns:a16="http://schemas.microsoft.com/office/drawing/2014/main" id="{9EBC5D89-2DCF-42A5-AE62-977276656633}"/>
              </a:ext>
            </a:extLst>
          </p:cNvPr>
          <p:cNvSpPr txBox="1"/>
          <p:nvPr/>
        </p:nvSpPr>
        <p:spPr>
          <a:xfrm>
            <a:off x="13462000" y="5613400"/>
            <a:ext cx="3175000" cy="584200"/>
          </a:xfrm>
          <a:prstGeom prst="rect">
            <a:avLst/>
          </a:prstGeom>
          <a:noFill/>
        </p:spPr>
        <p:txBody>
          <a:bodyPr vertOverflow="overflow" vert="horz" wrap="square" rtlCol="0" anchor="t">
            <a:normAutofit/>
          </a:bodyPr>
          <a:lstStyle/>
          <a:p>
            <a:pPr algn="l"/>
            <a:r>
              <a:rPr lang="ko-KR" altLang="en-US" sz="1150">
                <a:solidFill>
                  <a:srgbClr val="7E899B"/>
                </a:solidFill>
                <a:latin typeface="맑은 고딕"/>
                <a:ea typeface="맑은 고딕"/>
              </a:rPr>
              <a:t>당주</a:t>
            </a:r>
            <a:r>
              <a:rPr lang="en-US" altLang="ko-KR" sz="1150">
                <a:solidFill>
                  <a:srgbClr val="7E899B"/>
                </a:solidFill>
                <a:latin typeface="맑은 고딕"/>
                <a:ea typeface="맑은 고딕"/>
              </a:rPr>
              <a:t>·1</a:t>
            </a:r>
            <a:r>
              <a:rPr lang="ko-KR" altLang="en-US" sz="1150">
                <a:solidFill>
                  <a:srgbClr val="7E899B"/>
                </a:solidFill>
                <a:latin typeface="맑은 고딕"/>
                <a:ea typeface="맑은 고딕"/>
              </a:rPr>
              <a:t>주 전</a:t>
            </a:r>
            <a:r>
              <a:rPr lang="en-US" altLang="ko-KR" sz="1150">
                <a:solidFill>
                  <a:srgbClr val="7E899B"/>
                </a:solidFill>
                <a:latin typeface="맑은 고딕"/>
                <a:ea typeface="맑은 고딕"/>
              </a:rPr>
              <a:t>·2</a:t>
            </a:r>
            <a:r>
              <a:rPr lang="ko-KR" altLang="en-US" sz="1150">
                <a:solidFill>
                  <a:srgbClr val="7E899B"/>
                </a:solidFill>
                <a:latin typeface="맑은 고딕"/>
                <a:ea typeface="맑은 고딕"/>
              </a:rPr>
              <a:t>주 전 국제가격
</a:t>
            </a:r>
            <a:r>
              <a:rPr lang="en-US" altLang="ko-KR" sz="1150">
                <a:solidFill>
                  <a:srgbClr val="7E899B"/>
                </a:solidFill>
                <a:latin typeface="맑은 고딕"/>
                <a:ea typeface="맑은 고딕"/>
              </a:rPr>
              <a:t>+ </a:t>
            </a:r>
            <a:r>
              <a:rPr lang="ko-KR" altLang="en-US" sz="1150">
                <a:solidFill>
                  <a:srgbClr val="7E899B"/>
                </a:solidFill>
                <a:latin typeface="맑은 고딕"/>
                <a:ea typeface="맑은 고딕"/>
              </a:rPr>
              <a:t>같은 주 환율 </a:t>
            </a:r>
            <a:r>
              <a:rPr lang="en-US" altLang="ko-KR" sz="1150">
                <a:solidFill>
                  <a:srgbClr val="7E899B"/>
                </a:solidFill>
                <a:latin typeface="맑은 고딕"/>
                <a:ea typeface="맑은 고딕"/>
              </a:rPr>
              <a:t>+ 52</a:t>
            </a:r>
            <a:r>
              <a:rPr lang="ko-KR" altLang="en-US" sz="1150">
                <a:solidFill>
                  <a:srgbClr val="7E899B"/>
                </a:solidFill>
                <a:latin typeface="맑은 고딕"/>
                <a:ea typeface="맑은 고딕"/>
              </a:rPr>
              <a:t>주 잔차 보정</a:t>
            </a:r>
          </a:p>
        </p:txBody>
      </p:sp>
      <p:sp>
        <p:nvSpPr>
          <p:cNvPr id="38" name="직사각형 37">
            <a:extLst>
              <a:ext uri="{FF2B5EF4-FFF2-40B4-BE49-F238E27FC236}">
                <a16:creationId xmlns:a16="http://schemas.microsoft.com/office/drawing/2014/main" id="{8E559451-96BD-4FA9-B762-D6238876CC71}"/>
              </a:ext>
            </a:extLst>
          </p:cNvPr>
          <p:cNvSpPr/>
          <p:nvPr/>
        </p:nvSpPr>
        <p:spPr>
          <a:xfrm>
            <a:off x="9271000" y="6553200"/>
            <a:ext cx="7747000" cy="9144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9" name="직사각형 38">
            <a:extLst>
              <a:ext uri="{FF2B5EF4-FFF2-40B4-BE49-F238E27FC236}">
                <a16:creationId xmlns:a16="http://schemas.microsoft.com/office/drawing/2014/main" id="{B1BEE3B0-5C7F-4EAD-86B4-43C4B73387BA}"/>
              </a:ext>
            </a:extLst>
          </p:cNvPr>
          <p:cNvSpPr/>
          <p:nvPr/>
        </p:nvSpPr>
        <p:spPr>
          <a:xfrm>
            <a:off x="9271000" y="6553200"/>
            <a:ext cx="127000" cy="9144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0" name="TextBox 39">
            <a:extLst>
              <a:ext uri="{FF2B5EF4-FFF2-40B4-BE49-F238E27FC236}">
                <a16:creationId xmlns:a16="http://schemas.microsoft.com/office/drawing/2014/main" id="{366E0D2C-DAF3-424B-80E3-A3294CBC2B38}"/>
              </a:ext>
            </a:extLst>
          </p:cNvPr>
          <p:cNvSpPr txBox="1"/>
          <p:nvPr/>
        </p:nvSpPr>
        <p:spPr>
          <a:xfrm>
            <a:off x="9626600" y="6807200"/>
            <a:ext cx="1016000" cy="355600"/>
          </a:xfrm>
          <a:prstGeom prst="rect">
            <a:avLst/>
          </a:prstGeom>
          <a:noFill/>
        </p:spPr>
        <p:txBody>
          <a:bodyPr vertOverflow="overflow" vert="horz" wrap="square" rtlCol="0" anchor="t">
            <a:normAutofit/>
          </a:bodyPr>
          <a:lstStyle/>
          <a:p>
            <a:pPr algn="l"/>
            <a:r>
              <a:rPr lang="ko-KR" altLang="en-US" sz="1700" b="1">
                <a:solidFill>
                  <a:srgbClr val="0F1A2E"/>
                </a:solidFill>
                <a:latin typeface="맑은 고딕"/>
                <a:ea typeface="맑은 고딕"/>
              </a:rPr>
              <a:t>경유</a:t>
            </a:r>
          </a:p>
        </p:txBody>
      </p:sp>
      <p:sp>
        <p:nvSpPr>
          <p:cNvPr id="41" name="TextBox 40">
            <a:extLst>
              <a:ext uri="{FF2B5EF4-FFF2-40B4-BE49-F238E27FC236}">
                <a16:creationId xmlns:a16="http://schemas.microsoft.com/office/drawing/2014/main" id="{422B9349-3905-47BC-8D9A-5C76DC4EF581}"/>
              </a:ext>
            </a:extLst>
          </p:cNvPr>
          <p:cNvSpPr txBox="1"/>
          <p:nvPr/>
        </p:nvSpPr>
        <p:spPr>
          <a:xfrm>
            <a:off x="10820400" y="6731000"/>
            <a:ext cx="2413000" cy="304800"/>
          </a:xfrm>
          <a:prstGeom prst="rect">
            <a:avLst/>
          </a:prstGeom>
          <a:noFill/>
        </p:spPr>
        <p:txBody>
          <a:bodyPr vertOverflow="overflow" vert="horz" wrap="square" rtlCol="0" anchor="t">
            <a:normAutofit/>
          </a:bodyPr>
          <a:lstStyle/>
          <a:p>
            <a:pPr algn="l"/>
            <a:r>
              <a:rPr lang="ko-KR" altLang="en-US" sz="1300" b="1">
                <a:solidFill>
                  <a:srgbClr val="0F1A2E"/>
                </a:solidFill>
                <a:latin typeface="맑은 고딕"/>
                <a:ea typeface="맑은 고딕"/>
              </a:rPr>
              <a:t>국제 경유 </a:t>
            </a:r>
            <a:r>
              <a:rPr lang="en-US" altLang="ko-KR" sz="1300" b="1">
                <a:solidFill>
                  <a:srgbClr val="0F1A2E"/>
                </a:solidFill>
                <a:latin typeface="맑은 고딕"/>
                <a:ea typeface="맑은 고딕"/>
              </a:rPr>
              <a:t>0.001% </a:t>
            </a:r>
            <a:r>
              <a:rPr lang="ko-KR" altLang="en-US" sz="1300" b="1">
                <a:solidFill>
                  <a:srgbClr val="0F1A2E"/>
                </a:solidFill>
                <a:latin typeface="맑은 고딕"/>
                <a:ea typeface="맑은 고딕"/>
              </a:rPr>
              <a:t>가격</a:t>
            </a:r>
          </a:p>
        </p:txBody>
      </p:sp>
      <p:sp>
        <p:nvSpPr>
          <p:cNvPr id="42" name="TextBox 41">
            <a:extLst>
              <a:ext uri="{FF2B5EF4-FFF2-40B4-BE49-F238E27FC236}">
                <a16:creationId xmlns:a16="http://schemas.microsoft.com/office/drawing/2014/main" id="{E40128F5-EBF2-4742-89BD-53393869C024}"/>
              </a:ext>
            </a:extLst>
          </p:cNvPr>
          <p:cNvSpPr txBox="1"/>
          <p:nvPr/>
        </p:nvSpPr>
        <p:spPr>
          <a:xfrm>
            <a:off x="13462000" y="6705600"/>
            <a:ext cx="3175000" cy="584200"/>
          </a:xfrm>
          <a:prstGeom prst="rect">
            <a:avLst/>
          </a:prstGeom>
          <a:noFill/>
        </p:spPr>
        <p:txBody>
          <a:bodyPr vertOverflow="overflow" vert="horz" wrap="square" rtlCol="0" anchor="t">
            <a:normAutofit/>
          </a:bodyPr>
          <a:lstStyle/>
          <a:p>
            <a:pPr algn="l"/>
            <a:r>
              <a:rPr lang="ko-KR" altLang="en-US" sz="1150">
                <a:solidFill>
                  <a:srgbClr val="7E899B"/>
                </a:solidFill>
                <a:latin typeface="맑은 고딕"/>
                <a:ea typeface="맑은 고딕"/>
              </a:rPr>
              <a:t>당주</a:t>
            </a:r>
            <a:r>
              <a:rPr lang="en-US" altLang="ko-KR" sz="1150">
                <a:solidFill>
                  <a:srgbClr val="7E899B"/>
                </a:solidFill>
                <a:latin typeface="맑은 고딕"/>
                <a:ea typeface="맑은 고딕"/>
              </a:rPr>
              <a:t>·1</a:t>
            </a:r>
            <a:r>
              <a:rPr lang="ko-KR" altLang="en-US" sz="1150">
                <a:solidFill>
                  <a:srgbClr val="7E899B"/>
                </a:solidFill>
                <a:latin typeface="맑은 고딕"/>
                <a:ea typeface="맑은 고딕"/>
              </a:rPr>
              <a:t>주 전</a:t>
            </a:r>
            <a:r>
              <a:rPr lang="en-US" altLang="ko-KR" sz="1150">
                <a:solidFill>
                  <a:srgbClr val="7E899B"/>
                </a:solidFill>
                <a:latin typeface="맑은 고딕"/>
                <a:ea typeface="맑은 고딕"/>
              </a:rPr>
              <a:t>·2</a:t>
            </a:r>
            <a:r>
              <a:rPr lang="ko-KR" altLang="en-US" sz="1150">
                <a:solidFill>
                  <a:srgbClr val="7E899B"/>
                </a:solidFill>
                <a:latin typeface="맑은 고딕"/>
                <a:ea typeface="맑은 고딕"/>
              </a:rPr>
              <a:t>주 전 국제가격
</a:t>
            </a:r>
            <a:r>
              <a:rPr lang="en-US" altLang="ko-KR" sz="1150">
                <a:solidFill>
                  <a:srgbClr val="7E899B"/>
                </a:solidFill>
                <a:latin typeface="맑은 고딕"/>
                <a:ea typeface="맑은 고딕"/>
              </a:rPr>
              <a:t>+ </a:t>
            </a:r>
            <a:r>
              <a:rPr lang="ko-KR" altLang="en-US" sz="1150">
                <a:solidFill>
                  <a:srgbClr val="7E899B"/>
                </a:solidFill>
                <a:latin typeface="맑은 고딕"/>
                <a:ea typeface="맑은 고딕"/>
              </a:rPr>
              <a:t>같은 주 환율 </a:t>
            </a:r>
            <a:r>
              <a:rPr lang="en-US" altLang="ko-KR" sz="1150">
                <a:solidFill>
                  <a:srgbClr val="7E899B"/>
                </a:solidFill>
                <a:latin typeface="맑은 고딕"/>
                <a:ea typeface="맑은 고딕"/>
              </a:rPr>
              <a:t>+ 52</a:t>
            </a:r>
            <a:r>
              <a:rPr lang="ko-KR" altLang="en-US" sz="1150">
                <a:solidFill>
                  <a:srgbClr val="7E899B"/>
                </a:solidFill>
                <a:latin typeface="맑은 고딕"/>
                <a:ea typeface="맑은 고딕"/>
              </a:rPr>
              <a:t>주 잔차 보정</a:t>
            </a:r>
          </a:p>
        </p:txBody>
      </p:sp>
      <p:sp>
        <p:nvSpPr>
          <p:cNvPr id="43" name="직사각형 42">
            <a:extLst>
              <a:ext uri="{FF2B5EF4-FFF2-40B4-BE49-F238E27FC236}">
                <a16:creationId xmlns:a16="http://schemas.microsoft.com/office/drawing/2014/main" id="{76032AC5-DE48-404C-A4DD-5050A628E11B}"/>
              </a:ext>
            </a:extLst>
          </p:cNvPr>
          <p:cNvSpPr/>
          <p:nvPr/>
        </p:nvSpPr>
        <p:spPr>
          <a:xfrm>
            <a:off x="9271000" y="7645400"/>
            <a:ext cx="7747000" cy="9144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4" name="직사각형 43">
            <a:extLst>
              <a:ext uri="{FF2B5EF4-FFF2-40B4-BE49-F238E27FC236}">
                <a16:creationId xmlns:a16="http://schemas.microsoft.com/office/drawing/2014/main" id="{FA847D8C-ECE9-4EA4-9319-0F172E78C8D2}"/>
              </a:ext>
            </a:extLst>
          </p:cNvPr>
          <p:cNvSpPr/>
          <p:nvPr/>
        </p:nvSpPr>
        <p:spPr>
          <a:xfrm>
            <a:off x="9271000" y="7645400"/>
            <a:ext cx="127000" cy="9144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TextBox 44">
            <a:extLst>
              <a:ext uri="{FF2B5EF4-FFF2-40B4-BE49-F238E27FC236}">
                <a16:creationId xmlns:a16="http://schemas.microsoft.com/office/drawing/2014/main" id="{93A761B2-A769-437D-B2B9-E368400D0E5D}"/>
              </a:ext>
            </a:extLst>
          </p:cNvPr>
          <p:cNvSpPr txBox="1"/>
          <p:nvPr/>
        </p:nvSpPr>
        <p:spPr>
          <a:xfrm>
            <a:off x="9626600" y="7899400"/>
            <a:ext cx="1016000" cy="355600"/>
          </a:xfrm>
          <a:prstGeom prst="rect">
            <a:avLst/>
          </a:prstGeom>
          <a:noFill/>
        </p:spPr>
        <p:txBody>
          <a:bodyPr vertOverflow="overflow" vert="horz" wrap="square" rtlCol="0" anchor="t">
            <a:normAutofit/>
          </a:bodyPr>
          <a:lstStyle/>
          <a:p>
            <a:pPr algn="l"/>
            <a:r>
              <a:rPr lang="ko-KR" altLang="en-US" sz="1700" b="1">
                <a:solidFill>
                  <a:srgbClr val="35C6E8"/>
                </a:solidFill>
                <a:latin typeface="맑은 고딕"/>
                <a:ea typeface="맑은 고딕"/>
              </a:rPr>
              <a:t>등유</a:t>
            </a:r>
          </a:p>
        </p:txBody>
      </p:sp>
      <p:sp>
        <p:nvSpPr>
          <p:cNvPr id="46" name="TextBox 45">
            <a:extLst>
              <a:ext uri="{FF2B5EF4-FFF2-40B4-BE49-F238E27FC236}">
                <a16:creationId xmlns:a16="http://schemas.microsoft.com/office/drawing/2014/main" id="{5DFD9F9E-7B6F-4549-A608-9B4512009BA5}"/>
              </a:ext>
            </a:extLst>
          </p:cNvPr>
          <p:cNvSpPr txBox="1"/>
          <p:nvPr/>
        </p:nvSpPr>
        <p:spPr>
          <a:xfrm>
            <a:off x="10820400" y="7823200"/>
            <a:ext cx="2413000" cy="304800"/>
          </a:xfrm>
          <a:prstGeom prst="rect">
            <a:avLst/>
          </a:prstGeom>
          <a:noFill/>
        </p:spPr>
        <p:txBody>
          <a:bodyPr vertOverflow="overflow" vert="horz" wrap="square" rtlCol="0" anchor="t">
            <a:normAutofit/>
          </a:bodyPr>
          <a:lstStyle/>
          <a:p>
            <a:pPr algn="l"/>
            <a:r>
              <a:rPr lang="ko-KR" altLang="en-US" sz="1300" b="1">
                <a:solidFill>
                  <a:srgbClr val="0F1A2E"/>
                </a:solidFill>
                <a:latin typeface="맑은 고딕"/>
                <a:ea typeface="맑은 고딕"/>
              </a:rPr>
              <a:t>국제 등유 가격</a:t>
            </a:r>
          </a:p>
        </p:txBody>
      </p:sp>
      <p:sp>
        <p:nvSpPr>
          <p:cNvPr id="47" name="TextBox 46">
            <a:extLst>
              <a:ext uri="{FF2B5EF4-FFF2-40B4-BE49-F238E27FC236}">
                <a16:creationId xmlns:a16="http://schemas.microsoft.com/office/drawing/2014/main" id="{EE1CAE11-1001-44EA-9995-F51945693D4E}"/>
              </a:ext>
            </a:extLst>
          </p:cNvPr>
          <p:cNvSpPr txBox="1"/>
          <p:nvPr/>
        </p:nvSpPr>
        <p:spPr>
          <a:xfrm>
            <a:off x="13462000" y="7797800"/>
            <a:ext cx="3175000" cy="584200"/>
          </a:xfrm>
          <a:prstGeom prst="rect">
            <a:avLst/>
          </a:prstGeom>
          <a:noFill/>
        </p:spPr>
        <p:txBody>
          <a:bodyPr vertOverflow="overflow" vert="horz" wrap="square" rtlCol="0" anchor="t">
            <a:normAutofit/>
          </a:bodyPr>
          <a:lstStyle/>
          <a:p>
            <a:pPr algn="l"/>
            <a:r>
              <a:rPr lang="ko-KR" altLang="en-US" sz="1150">
                <a:solidFill>
                  <a:srgbClr val="7E899B"/>
                </a:solidFill>
                <a:latin typeface="맑은 고딕"/>
                <a:ea typeface="맑은 고딕"/>
              </a:rPr>
              <a:t>당주</a:t>
            </a:r>
            <a:r>
              <a:rPr lang="en-US" altLang="ko-KR" sz="1150">
                <a:solidFill>
                  <a:srgbClr val="7E899B"/>
                </a:solidFill>
                <a:latin typeface="맑은 고딕"/>
                <a:ea typeface="맑은 고딕"/>
              </a:rPr>
              <a:t>·1</a:t>
            </a:r>
            <a:r>
              <a:rPr lang="ko-KR" altLang="en-US" sz="1150">
                <a:solidFill>
                  <a:srgbClr val="7E899B"/>
                </a:solidFill>
                <a:latin typeface="맑은 고딕"/>
                <a:ea typeface="맑은 고딕"/>
              </a:rPr>
              <a:t>주 전</a:t>
            </a:r>
            <a:r>
              <a:rPr lang="en-US" altLang="ko-KR" sz="1150">
                <a:solidFill>
                  <a:srgbClr val="7E899B"/>
                </a:solidFill>
                <a:latin typeface="맑은 고딕"/>
                <a:ea typeface="맑은 고딕"/>
              </a:rPr>
              <a:t>·2</a:t>
            </a:r>
            <a:r>
              <a:rPr lang="ko-KR" altLang="en-US" sz="1150">
                <a:solidFill>
                  <a:srgbClr val="7E899B"/>
                </a:solidFill>
                <a:latin typeface="맑은 고딕"/>
                <a:ea typeface="맑은 고딕"/>
              </a:rPr>
              <a:t>주 전 국제가격
</a:t>
            </a:r>
            <a:r>
              <a:rPr lang="en-US" altLang="ko-KR" sz="1150">
                <a:solidFill>
                  <a:srgbClr val="7E899B"/>
                </a:solidFill>
                <a:latin typeface="맑은 고딕"/>
                <a:ea typeface="맑은 고딕"/>
              </a:rPr>
              <a:t>+ </a:t>
            </a:r>
            <a:r>
              <a:rPr lang="ko-KR" altLang="en-US" sz="1150">
                <a:solidFill>
                  <a:srgbClr val="7E899B"/>
                </a:solidFill>
                <a:latin typeface="맑은 고딕"/>
                <a:ea typeface="맑은 고딕"/>
              </a:rPr>
              <a:t>같은 주 환율 </a:t>
            </a:r>
            <a:r>
              <a:rPr lang="en-US" altLang="ko-KR" sz="1150">
                <a:solidFill>
                  <a:srgbClr val="7E899B"/>
                </a:solidFill>
                <a:latin typeface="맑은 고딕"/>
                <a:ea typeface="맑은 고딕"/>
              </a:rPr>
              <a:t>+ 52</a:t>
            </a:r>
            <a:r>
              <a:rPr lang="ko-KR" altLang="en-US" sz="1150">
                <a:solidFill>
                  <a:srgbClr val="7E899B"/>
                </a:solidFill>
                <a:latin typeface="맑은 고딕"/>
                <a:ea typeface="맑은 고딕"/>
              </a:rPr>
              <a:t>주 잔차 보정</a:t>
            </a:r>
          </a:p>
        </p:txBody>
      </p:sp>
      <p:graphicFrame>
        <p:nvGraphicFramePr>
          <p:cNvPr id="49" name="표 48">
            <a:extLst>
              <a:ext uri="{FF2B5EF4-FFF2-40B4-BE49-F238E27FC236}">
                <a16:creationId xmlns:a16="http://schemas.microsoft.com/office/drawing/2014/main" id="{F6B4798E-FAF8-444B-ABD6-DCBCA4E92723}"/>
              </a:ext>
            </a:extLst>
          </p:cNvPr>
          <p:cNvGraphicFramePr>
            <a:graphicFrameLocks noGrp="1"/>
          </p:cNvGraphicFramePr>
          <p:nvPr>
            <p:extLst>
              <p:ext uri="{D42A27DB-BD31-4B8C-83A1-F6EECF244321}">
                <p14:modId xmlns:p14="http://schemas.microsoft.com/office/powerpoint/2010/main" val="271249776"/>
              </p:ext>
            </p:extLst>
          </p:nvPr>
        </p:nvGraphicFramePr>
        <p:xfrm>
          <a:off x="1041400" y="4241800"/>
          <a:ext cx="7746999" cy="3810000"/>
        </p:xfrm>
        <a:graphic>
          <a:graphicData uri="http://schemas.openxmlformats.org/drawingml/2006/table">
            <a:tbl>
              <a:tblPr firstRow="1" bandRow="1">
                <a:tableStyleId>{5C22544A-7EE6-4342-B048-85BDC9FD1C3A}</a:tableStyleId>
              </a:tblPr>
              <a:tblGrid>
                <a:gridCol w="2582333">
                  <a:extLst>
                    <a:ext uri="{9D8B030D-6E8A-4147-A177-3AD203B41FA5}">
                      <a16:colId xmlns:a16="http://schemas.microsoft.com/office/drawing/2014/main" val="2639478546"/>
                    </a:ext>
                  </a:extLst>
                </a:gridCol>
                <a:gridCol w="2582333">
                  <a:extLst>
                    <a:ext uri="{9D8B030D-6E8A-4147-A177-3AD203B41FA5}">
                      <a16:colId xmlns:a16="http://schemas.microsoft.com/office/drawing/2014/main" val="3514094608"/>
                    </a:ext>
                  </a:extLst>
                </a:gridCol>
                <a:gridCol w="2582333">
                  <a:extLst>
                    <a:ext uri="{9D8B030D-6E8A-4147-A177-3AD203B41FA5}">
                      <a16:colId xmlns:a16="http://schemas.microsoft.com/office/drawing/2014/main" val="606241520"/>
                    </a:ext>
                  </a:extLst>
                </a:gridCol>
              </a:tblGrid>
              <a:tr h="635000">
                <a:tc>
                  <a:txBody>
                    <a:bodyPr/>
                    <a:lstStyle/>
                    <a:p>
                      <a:pPr algn="l"/>
                      <a:r>
                        <a:rPr lang="ko-KR" altLang="en-US" sz="1200" b="1">
                          <a:solidFill>
                            <a:srgbClr val="FFFFFF"/>
                          </a:solidFill>
                        </a:rPr>
                        <a:t>데이터</a:t>
                      </a:r>
                    </a:p>
                  </a:txBody>
                  <a:tcPr anchor="ctr">
                    <a:solidFill>
                      <a:srgbClr val="0F1B33"/>
                    </a:solidFill>
                  </a:tcPr>
                </a:tc>
                <a:tc>
                  <a:txBody>
                    <a:bodyPr/>
                    <a:lstStyle/>
                    <a:p>
                      <a:pPr algn="ctr"/>
                      <a:r>
                        <a:rPr lang="ko-KR" altLang="en-US" sz="1200" b="1">
                          <a:solidFill>
                            <a:srgbClr val="FFFFFF"/>
                          </a:solidFill>
                        </a:rPr>
                        <a:t>변수·단위</a:t>
                      </a:r>
                    </a:p>
                  </a:txBody>
                  <a:tcPr anchor="ctr">
                    <a:solidFill>
                      <a:srgbClr val="0F1B33"/>
                    </a:solidFill>
                  </a:tcPr>
                </a:tc>
                <a:tc>
                  <a:txBody>
                    <a:bodyPr/>
                    <a:lstStyle/>
                    <a:p>
                      <a:pPr algn="ctr"/>
                      <a:r>
                        <a:rPr lang="ko-KR" altLang="en-US" sz="1200" b="1">
                          <a:solidFill>
                            <a:srgbClr val="FFFFFF"/>
                          </a:solidFill>
                        </a:rPr>
                        <a:t>분석 역할</a:t>
                      </a:r>
                    </a:p>
                  </a:txBody>
                  <a:tcPr anchor="ctr">
                    <a:solidFill>
                      <a:srgbClr val="0F1B33"/>
                    </a:solidFill>
                  </a:tcPr>
                </a:tc>
                <a:extLst>
                  <a:ext uri="{0D108BD9-81ED-4DB2-BD59-A6C34878D82A}">
                    <a16:rowId xmlns:a16="http://schemas.microsoft.com/office/drawing/2014/main" val="2415313644"/>
                  </a:ext>
                </a:extLst>
              </a:tr>
              <a:tr h="635000">
                <a:tc>
                  <a:txBody>
                    <a:bodyPr/>
                    <a:lstStyle/>
                    <a:p>
                      <a:pPr algn="l"/>
                      <a:r>
                        <a:rPr lang="ko-KR" altLang="en-US" sz="1050" b="1">
                          <a:solidFill>
                            <a:srgbClr val="0F1B33"/>
                          </a:solidFill>
                        </a:rPr>
                        <a:t>주차 정보</a:t>
                      </a:r>
                    </a:p>
                  </a:txBody>
                  <a:tcPr anchor="ctr">
                    <a:solidFill>
                      <a:srgbClr val="EDF3FF"/>
                    </a:solidFill>
                  </a:tcPr>
                </a:tc>
                <a:tc>
                  <a:txBody>
                    <a:bodyPr/>
                    <a:lstStyle/>
                    <a:p>
                      <a:pPr algn="ctr"/>
                      <a:r>
                        <a:rPr lang="ko-KR" altLang="en-US" sz="1050" b="0">
                          <a:solidFill>
                            <a:srgbClr val="0F1B33"/>
                          </a:solidFill>
                        </a:rPr>
                        <a:t>연도·주차·토요일 날짜</a:t>
                      </a:r>
                    </a:p>
                  </a:txBody>
                  <a:tcPr anchor="ctr">
                    <a:solidFill>
                      <a:srgbClr val="EDF3FF"/>
                    </a:solidFill>
                  </a:tcPr>
                </a:tc>
                <a:tc>
                  <a:txBody>
                    <a:bodyPr/>
                    <a:lstStyle/>
                    <a:p>
                      <a:pPr algn="ctr"/>
                      <a:r>
                        <a:rPr lang="ko-KR" altLang="en-US" sz="1050" b="0">
                          <a:solidFill>
                            <a:srgbClr val="0F1B33"/>
                          </a:solidFill>
                        </a:rPr>
                        <a:t>국제가격·공급가격·환율 정렬</a:t>
                      </a:r>
                    </a:p>
                  </a:txBody>
                  <a:tcPr anchor="ctr">
                    <a:solidFill>
                      <a:srgbClr val="EDF3FF"/>
                    </a:solidFill>
                  </a:tcPr>
                </a:tc>
                <a:extLst>
                  <a:ext uri="{0D108BD9-81ED-4DB2-BD59-A6C34878D82A}">
                    <a16:rowId xmlns:a16="http://schemas.microsoft.com/office/drawing/2014/main" val="501489917"/>
                  </a:ext>
                </a:extLst>
              </a:tr>
              <a:tr h="635000">
                <a:tc>
                  <a:txBody>
                    <a:bodyPr/>
                    <a:lstStyle/>
                    <a:p>
                      <a:pPr algn="l"/>
                      <a:r>
                        <a:rPr lang="ko-KR" altLang="en-US" sz="1050" b="1">
                          <a:solidFill>
                            <a:srgbClr val="0F1B33"/>
                          </a:solidFill>
                        </a:rPr>
                        <a:t>정유사 공급가격</a:t>
                      </a:r>
                    </a:p>
                  </a:txBody>
                  <a:tcPr anchor="ctr">
                    <a:solidFill>
                      <a:srgbClr val="F7F9FC"/>
                    </a:solidFill>
                  </a:tcPr>
                </a:tc>
                <a:tc>
                  <a:txBody>
                    <a:bodyPr/>
                    <a:lstStyle/>
                    <a:p>
                      <a:pPr algn="ctr"/>
                      <a:r>
                        <a:rPr lang="ko-KR" altLang="en-US" sz="1050" b="0">
                          <a:solidFill>
                            <a:srgbClr val="0F1B33"/>
                          </a:solidFill>
                        </a:rPr>
                        <a:t>유종별 세전 공급가격 (원/L)</a:t>
                      </a:r>
                    </a:p>
                  </a:txBody>
                  <a:tcPr anchor="ctr">
                    <a:solidFill>
                      <a:srgbClr val="F7F9FC"/>
                    </a:solidFill>
                  </a:tcPr>
                </a:tc>
                <a:tc>
                  <a:txBody>
                    <a:bodyPr/>
                    <a:lstStyle/>
                    <a:p>
                      <a:pPr algn="ctr"/>
                      <a:r>
                        <a:rPr lang="ko-KR" altLang="en-US" sz="1050" b="0">
                          <a:solidFill>
                            <a:srgbClr val="0F1B33"/>
                          </a:solidFill>
                        </a:rPr>
                        <a:t>회귀·TimesFM 예측 대상</a:t>
                      </a:r>
                    </a:p>
                  </a:txBody>
                  <a:tcPr anchor="ctr">
                    <a:solidFill>
                      <a:srgbClr val="F7F9FC"/>
                    </a:solidFill>
                  </a:tcPr>
                </a:tc>
                <a:extLst>
                  <a:ext uri="{0D108BD9-81ED-4DB2-BD59-A6C34878D82A}">
                    <a16:rowId xmlns:a16="http://schemas.microsoft.com/office/drawing/2014/main" val="1852722355"/>
                  </a:ext>
                </a:extLst>
              </a:tr>
              <a:tr h="635000">
                <a:tc>
                  <a:txBody>
                    <a:bodyPr/>
                    <a:lstStyle/>
                    <a:p>
                      <a:pPr algn="l"/>
                      <a:r>
                        <a:rPr lang="ko-KR" altLang="en-US" sz="1050" b="1">
                          <a:solidFill>
                            <a:srgbClr val="0F1B33"/>
                          </a:solidFill>
                        </a:rPr>
                        <a:t>국제 제품가격</a:t>
                      </a:r>
                    </a:p>
                  </a:txBody>
                  <a:tcPr anchor="ctr">
                    <a:solidFill>
                      <a:srgbClr val="EDF3FF"/>
                    </a:solidFill>
                  </a:tcPr>
                </a:tc>
                <a:tc>
                  <a:txBody>
                    <a:bodyPr/>
                    <a:lstStyle/>
                    <a:p>
                      <a:pPr algn="ctr"/>
                      <a:r>
                        <a:rPr lang="ko-KR" altLang="en-US" sz="1050" b="0">
                          <a:solidFill>
                            <a:srgbClr val="0F1B33"/>
                          </a:solidFill>
                        </a:rPr>
                        <a:t>휘발유 92RON · 경유 0.001% · 등유</a:t>
                      </a:r>
                    </a:p>
                  </a:txBody>
                  <a:tcPr anchor="ctr">
                    <a:solidFill>
                      <a:srgbClr val="EDF3FF"/>
                    </a:solidFill>
                  </a:tcPr>
                </a:tc>
                <a:tc>
                  <a:txBody>
                    <a:bodyPr/>
                    <a:lstStyle/>
                    <a:p>
                      <a:pPr algn="ctr"/>
                      <a:r>
                        <a:rPr lang="ko-KR" altLang="en-US" sz="1050" b="0">
                          <a:solidFill>
                            <a:srgbClr val="0F1B33"/>
                          </a:solidFill>
                        </a:rPr>
                        <a:t>당주·1주 전·2주 전 설명변수</a:t>
                      </a:r>
                    </a:p>
                  </a:txBody>
                  <a:tcPr anchor="ctr">
                    <a:solidFill>
                      <a:srgbClr val="EDF3FF"/>
                    </a:solidFill>
                  </a:tcPr>
                </a:tc>
                <a:extLst>
                  <a:ext uri="{0D108BD9-81ED-4DB2-BD59-A6C34878D82A}">
                    <a16:rowId xmlns:a16="http://schemas.microsoft.com/office/drawing/2014/main" val="656575154"/>
                  </a:ext>
                </a:extLst>
              </a:tr>
              <a:tr h="635000">
                <a:tc>
                  <a:txBody>
                    <a:bodyPr/>
                    <a:lstStyle/>
                    <a:p>
                      <a:pPr algn="l"/>
                      <a:r>
                        <a:rPr lang="ko-KR" altLang="en-US" sz="1050" b="1">
                          <a:solidFill>
                            <a:srgbClr val="0F1B33"/>
                          </a:solidFill>
                        </a:rPr>
                        <a:t>원/달러 환율</a:t>
                      </a:r>
                    </a:p>
                  </a:txBody>
                  <a:tcPr anchor="ctr">
                    <a:solidFill>
                      <a:srgbClr val="F7F9FC"/>
                    </a:solidFill>
                  </a:tcPr>
                </a:tc>
                <a:tc>
                  <a:txBody>
                    <a:bodyPr/>
                    <a:lstStyle/>
                    <a:p>
                      <a:pPr algn="ctr"/>
                      <a:r>
                        <a:rPr lang="ko-KR" altLang="en-US" sz="1050" b="0">
                          <a:solidFill>
                            <a:srgbClr val="0F1B33"/>
                          </a:solidFill>
                        </a:rPr>
                        <a:t>같은 주 환율 (주간 평균)</a:t>
                      </a:r>
                    </a:p>
                  </a:txBody>
                  <a:tcPr anchor="ctr">
                    <a:solidFill>
                      <a:srgbClr val="F7F9FC"/>
                    </a:solidFill>
                  </a:tcPr>
                </a:tc>
                <a:tc>
                  <a:txBody>
                    <a:bodyPr/>
                    <a:lstStyle/>
                    <a:p>
                      <a:pPr algn="ctr"/>
                      <a:r>
                        <a:rPr lang="ko-KR" altLang="en-US" sz="1050" b="0">
                          <a:solidFill>
                            <a:srgbClr val="0F1B33"/>
                          </a:solidFill>
                        </a:rPr>
                        <a:t>원/L 환산 + 독립 설명변수</a:t>
                      </a:r>
                    </a:p>
                  </a:txBody>
                  <a:tcPr anchor="ctr">
                    <a:solidFill>
                      <a:srgbClr val="F7F9FC"/>
                    </a:solidFill>
                  </a:tcPr>
                </a:tc>
                <a:extLst>
                  <a:ext uri="{0D108BD9-81ED-4DB2-BD59-A6C34878D82A}">
                    <a16:rowId xmlns:a16="http://schemas.microsoft.com/office/drawing/2014/main" val="1102927933"/>
                  </a:ext>
                </a:extLst>
              </a:tr>
              <a:tr h="635000">
                <a:tc>
                  <a:txBody>
                    <a:bodyPr/>
                    <a:lstStyle/>
                    <a:p>
                      <a:pPr algn="l"/>
                      <a:r>
                        <a:rPr lang="ko-KR" altLang="en-US" sz="1050" b="1">
                          <a:solidFill>
                            <a:srgbClr val="0F1B33"/>
                          </a:solidFill>
                        </a:rPr>
                        <a:t>분석 구간</a:t>
                      </a:r>
                    </a:p>
                  </a:txBody>
                  <a:tcPr anchor="ctr">
                    <a:solidFill>
                      <a:srgbClr val="EDF3FF"/>
                    </a:solidFill>
                  </a:tcPr>
                </a:tc>
                <a:tc>
                  <a:txBody>
                    <a:bodyPr/>
                    <a:lstStyle/>
                    <a:p>
                      <a:pPr algn="ctr"/>
                      <a:r>
                        <a:rPr lang="ko-KR" altLang="en-US" sz="1050" b="0">
                          <a:solidFill>
                            <a:srgbClr val="0F1B33"/>
                          </a:solidFill>
                        </a:rPr>
                        <a:t>정책 시행 이전 주간 자료</a:t>
                      </a:r>
                    </a:p>
                  </a:txBody>
                  <a:tcPr anchor="ctr">
                    <a:solidFill>
                      <a:srgbClr val="EDF3FF"/>
                    </a:solidFill>
                  </a:tcPr>
                </a:tc>
                <a:tc>
                  <a:txBody>
                    <a:bodyPr/>
                    <a:lstStyle/>
                    <a:p>
                      <a:pPr algn="ctr"/>
                      <a:r>
                        <a:rPr lang="ko-KR" altLang="en-US" sz="1050" b="0">
                          <a:solidFill>
                            <a:srgbClr val="0F1B33"/>
                          </a:solidFill>
                        </a:rPr>
                        <a:t>교차검증·계수 추정에 사용</a:t>
                      </a:r>
                    </a:p>
                  </a:txBody>
                  <a:tcPr anchor="ctr">
                    <a:solidFill>
                      <a:srgbClr val="EDF3FF"/>
                    </a:solidFill>
                  </a:tcPr>
                </a:tc>
                <a:extLst>
                  <a:ext uri="{0D108BD9-81ED-4DB2-BD59-A6C34878D82A}">
                    <a16:rowId xmlns:a16="http://schemas.microsoft.com/office/drawing/2014/main" val="3647017510"/>
                  </a:ext>
                </a:extLst>
              </a:tr>
            </a:tbl>
          </a:graphicData>
        </a:graphic>
      </p:graphicFrame>
    </p:spTree>
    <p:extLst>
      <p:ext uri="{BB962C8B-B14F-4D97-AF65-F5344CB8AC3E}">
        <p14:creationId xmlns:p14="http://schemas.microsoft.com/office/powerpoint/2010/main" val="2805461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151" name="직사각형 150">
            <a:extLst>
              <a:ext uri="{FF2B5EF4-FFF2-40B4-BE49-F238E27FC236}">
                <a16:creationId xmlns:a16="http://schemas.microsoft.com/office/drawing/2014/main" id="{F8C27D8A-BEEB-469F-9781-3420F03342D7}"/>
              </a:ext>
            </a:extLst>
          </p:cNvPr>
          <p:cNvSpPr/>
          <p:nvPr/>
        </p:nvSpPr>
        <p:spPr>
          <a:xfrm>
            <a:off x="1041400" y="914400"/>
            <a:ext cx="939800" cy="25400"/>
          </a:xfrm>
          <a:prstGeom prst="rect">
            <a:avLst/>
          </a:prstGeom>
          <a:solidFill>
            <a:srgbClr val="AAB2B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2" name="직사각형 151">
            <a:extLst>
              <a:ext uri="{FF2B5EF4-FFF2-40B4-BE49-F238E27FC236}">
                <a16:creationId xmlns:a16="http://schemas.microsoft.com/office/drawing/2014/main" id="{30461667-EDAD-4577-86C5-A10BB4E6599B}"/>
              </a:ext>
            </a:extLst>
          </p:cNvPr>
          <p:cNvSpPr/>
          <p:nvPr/>
        </p:nvSpPr>
        <p:spPr>
          <a:xfrm>
            <a:off x="1981200" y="914400"/>
            <a:ext cx="228600" cy="25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3" name="직사각형 152">
            <a:extLst>
              <a:ext uri="{FF2B5EF4-FFF2-40B4-BE49-F238E27FC236}">
                <a16:creationId xmlns:a16="http://schemas.microsoft.com/office/drawing/2014/main" id="{403FA8F6-ADC7-4B93-9697-F6872E7FF242}"/>
              </a:ext>
            </a:extLst>
          </p:cNvPr>
          <p:cNvSpPr/>
          <p:nvPr/>
        </p:nvSpPr>
        <p:spPr>
          <a:xfrm>
            <a:off x="2209800" y="914400"/>
            <a:ext cx="13017500" cy="25400"/>
          </a:xfrm>
          <a:prstGeom prst="rect">
            <a:avLst/>
          </a:prstGeom>
          <a:solidFill>
            <a:srgbClr val="D5D9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4" name="TextBox 153">
            <a:extLst>
              <a:ext uri="{FF2B5EF4-FFF2-40B4-BE49-F238E27FC236}">
                <a16:creationId xmlns:a16="http://schemas.microsoft.com/office/drawing/2014/main" id="{12B9DB98-4E3D-46A0-B284-B8CE3EC98A9D}"/>
              </a:ext>
            </a:extLst>
          </p:cNvPr>
          <p:cNvSpPr txBox="1"/>
          <p:nvPr/>
        </p:nvSpPr>
        <p:spPr>
          <a:xfrm>
            <a:off x="1092200" y="1422400"/>
            <a:ext cx="6604000" cy="304800"/>
          </a:xfrm>
          <a:prstGeom prst="rect">
            <a:avLst/>
          </a:prstGeom>
          <a:noFill/>
        </p:spPr>
        <p:txBody>
          <a:bodyPr vertOverflow="overflow" vert="horz" wrap="square" rtlCol="0" anchor="t">
            <a:normAutofit/>
          </a:bodyPr>
          <a:lstStyle/>
          <a:p>
            <a:pPr algn="l"/>
            <a:r>
              <a:rPr lang="en-US" altLang="ko-KR" sz="1300">
                <a:solidFill>
                  <a:srgbClr val="8793A6"/>
                </a:solidFill>
                <a:latin typeface="맑은 고딕"/>
                <a:ea typeface="맑은 고딕"/>
              </a:rPr>
              <a:t>DATA PREPROCESSING</a:t>
            </a:r>
            <a:endParaRPr lang="ko-KR" altLang="en-US" sz="1300">
              <a:solidFill>
                <a:srgbClr val="8793A6"/>
              </a:solidFill>
              <a:latin typeface="맑은 고딕"/>
              <a:ea typeface="맑은 고딕"/>
            </a:endParaRPr>
          </a:p>
        </p:txBody>
      </p:sp>
      <p:sp>
        <p:nvSpPr>
          <p:cNvPr id="155" name="TextBox 154">
            <a:extLst>
              <a:ext uri="{FF2B5EF4-FFF2-40B4-BE49-F238E27FC236}">
                <a16:creationId xmlns:a16="http://schemas.microsoft.com/office/drawing/2014/main" id="{82349BF2-CC45-44B9-BFD4-4778B3ABF199}"/>
              </a:ext>
            </a:extLst>
          </p:cNvPr>
          <p:cNvSpPr txBox="1"/>
          <p:nvPr/>
        </p:nvSpPr>
        <p:spPr>
          <a:xfrm>
            <a:off x="1041400" y="1879600"/>
            <a:ext cx="15494000" cy="685800"/>
          </a:xfrm>
          <a:prstGeom prst="rect">
            <a:avLst/>
          </a:prstGeom>
          <a:noFill/>
        </p:spPr>
        <p:txBody>
          <a:bodyPr vertOverflow="overflow" vert="horz" wrap="square" rtlCol="0" anchor="t">
            <a:normAutofit/>
          </a:bodyPr>
          <a:lstStyle/>
          <a:p>
            <a:pPr algn="l"/>
            <a:r>
              <a:rPr lang="ko-KR" altLang="en-US" sz="2800" b="1">
                <a:solidFill>
                  <a:srgbClr val="0F1A2E"/>
                </a:solidFill>
                <a:latin typeface="맑은 고딕"/>
                <a:ea typeface="맑은 고딕"/>
              </a:rPr>
              <a:t>기존 전처리에 환율 입력과 </a:t>
            </a:r>
            <a:r>
              <a:rPr lang="en-US" altLang="ko-KR" sz="2800" b="1">
                <a:solidFill>
                  <a:srgbClr val="0F1A2E"/>
                </a:solidFill>
                <a:latin typeface="맑은 고딕"/>
                <a:ea typeface="맑은 고딕"/>
              </a:rPr>
              <a:t>Z-score </a:t>
            </a:r>
            <a:r>
              <a:rPr lang="ko-KR" altLang="en-US" sz="2800" b="1">
                <a:solidFill>
                  <a:srgbClr val="0F1A2E"/>
                </a:solidFill>
                <a:latin typeface="맑은 고딕"/>
                <a:ea typeface="맑은 고딕"/>
              </a:rPr>
              <a:t>재표준화를 연결했습니다</a:t>
            </a:r>
          </a:p>
        </p:txBody>
      </p:sp>
      <p:sp>
        <p:nvSpPr>
          <p:cNvPr id="156" name="TextBox 155">
            <a:extLst>
              <a:ext uri="{FF2B5EF4-FFF2-40B4-BE49-F238E27FC236}">
                <a16:creationId xmlns:a16="http://schemas.microsoft.com/office/drawing/2014/main" id="{A953BA17-E6B8-467D-9955-EE6D0DECD861}"/>
              </a:ext>
            </a:extLst>
          </p:cNvPr>
          <p:cNvSpPr txBox="1"/>
          <p:nvPr/>
        </p:nvSpPr>
        <p:spPr>
          <a:xfrm>
            <a:off x="1092200" y="2667000"/>
            <a:ext cx="14732000" cy="381000"/>
          </a:xfrm>
          <a:prstGeom prst="rect">
            <a:avLst/>
          </a:prstGeom>
          <a:noFill/>
        </p:spPr>
        <p:txBody>
          <a:bodyPr vertOverflow="overflow" vert="horz" wrap="square" rtlCol="0" anchor="t">
            <a:normAutofit/>
          </a:bodyPr>
          <a:lstStyle/>
          <a:p>
            <a:pPr algn="l"/>
            <a:r>
              <a:rPr lang="ko-KR" altLang="en-US" sz="1500">
                <a:solidFill>
                  <a:srgbClr val="7E899B"/>
                </a:solidFill>
                <a:latin typeface="맑은 고딕"/>
                <a:ea typeface="맑은 고딕"/>
              </a:rPr>
              <a:t>주간 병합</a:t>
            </a:r>
            <a:r>
              <a:rPr lang="en-US" altLang="ko-KR" sz="1500">
                <a:solidFill>
                  <a:srgbClr val="7E899B"/>
                </a:solidFill>
                <a:latin typeface="맑은 고딕"/>
                <a:ea typeface="맑은 고딕"/>
              </a:rPr>
              <a:t>·</a:t>
            </a:r>
            <a:r>
              <a:rPr lang="ko-KR" altLang="en-US" sz="1500">
                <a:solidFill>
                  <a:srgbClr val="7E899B"/>
                </a:solidFill>
                <a:latin typeface="맑은 고딕"/>
                <a:ea typeface="맑은 고딕"/>
              </a:rPr>
              <a:t>결측</a:t>
            </a:r>
            <a:r>
              <a:rPr lang="en-US" altLang="ko-KR" sz="1500">
                <a:solidFill>
                  <a:srgbClr val="7E899B"/>
                </a:solidFill>
                <a:latin typeface="맑은 고딕"/>
                <a:ea typeface="맑은 고딕"/>
              </a:rPr>
              <a:t>·</a:t>
            </a:r>
            <a:r>
              <a:rPr lang="ko-KR" altLang="en-US" sz="1500">
                <a:solidFill>
                  <a:srgbClr val="7E899B"/>
                </a:solidFill>
                <a:latin typeface="맑은 고딕"/>
                <a:ea typeface="맑은 고딕"/>
              </a:rPr>
              <a:t>시차 처리는 유지하고</a:t>
            </a:r>
            <a:r>
              <a:rPr lang="en-US" altLang="ko-KR" sz="1500">
                <a:solidFill>
                  <a:srgbClr val="7E899B"/>
                </a:solidFill>
                <a:latin typeface="맑은 고딕"/>
                <a:ea typeface="맑은 고딕"/>
              </a:rPr>
              <a:t>, </a:t>
            </a:r>
            <a:r>
              <a:rPr lang="ko-KR" altLang="en-US" sz="1500">
                <a:solidFill>
                  <a:srgbClr val="7E899B"/>
                </a:solidFill>
                <a:latin typeface="맑은 고딕"/>
                <a:ea typeface="맑은 고딕"/>
              </a:rPr>
              <a:t>국제가격 </a:t>
            </a:r>
            <a:r>
              <a:rPr lang="en-US" altLang="ko-KR" sz="1500">
                <a:solidFill>
                  <a:srgbClr val="7E899B"/>
                </a:solidFill>
                <a:latin typeface="맑은 고딕"/>
                <a:ea typeface="맑은 고딕"/>
              </a:rPr>
              <a:t>3</a:t>
            </a:r>
            <a:r>
              <a:rPr lang="ko-KR" altLang="en-US" sz="1500">
                <a:solidFill>
                  <a:srgbClr val="7E899B"/>
                </a:solidFill>
                <a:latin typeface="맑은 고딕"/>
                <a:ea typeface="맑은 고딕"/>
              </a:rPr>
              <a:t>개 시점과 같은 주 환율을 교차검증마다 과거 자료만으로 표준화했습니다</a:t>
            </a:r>
            <a:r>
              <a:rPr lang="en-US" altLang="ko-KR" sz="1500">
                <a:solidFill>
                  <a:srgbClr val="7E899B"/>
                </a:solidFill>
                <a:latin typeface="맑은 고딕"/>
                <a:ea typeface="맑은 고딕"/>
              </a:rPr>
              <a:t>.</a:t>
            </a:r>
            <a:endParaRPr lang="ko-KR" altLang="en-US" sz="1500">
              <a:solidFill>
                <a:srgbClr val="7E899B"/>
              </a:solidFill>
              <a:latin typeface="맑은 고딕"/>
              <a:ea typeface="맑은 고딕"/>
            </a:endParaRPr>
          </a:p>
        </p:txBody>
      </p:sp>
      <p:sp>
        <p:nvSpPr>
          <p:cNvPr id="157" name="TextBox 156">
            <a:extLst>
              <a:ext uri="{FF2B5EF4-FFF2-40B4-BE49-F238E27FC236}">
                <a16:creationId xmlns:a16="http://schemas.microsoft.com/office/drawing/2014/main" id="{72C3FF8B-B39B-43C3-93C0-6424886A59AA}"/>
              </a:ext>
            </a:extLst>
          </p:cNvPr>
          <p:cNvSpPr txBox="1"/>
          <p:nvPr/>
        </p:nvSpPr>
        <p:spPr>
          <a:xfrm>
            <a:off x="914400" y="3276600"/>
            <a:ext cx="3810000" cy="330200"/>
          </a:xfrm>
          <a:prstGeom prst="rect">
            <a:avLst/>
          </a:prstGeom>
          <a:noFill/>
        </p:spPr>
        <p:txBody>
          <a:bodyPr vertOverflow="overflow" vert="horz" wrap="square" rtlCol="0" anchor="t">
            <a:normAutofit fontScale="92500" lnSpcReduction="10000"/>
          </a:bodyPr>
          <a:lstStyle/>
          <a:p>
            <a:pPr algn="l"/>
            <a:r>
              <a:rPr lang="ko-KR" altLang="en-US" b="1">
                <a:solidFill>
                  <a:srgbClr val="0F1A2E"/>
                </a:solidFill>
                <a:latin typeface="맑은 고딕"/>
                <a:ea typeface="맑은 고딕"/>
              </a:rPr>
              <a:t>① 기존 데이터 전처리</a:t>
            </a:r>
          </a:p>
        </p:txBody>
      </p:sp>
      <p:sp>
        <p:nvSpPr>
          <p:cNvPr id="158" name="직사각형 157">
            <a:extLst>
              <a:ext uri="{FF2B5EF4-FFF2-40B4-BE49-F238E27FC236}">
                <a16:creationId xmlns:a16="http://schemas.microsoft.com/office/drawing/2014/main" id="{3AF32F31-E200-4B56-91F7-90F4B004265C}"/>
              </a:ext>
            </a:extLst>
          </p:cNvPr>
          <p:cNvSpPr/>
          <p:nvPr/>
        </p:nvSpPr>
        <p:spPr>
          <a:xfrm>
            <a:off x="914400" y="3733800"/>
            <a:ext cx="27686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9" name="직사각형 158">
            <a:extLst>
              <a:ext uri="{FF2B5EF4-FFF2-40B4-BE49-F238E27FC236}">
                <a16:creationId xmlns:a16="http://schemas.microsoft.com/office/drawing/2014/main" id="{339D3726-57C6-40BD-ABC9-BF3B4993BEB8}"/>
              </a:ext>
            </a:extLst>
          </p:cNvPr>
          <p:cNvSpPr/>
          <p:nvPr/>
        </p:nvSpPr>
        <p:spPr>
          <a:xfrm>
            <a:off x="914400" y="3733800"/>
            <a:ext cx="101600" cy="18034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0" name="TextBox 159">
            <a:extLst>
              <a:ext uri="{FF2B5EF4-FFF2-40B4-BE49-F238E27FC236}">
                <a16:creationId xmlns:a16="http://schemas.microsoft.com/office/drawing/2014/main" id="{D85ACA0F-9106-4F2C-AB15-E9A3125BA7F5}"/>
              </a:ext>
            </a:extLst>
          </p:cNvPr>
          <p:cNvSpPr txBox="1"/>
          <p:nvPr/>
        </p:nvSpPr>
        <p:spPr>
          <a:xfrm>
            <a:off x="1219200" y="3937000"/>
            <a:ext cx="482600" cy="254000"/>
          </a:xfrm>
          <a:prstGeom prst="rect">
            <a:avLst/>
          </a:prstGeom>
          <a:noFill/>
        </p:spPr>
        <p:txBody>
          <a:bodyPr vertOverflow="overflow" vert="horz" wrap="square" rtlCol="0" anchor="t">
            <a:normAutofit fontScale="92500" lnSpcReduction="10000"/>
          </a:bodyPr>
          <a:lstStyle/>
          <a:p>
            <a:pPr algn="l"/>
            <a:r>
              <a:rPr lang="en-US" altLang="ko-KR" sz="1200" b="1">
                <a:solidFill>
                  <a:srgbClr val="22AFCF"/>
                </a:solidFill>
                <a:latin typeface="맑은 고딕"/>
                <a:ea typeface="맑은 고딕"/>
              </a:rPr>
              <a:t>01</a:t>
            </a:r>
            <a:endParaRPr lang="ko-KR" altLang="en-US" sz="1200" b="1">
              <a:solidFill>
                <a:srgbClr val="22AFCF"/>
              </a:solidFill>
              <a:latin typeface="맑은 고딕"/>
              <a:ea typeface="맑은 고딕"/>
            </a:endParaRPr>
          </a:p>
        </p:txBody>
      </p:sp>
      <p:sp>
        <p:nvSpPr>
          <p:cNvPr id="161" name="TextBox 160">
            <a:extLst>
              <a:ext uri="{FF2B5EF4-FFF2-40B4-BE49-F238E27FC236}">
                <a16:creationId xmlns:a16="http://schemas.microsoft.com/office/drawing/2014/main" id="{9D60CE4D-84B2-4E38-9459-3814AECC2827}"/>
              </a:ext>
            </a:extLst>
          </p:cNvPr>
          <p:cNvSpPr txBox="1"/>
          <p:nvPr/>
        </p:nvSpPr>
        <p:spPr>
          <a:xfrm>
            <a:off x="1219200" y="4292600"/>
            <a:ext cx="2159000" cy="317500"/>
          </a:xfrm>
          <a:prstGeom prst="rect">
            <a:avLst/>
          </a:prstGeom>
          <a:noFill/>
        </p:spPr>
        <p:txBody>
          <a:bodyPr vertOverflow="overflow" vert="horz" wrap="square" rtlCol="0" anchor="t">
            <a:normAutofit/>
          </a:bodyPr>
          <a:lstStyle/>
          <a:p>
            <a:pPr algn="l"/>
            <a:r>
              <a:rPr lang="ko-KR" altLang="en-US" sz="1400" b="1">
                <a:solidFill>
                  <a:srgbClr val="0F1A2E"/>
                </a:solidFill>
                <a:latin typeface="맑은 고딕"/>
                <a:ea typeface="맑은 고딕"/>
              </a:rPr>
              <a:t>주간 기준 통일</a:t>
            </a:r>
          </a:p>
        </p:txBody>
      </p:sp>
      <p:sp>
        <p:nvSpPr>
          <p:cNvPr id="162" name="TextBox 161">
            <a:extLst>
              <a:ext uri="{FF2B5EF4-FFF2-40B4-BE49-F238E27FC236}">
                <a16:creationId xmlns:a16="http://schemas.microsoft.com/office/drawing/2014/main" id="{FA7C9A3C-B190-44D9-A8F8-1390B1995C01}"/>
              </a:ext>
            </a:extLst>
          </p:cNvPr>
          <p:cNvSpPr txBox="1"/>
          <p:nvPr/>
        </p:nvSpPr>
        <p:spPr>
          <a:xfrm>
            <a:off x="1219200" y="4749800"/>
            <a:ext cx="2159000" cy="635000"/>
          </a:xfrm>
          <a:prstGeom prst="rect">
            <a:avLst/>
          </a:prstGeom>
          <a:noFill/>
        </p:spPr>
        <p:txBody>
          <a:bodyPr vertOverflow="overflow" vert="horz" wrap="square" rtlCol="0" anchor="t">
            <a:normAutofit/>
          </a:bodyPr>
          <a:lstStyle/>
          <a:p>
            <a:pPr algn="l"/>
            <a:r>
              <a:rPr lang="ko-KR" altLang="en-US" sz="1150">
                <a:solidFill>
                  <a:srgbClr val="7E899B"/>
                </a:solidFill>
                <a:latin typeface="맑은 고딕"/>
                <a:ea typeface="맑은 고딕"/>
              </a:rPr>
              <a:t>공급가격</a:t>
            </a:r>
            <a:r>
              <a:rPr lang="en-US" altLang="ko-KR" sz="1150">
                <a:solidFill>
                  <a:srgbClr val="7E899B"/>
                </a:solidFill>
                <a:latin typeface="맑은 고딕"/>
                <a:ea typeface="맑은 고딕"/>
              </a:rPr>
              <a:t>: </a:t>
            </a:r>
            <a:r>
              <a:rPr lang="ko-KR" altLang="en-US" sz="1150">
                <a:solidFill>
                  <a:srgbClr val="7E899B"/>
                </a:solidFill>
                <a:latin typeface="맑은 고딕"/>
                <a:ea typeface="맑은 고딕"/>
              </a:rPr>
              <a:t>일</a:t>
            </a:r>
            <a:r>
              <a:rPr lang="en-US" altLang="ko-KR" sz="1150">
                <a:solidFill>
                  <a:srgbClr val="7E899B"/>
                </a:solidFill>
                <a:latin typeface="맑은 고딕"/>
                <a:ea typeface="맑은 고딕"/>
              </a:rPr>
              <a:t>~</a:t>
            </a:r>
            <a:r>
              <a:rPr lang="ko-KR" altLang="en-US" sz="1150">
                <a:solidFill>
                  <a:srgbClr val="7E899B"/>
                </a:solidFill>
                <a:latin typeface="맑은 고딕"/>
                <a:ea typeface="맑은 고딕"/>
              </a:rPr>
              <a:t>토 </a:t>
            </a:r>
            <a:r>
              <a:rPr lang="en-US" altLang="ko-KR" sz="1150">
                <a:solidFill>
                  <a:srgbClr val="7E899B"/>
                </a:solidFill>
                <a:latin typeface="맑은 고딕"/>
                <a:ea typeface="맑은 고딕"/>
              </a:rPr>
              <a:t>1</a:t>
            </a:r>
            <a:r>
              <a:rPr lang="ko-KR" altLang="en-US" sz="1150">
                <a:solidFill>
                  <a:srgbClr val="7E899B"/>
                </a:solidFill>
                <a:latin typeface="맑은 고딕"/>
                <a:ea typeface="맑은 고딕"/>
              </a:rPr>
              <a:t>주
토요일 날짜로 표시
첫 불완전 주 제외</a:t>
            </a:r>
          </a:p>
        </p:txBody>
      </p:sp>
      <p:sp>
        <p:nvSpPr>
          <p:cNvPr id="163" name="직사각형 162">
            <a:extLst>
              <a:ext uri="{FF2B5EF4-FFF2-40B4-BE49-F238E27FC236}">
                <a16:creationId xmlns:a16="http://schemas.microsoft.com/office/drawing/2014/main" id="{360A6B4E-4DC5-47CE-A964-AF599EA0A22C}"/>
              </a:ext>
            </a:extLst>
          </p:cNvPr>
          <p:cNvSpPr/>
          <p:nvPr/>
        </p:nvSpPr>
        <p:spPr>
          <a:xfrm>
            <a:off x="4013200" y="3733800"/>
            <a:ext cx="27686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4" name="직사각형 163">
            <a:extLst>
              <a:ext uri="{FF2B5EF4-FFF2-40B4-BE49-F238E27FC236}">
                <a16:creationId xmlns:a16="http://schemas.microsoft.com/office/drawing/2014/main" id="{28BD151B-0DB1-4A46-B74A-6C882C7A9092}"/>
              </a:ext>
            </a:extLst>
          </p:cNvPr>
          <p:cNvSpPr/>
          <p:nvPr/>
        </p:nvSpPr>
        <p:spPr>
          <a:xfrm>
            <a:off x="4013200" y="3733800"/>
            <a:ext cx="101600" cy="1803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5" name="TextBox 164">
            <a:extLst>
              <a:ext uri="{FF2B5EF4-FFF2-40B4-BE49-F238E27FC236}">
                <a16:creationId xmlns:a16="http://schemas.microsoft.com/office/drawing/2014/main" id="{2BF491E4-4645-4C64-8C56-E8A47A3F69EC}"/>
              </a:ext>
            </a:extLst>
          </p:cNvPr>
          <p:cNvSpPr txBox="1"/>
          <p:nvPr/>
        </p:nvSpPr>
        <p:spPr>
          <a:xfrm>
            <a:off x="4318000" y="3937000"/>
            <a:ext cx="482600" cy="254000"/>
          </a:xfrm>
          <a:prstGeom prst="rect">
            <a:avLst/>
          </a:prstGeom>
          <a:noFill/>
        </p:spPr>
        <p:txBody>
          <a:bodyPr vertOverflow="overflow" vert="horz" wrap="square" rtlCol="0" anchor="t">
            <a:normAutofit fontScale="92500" lnSpcReduction="10000"/>
          </a:bodyPr>
          <a:lstStyle/>
          <a:p>
            <a:pPr algn="l"/>
            <a:r>
              <a:rPr lang="en-US" altLang="ko-KR" sz="1200" b="1">
                <a:solidFill>
                  <a:srgbClr val="4B73FF"/>
                </a:solidFill>
                <a:latin typeface="맑은 고딕"/>
                <a:ea typeface="맑은 고딕"/>
              </a:rPr>
              <a:t>02</a:t>
            </a:r>
            <a:endParaRPr lang="ko-KR" altLang="en-US" sz="1200" b="1">
              <a:solidFill>
                <a:srgbClr val="4B73FF"/>
              </a:solidFill>
              <a:latin typeface="맑은 고딕"/>
              <a:ea typeface="맑은 고딕"/>
            </a:endParaRPr>
          </a:p>
        </p:txBody>
      </p:sp>
      <p:sp>
        <p:nvSpPr>
          <p:cNvPr id="166" name="TextBox 165">
            <a:extLst>
              <a:ext uri="{FF2B5EF4-FFF2-40B4-BE49-F238E27FC236}">
                <a16:creationId xmlns:a16="http://schemas.microsoft.com/office/drawing/2014/main" id="{09911228-3901-44E9-8411-F1D84A55F21B}"/>
              </a:ext>
            </a:extLst>
          </p:cNvPr>
          <p:cNvSpPr txBox="1"/>
          <p:nvPr/>
        </p:nvSpPr>
        <p:spPr>
          <a:xfrm>
            <a:off x="4318000" y="4292600"/>
            <a:ext cx="2159000" cy="317500"/>
          </a:xfrm>
          <a:prstGeom prst="rect">
            <a:avLst/>
          </a:prstGeom>
          <a:noFill/>
        </p:spPr>
        <p:txBody>
          <a:bodyPr vertOverflow="overflow" vert="horz" wrap="square" rtlCol="0" anchor="t">
            <a:normAutofit/>
          </a:bodyPr>
          <a:lstStyle/>
          <a:p>
            <a:pPr algn="l"/>
            <a:r>
              <a:rPr lang="ko-KR" altLang="en-US" sz="1400" b="1">
                <a:solidFill>
                  <a:srgbClr val="0F1A2E"/>
                </a:solidFill>
                <a:latin typeface="맑은 고딕"/>
                <a:ea typeface="맑은 고딕"/>
              </a:rPr>
              <a:t>원</a:t>
            </a:r>
            <a:r>
              <a:rPr lang="en-US" altLang="ko-KR" sz="1400" b="1">
                <a:solidFill>
                  <a:srgbClr val="0F1A2E"/>
                </a:solidFill>
                <a:latin typeface="맑은 고딕"/>
                <a:ea typeface="맑은 고딕"/>
              </a:rPr>
              <a:t>/L </a:t>
            </a:r>
            <a:r>
              <a:rPr lang="ko-KR" altLang="en-US" sz="1400" b="1">
                <a:solidFill>
                  <a:srgbClr val="0F1A2E"/>
                </a:solidFill>
                <a:latin typeface="맑은 고딕"/>
                <a:ea typeface="맑은 고딕"/>
              </a:rPr>
              <a:t>단위 환산</a:t>
            </a:r>
          </a:p>
        </p:txBody>
      </p:sp>
      <p:sp>
        <p:nvSpPr>
          <p:cNvPr id="167" name="TextBox 166">
            <a:extLst>
              <a:ext uri="{FF2B5EF4-FFF2-40B4-BE49-F238E27FC236}">
                <a16:creationId xmlns:a16="http://schemas.microsoft.com/office/drawing/2014/main" id="{FF59E948-1A44-4CBA-9AEF-E6FFAEE0DBDB}"/>
              </a:ext>
            </a:extLst>
          </p:cNvPr>
          <p:cNvSpPr txBox="1"/>
          <p:nvPr/>
        </p:nvSpPr>
        <p:spPr>
          <a:xfrm>
            <a:off x="4318000" y="4749800"/>
            <a:ext cx="2159000" cy="635000"/>
          </a:xfrm>
          <a:prstGeom prst="rect">
            <a:avLst/>
          </a:prstGeom>
          <a:noFill/>
        </p:spPr>
        <p:txBody>
          <a:bodyPr vertOverflow="overflow" vert="horz" wrap="square" rtlCol="0" anchor="t">
            <a:normAutofit/>
          </a:bodyPr>
          <a:lstStyle/>
          <a:p>
            <a:pPr algn="l"/>
            <a:r>
              <a:rPr lang="ko-KR" altLang="en-US" sz="1150">
                <a:solidFill>
                  <a:srgbClr val="7E899B"/>
                </a:solidFill>
                <a:latin typeface="맑은 고딕"/>
                <a:ea typeface="맑은 고딕"/>
              </a:rPr>
              <a:t>국제가</a:t>
            </a:r>
            <a:r>
              <a:rPr lang="en-US" altLang="ko-KR" sz="1150">
                <a:solidFill>
                  <a:srgbClr val="7E899B"/>
                </a:solidFill>
                <a:latin typeface="맑은 고딕"/>
                <a:ea typeface="맑은 고딕"/>
              </a:rPr>
              <a:t>(</a:t>
            </a:r>
            <a:r>
              <a:rPr lang="ko-KR" altLang="en-US" sz="1150">
                <a:solidFill>
                  <a:srgbClr val="7E899B"/>
                </a:solidFill>
                <a:latin typeface="맑은 고딕"/>
                <a:ea typeface="맑은 고딕"/>
              </a:rPr>
              <a:t>달러</a:t>
            </a:r>
            <a:r>
              <a:rPr lang="en-US" altLang="ko-KR" sz="1150">
                <a:solidFill>
                  <a:srgbClr val="7E899B"/>
                </a:solidFill>
                <a:latin typeface="맑은 고딕"/>
                <a:ea typeface="맑은 고딕"/>
              </a:rPr>
              <a:t>/</a:t>
            </a:r>
            <a:r>
              <a:rPr lang="ko-KR" altLang="en-US" sz="1150">
                <a:solidFill>
                  <a:srgbClr val="7E899B"/>
                </a:solidFill>
                <a:latin typeface="맑은 고딕"/>
                <a:ea typeface="맑은 고딕"/>
              </a:rPr>
              <a:t>배럴</a:t>
            </a:r>
            <a:r>
              <a:rPr lang="en-US" altLang="ko-KR" sz="1150">
                <a:solidFill>
                  <a:srgbClr val="7E899B"/>
                </a:solidFill>
                <a:latin typeface="맑은 고딕"/>
                <a:ea typeface="맑은 고딕"/>
              </a:rPr>
              <a:t>)
× </a:t>
            </a:r>
            <a:r>
              <a:rPr lang="ko-KR" altLang="en-US" sz="1150">
                <a:solidFill>
                  <a:srgbClr val="7E899B"/>
                </a:solidFill>
                <a:latin typeface="맑은 고딕"/>
                <a:ea typeface="맑은 고딕"/>
              </a:rPr>
              <a:t>당일 환율 </a:t>
            </a:r>
            <a:r>
              <a:rPr lang="en-US" altLang="ko-KR" sz="1150">
                <a:solidFill>
                  <a:srgbClr val="7E899B"/>
                </a:solidFill>
                <a:latin typeface="맑은 고딕"/>
                <a:ea typeface="맑은 고딕"/>
              </a:rPr>
              <a:t>÷ 158.987
</a:t>
            </a:r>
            <a:r>
              <a:rPr lang="ko-KR" altLang="en-US" sz="1150">
                <a:solidFill>
                  <a:srgbClr val="7E899B"/>
                </a:solidFill>
                <a:latin typeface="맑은 고딕"/>
                <a:ea typeface="맑은 고딕"/>
              </a:rPr>
              <a:t>월</a:t>
            </a:r>
            <a:r>
              <a:rPr lang="en-US" altLang="ko-KR" sz="1150">
                <a:solidFill>
                  <a:srgbClr val="7E899B"/>
                </a:solidFill>
                <a:latin typeface="맑은 고딕"/>
                <a:ea typeface="맑은 고딕"/>
              </a:rPr>
              <a:t>~</a:t>
            </a:r>
            <a:r>
              <a:rPr lang="ko-KR" altLang="en-US" sz="1150">
                <a:solidFill>
                  <a:srgbClr val="7E899B"/>
                </a:solidFill>
                <a:latin typeface="맑은 고딕"/>
                <a:ea typeface="맑은 고딕"/>
              </a:rPr>
              <a:t>금 </a:t>
            </a:r>
            <a:r>
              <a:rPr lang="en-US" altLang="ko-KR" sz="1150">
                <a:solidFill>
                  <a:srgbClr val="7E899B"/>
                </a:solidFill>
                <a:latin typeface="맑은 고딕"/>
                <a:ea typeface="맑은 고딕"/>
              </a:rPr>
              <a:t>5</a:t>
            </a:r>
            <a:r>
              <a:rPr lang="ko-KR" altLang="en-US" sz="1150">
                <a:solidFill>
                  <a:srgbClr val="7E899B"/>
                </a:solidFill>
                <a:latin typeface="맑은 고딕"/>
                <a:ea typeface="맑은 고딕"/>
              </a:rPr>
              <a:t>일 평균</a:t>
            </a:r>
          </a:p>
        </p:txBody>
      </p:sp>
      <p:sp>
        <p:nvSpPr>
          <p:cNvPr id="168" name="직사각형 167">
            <a:extLst>
              <a:ext uri="{FF2B5EF4-FFF2-40B4-BE49-F238E27FC236}">
                <a16:creationId xmlns:a16="http://schemas.microsoft.com/office/drawing/2014/main" id="{47746FF5-E54C-4B02-9933-3A4158AFAC5E}"/>
              </a:ext>
            </a:extLst>
          </p:cNvPr>
          <p:cNvSpPr/>
          <p:nvPr/>
        </p:nvSpPr>
        <p:spPr>
          <a:xfrm>
            <a:off x="7112000" y="3733800"/>
            <a:ext cx="27686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9" name="직사각형 168">
            <a:extLst>
              <a:ext uri="{FF2B5EF4-FFF2-40B4-BE49-F238E27FC236}">
                <a16:creationId xmlns:a16="http://schemas.microsoft.com/office/drawing/2014/main" id="{B5E783C9-400E-4772-9D63-6784575813FE}"/>
              </a:ext>
            </a:extLst>
          </p:cNvPr>
          <p:cNvSpPr/>
          <p:nvPr/>
        </p:nvSpPr>
        <p:spPr>
          <a:xfrm>
            <a:off x="7112000" y="3733800"/>
            <a:ext cx="101600" cy="18034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70" name="TextBox 169">
            <a:extLst>
              <a:ext uri="{FF2B5EF4-FFF2-40B4-BE49-F238E27FC236}">
                <a16:creationId xmlns:a16="http://schemas.microsoft.com/office/drawing/2014/main" id="{99CAF814-A9AB-401D-9DBF-05087B7E3292}"/>
              </a:ext>
            </a:extLst>
          </p:cNvPr>
          <p:cNvSpPr txBox="1"/>
          <p:nvPr/>
        </p:nvSpPr>
        <p:spPr>
          <a:xfrm>
            <a:off x="7416800" y="3937000"/>
            <a:ext cx="482600" cy="254000"/>
          </a:xfrm>
          <a:prstGeom prst="rect">
            <a:avLst/>
          </a:prstGeom>
          <a:noFill/>
        </p:spPr>
        <p:txBody>
          <a:bodyPr vertOverflow="overflow" vert="horz" wrap="square" rtlCol="0" anchor="t">
            <a:normAutofit fontScale="92500" lnSpcReduction="10000"/>
          </a:bodyPr>
          <a:lstStyle/>
          <a:p>
            <a:pPr algn="l"/>
            <a:r>
              <a:rPr lang="en-US" altLang="ko-KR" sz="1200" b="1">
                <a:solidFill>
                  <a:srgbClr val="22AFCF"/>
                </a:solidFill>
                <a:latin typeface="맑은 고딕"/>
                <a:ea typeface="맑은 고딕"/>
              </a:rPr>
              <a:t>03</a:t>
            </a:r>
            <a:endParaRPr lang="ko-KR" altLang="en-US" sz="1200" b="1">
              <a:solidFill>
                <a:srgbClr val="22AFCF"/>
              </a:solidFill>
              <a:latin typeface="맑은 고딕"/>
              <a:ea typeface="맑은 고딕"/>
            </a:endParaRPr>
          </a:p>
        </p:txBody>
      </p:sp>
      <p:sp>
        <p:nvSpPr>
          <p:cNvPr id="171" name="TextBox 170">
            <a:extLst>
              <a:ext uri="{FF2B5EF4-FFF2-40B4-BE49-F238E27FC236}">
                <a16:creationId xmlns:a16="http://schemas.microsoft.com/office/drawing/2014/main" id="{E38E0A25-54C4-46D3-888C-13143212961F}"/>
              </a:ext>
            </a:extLst>
          </p:cNvPr>
          <p:cNvSpPr txBox="1"/>
          <p:nvPr/>
        </p:nvSpPr>
        <p:spPr>
          <a:xfrm>
            <a:off x="7416800" y="4292600"/>
            <a:ext cx="2159000" cy="317500"/>
          </a:xfrm>
          <a:prstGeom prst="rect">
            <a:avLst/>
          </a:prstGeom>
          <a:noFill/>
        </p:spPr>
        <p:txBody>
          <a:bodyPr vertOverflow="overflow" vert="horz" wrap="square" rtlCol="0" anchor="t">
            <a:normAutofit/>
          </a:bodyPr>
          <a:lstStyle/>
          <a:p>
            <a:pPr algn="l"/>
            <a:r>
              <a:rPr lang="ko-KR" altLang="en-US" sz="1400" b="1">
                <a:solidFill>
                  <a:srgbClr val="0F1A2E"/>
                </a:solidFill>
                <a:latin typeface="맑은 고딕"/>
                <a:ea typeface="맑은 고딕"/>
              </a:rPr>
              <a:t>주차 기준 병합</a:t>
            </a:r>
          </a:p>
        </p:txBody>
      </p:sp>
      <p:sp>
        <p:nvSpPr>
          <p:cNvPr id="172" name="TextBox 171">
            <a:extLst>
              <a:ext uri="{FF2B5EF4-FFF2-40B4-BE49-F238E27FC236}">
                <a16:creationId xmlns:a16="http://schemas.microsoft.com/office/drawing/2014/main" id="{FCE4F406-7446-4F45-9864-6FB5F072F03F}"/>
              </a:ext>
            </a:extLst>
          </p:cNvPr>
          <p:cNvSpPr txBox="1"/>
          <p:nvPr/>
        </p:nvSpPr>
        <p:spPr>
          <a:xfrm>
            <a:off x="7416800" y="4749800"/>
            <a:ext cx="2159000" cy="635000"/>
          </a:xfrm>
          <a:prstGeom prst="rect">
            <a:avLst/>
          </a:prstGeom>
          <a:noFill/>
        </p:spPr>
        <p:txBody>
          <a:bodyPr vertOverflow="overflow" vert="horz" wrap="square" rtlCol="0" anchor="t">
            <a:normAutofit/>
          </a:bodyPr>
          <a:lstStyle/>
          <a:p>
            <a:pPr algn="l"/>
            <a:r>
              <a:rPr lang="ko-KR" altLang="en-US" sz="1150">
                <a:solidFill>
                  <a:srgbClr val="7E899B"/>
                </a:solidFill>
                <a:latin typeface="맑은 고딕"/>
                <a:ea typeface="맑은 고딕"/>
              </a:rPr>
              <a:t>연도</a:t>
            </a:r>
            <a:r>
              <a:rPr lang="en-US" altLang="ko-KR" sz="1150">
                <a:solidFill>
                  <a:srgbClr val="7E899B"/>
                </a:solidFill>
                <a:latin typeface="맑은 고딕"/>
                <a:ea typeface="맑은 고딕"/>
              </a:rPr>
              <a:t>·</a:t>
            </a:r>
            <a:r>
              <a:rPr lang="ko-KR" altLang="en-US" sz="1150">
                <a:solidFill>
                  <a:srgbClr val="7E899B"/>
                </a:solidFill>
                <a:latin typeface="맑은 고딕"/>
                <a:ea typeface="맑은 고딕"/>
              </a:rPr>
              <a:t>주차를 기준으로
국제 제품가격과 국내
세전 공급가격 결합</a:t>
            </a:r>
          </a:p>
        </p:txBody>
      </p:sp>
      <p:sp>
        <p:nvSpPr>
          <p:cNvPr id="173" name="직사각형 172">
            <a:extLst>
              <a:ext uri="{FF2B5EF4-FFF2-40B4-BE49-F238E27FC236}">
                <a16:creationId xmlns:a16="http://schemas.microsoft.com/office/drawing/2014/main" id="{E1110639-966C-4382-8769-A3A2AEDC94B3}"/>
              </a:ext>
            </a:extLst>
          </p:cNvPr>
          <p:cNvSpPr/>
          <p:nvPr/>
        </p:nvSpPr>
        <p:spPr>
          <a:xfrm>
            <a:off x="10210800" y="3733800"/>
            <a:ext cx="27686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74" name="직사각형 173">
            <a:extLst>
              <a:ext uri="{FF2B5EF4-FFF2-40B4-BE49-F238E27FC236}">
                <a16:creationId xmlns:a16="http://schemas.microsoft.com/office/drawing/2014/main" id="{D5365CAA-F66E-46F0-A01D-D01B149D7080}"/>
              </a:ext>
            </a:extLst>
          </p:cNvPr>
          <p:cNvSpPr/>
          <p:nvPr/>
        </p:nvSpPr>
        <p:spPr>
          <a:xfrm>
            <a:off x="10210800" y="3733800"/>
            <a:ext cx="101600" cy="1803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75" name="TextBox 174">
            <a:extLst>
              <a:ext uri="{FF2B5EF4-FFF2-40B4-BE49-F238E27FC236}">
                <a16:creationId xmlns:a16="http://schemas.microsoft.com/office/drawing/2014/main" id="{8EB1BA19-868A-438B-9A18-698985D28D53}"/>
              </a:ext>
            </a:extLst>
          </p:cNvPr>
          <p:cNvSpPr txBox="1"/>
          <p:nvPr/>
        </p:nvSpPr>
        <p:spPr>
          <a:xfrm>
            <a:off x="10515600" y="3937000"/>
            <a:ext cx="482600" cy="254000"/>
          </a:xfrm>
          <a:prstGeom prst="rect">
            <a:avLst/>
          </a:prstGeom>
          <a:noFill/>
        </p:spPr>
        <p:txBody>
          <a:bodyPr vertOverflow="overflow" vert="horz" wrap="square" rtlCol="0" anchor="t">
            <a:normAutofit fontScale="92500" lnSpcReduction="10000"/>
          </a:bodyPr>
          <a:lstStyle/>
          <a:p>
            <a:pPr algn="l"/>
            <a:r>
              <a:rPr lang="en-US" altLang="ko-KR" sz="1200" b="1">
                <a:solidFill>
                  <a:srgbClr val="4B73FF"/>
                </a:solidFill>
                <a:latin typeface="맑은 고딕"/>
                <a:ea typeface="맑은 고딕"/>
              </a:rPr>
              <a:t>04</a:t>
            </a:r>
            <a:endParaRPr lang="ko-KR" altLang="en-US" sz="1200" b="1">
              <a:solidFill>
                <a:srgbClr val="4B73FF"/>
              </a:solidFill>
              <a:latin typeface="맑은 고딕"/>
              <a:ea typeface="맑은 고딕"/>
            </a:endParaRPr>
          </a:p>
        </p:txBody>
      </p:sp>
      <p:sp>
        <p:nvSpPr>
          <p:cNvPr id="176" name="TextBox 175">
            <a:extLst>
              <a:ext uri="{FF2B5EF4-FFF2-40B4-BE49-F238E27FC236}">
                <a16:creationId xmlns:a16="http://schemas.microsoft.com/office/drawing/2014/main" id="{532B81C0-9AEA-4271-B9A3-BF87026E1E2C}"/>
              </a:ext>
            </a:extLst>
          </p:cNvPr>
          <p:cNvSpPr txBox="1"/>
          <p:nvPr/>
        </p:nvSpPr>
        <p:spPr>
          <a:xfrm>
            <a:off x="10515600" y="4292600"/>
            <a:ext cx="2159000" cy="317500"/>
          </a:xfrm>
          <a:prstGeom prst="rect">
            <a:avLst/>
          </a:prstGeom>
          <a:noFill/>
        </p:spPr>
        <p:txBody>
          <a:bodyPr vertOverflow="overflow" vert="horz" wrap="square" rtlCol="0" anchor="t">
            <a:normAutofit/>
          </a:bodyPr>
          <a:lstStyle/>
          <a:p>
            <a:pPr algn="l"/>
            <a:r>
              <a:rPr lang="ko-KR" altLang="en-US" sz="1400" b="1">
                <a:solidFill>
                  <a:srgbClr val="0F1A2E"/>
                </a:solidFill>
                <a:latin typeface="맑은 고딕"/>
                <a:ea typeface="맑은 고딕"/>
              </a:rPr>
              <a:t>결측</a:t>
            </a:r>
            <a:r>
              <a:rPr lang="en-US" altLang="ko-KR" sz="1400" b="1">
                <a:solidFill>
                  <a:srgbClr val="0F1A2E"/>
                </a:solidFill>
                <a:latin typeface="맑은 고딕"/>
                <a:ea typeface="맑은 고딕"/>
              </a:rPr>
              <a:t>·</a:t>
            </a:r>
            <a:r>
              <a:rPr lang="ko-KR" altLang="en-US" sz="1400" b="1">
                <a:solidFill>
                  <a:srgbClr val="0F1A2E"/>
                </a:solidFill>
                <a:latin typeface="맑은 고딕"/>
                <a:ea typeface="맑은 고딕"/>
              </a:rPr>
              <a:t>시차 처리</a:t>
            </a:r>
          </a:p>
        </p:txBody>
      </p:sp>
      <p:sp>
        <p:nvSpPr>
          <p:cNvPr id="177" name="TextBox 176">
            <a:extLst>
              <a:ext uri="{FF2B5EF4-FFF2-40B4-BE49-F238E27FC236}">
                <a16:creationId xmlns:a16="http://schemas.microsoft.com/office/drawing/2014/main" id="{DBD3B3A5-EC3B-4C4C-B6C8-3D93C5EF57F3}"/>
              </a:ext>
            </a:extLst>
          </p:cNvPr>
          <p:cNvSpPr txBox="1"/>
          <p:nvPr/>
        </p:nvSpPr>
        <p:spPr>
          <a:xfrm>
            <a:off x="10515600" y="4749800"/>
            <a:ext cx="2159000" cy="635000"/>
          </a:xfrm>
          <a:prstGeom prst="rect">
            <a:avLst/>
          </a:prstGeom>
          <a:noFill/>
        </p:spPr>
        <p:txBody>
          <a:bodyPr vertOverflow="overflow" vert="horz" wrap="square" rtlCol="0" anchor="t">
            <a:normAutofit/>
          </a:bodyPr>
          <a:lstStyle/>
          <a:p>
            <a:pPr algn="l"/>
            <a:r>
              <a:rPr lang="en-US" altLang="ko-KR" sz="1150">
                <a:solidFill>
                  <a:srgbClr val="7E899B"/>
                </a:solidFill>
                <a:latin typeface="맑은 고딕"/>
                <a:ea typeface="맑은 고딕"/>
              </a:rPr>
              <a:t>17</a:t>
            </a:r>
            <a:r>
              <a:rPr lang="ko-KR" altLang="en-US" sz="1150">
                <a:solidFill>
                  <a:srgbClr val="7E899B"/>
                </a:solidFill>
                <a:latin typeface="맑은 고딕"/>
                <a:ea typeface="맑은 고딕"/>
              </a:rPr>
              <a:t>개 셀</a:t>
            </a:r>
            <a:r>
              <a:rPr lang="en-US" altLang="ko-KR" sz="1150">
                <a:solidFill>
                  <a:srgbClr val="7E899B"/>
                </a:solidFill>
                <a:latin typeface="맑은 고딕"/>
                <a:ea typeface="맑은 고딕"/>
              </a:rPr>
              <a:t>·3</a:t>
            </a:r>
            <a:r>
              <a:rPr lang="ko-KR" altLang="en-US" sz="1150">
                <a:solidFill>
                  <a:srgbClr val="7E899B"/>
                </a:solidFill>
                <a:latin typeface="맑은 고딕"/>
                <a:ea typeface="맑은 고딕"/>
              </a:rPr>
              <a:t>주차 확인
타겟은 보간하지 않음
결측 제거 후 </a:t>
            </a:r>
            <a:r>
              <a:rPr lang="en-US" altLang="ko-KR" sz="1150">
                <a:solidFill>
                  <a:srgbClr val="7E899B"/>
                </a:solidFill>
                <a:latin typeface="맑은 고딕"/>
                <a:ea typeface="맑은 고딕"/>
              </a:rPr>
              <a:t>1</a:t>
            </a:r>
            <a:r>
              <a:rPr lang="ko-KR" altLang="en-US" sz="1150">
                <a:solidFill>
                  <a:srgbClr val="7E899B"/>
                </a:solidFill>
                <a:latin typeface="맑은 고딕"/>
                <a:ea typeface="맑은 고딕"/>
              </a:rPr>
              <a:t>주 시차</a:t>
            </a:r>
          </a:p>
        </p:txBody>
      </p:sp>
      <p:sp>
        <p:nvSpPr>
          <p:cNvPr id="178" name="직사각형 177">
            <a:extLst>
              <a:ext uri="{FF2B5EF4-FFF2-40B4-BE49-F238E27FC236}">
                <a16:creationId xmlns:a16="http://schemas.microsoft.com/office/drawing/2014/main" id="{C8293E73-99E3-4DC9-A1FD-67B899024EAA}"/>
              </a:ext>
            </a:extLst>
          </p:cNvPr>
          <p:cNvSpPr/>
          <p:nvPr/>
        </p:nvSpPr>
        <p:spPr>
          <a:xfrm>
            <a:off x="13309600" y="3733800"/>
            <a:ext cx="27686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79" name="직사각형 178">
            <a:extLst>
              <a:ext uri="{FF2B5EF4-FFF2-40B4-BE49-F238E27FC236}">
                <a16:creationId xmlns:a16="http://schemas.microsoft.com/office/drawing/2014/main" id="{E571C055-0808-4771-9A36-EA961FBAE9A4}"/>
              </a:ext>
            </a:extLst>
          </p:cNvPr>
          <p:cNvSpPr/>
          <p:nvPr/>
        </p:nvSpPr>
        <p:spPr>
          <a:xfrm>
            <a:off x="13309600" y="3733800"/>
            <a:ext cx="101600" cy="18034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80" name="TextBox 179">
            <a:extLst>
              <a:ext uri="{FF2B5EF4-FFF2-40B4-BE49-F238E27FC236}">
                <a16:creationId xmlns:a16="http://schemas.microsoft.com/office/drawing/2014/main" id="{07969EEF-9235-4CC6-9A3E-2068E1A17438}"/>
              </a:ext>
            </a:extLst>
          </p:cNvPr>
          <p:cNvSpPr txBox="1"/>
          <p:nvPr/>
        </p:nvSpPr>
        <p:spPr>
          <a:xfrm>
            <a:off x="13614400" y="3937000"/>
            <a:ext cx="482600" cy="254000"/>
          </a:xfrm>
          <a:prstGeom prst="rect">
            <a:avLst/>
          </a:prstGeom>
          <a:noFill/>
        </p:spPr>
        <p:txBody>
          <a:bodyPr vertOverflow="overflow" vert="horz" wrap="square" rtlCol="0" anchor="t">
            <a:normAutofit fontScale="92500" lnSpcReduction="10000"/>
          </a:bodyPr>
          <a:lstStyle/>
          <a:p>
            <a:pPr algn="l"/>
            <a:r>
              <a:rPr lang="en-US" altLang="ko-KR" sz="1200" b="1">
                <a:solidFill>
                  <a:srgbClr val="22AFCF"/>
                </a:solidFill>
                <a:latin typeface="맑은 고딕"/>
                <a:ea typeface="맑은 고딕"/>
              </a:rPr>
              <a:t>05</a:t>
            </a:r>
            <a:endParaRPr lang="ko-KR" altLang="en-US" sz="1200" b="1">
              <a:solidFill>
                <a:srgbClr val="22AFCF"/>
              </a:solidFill>
              <a:latin typeface="맑은 고딕"/>
              <a:ea typeface="맑은 고딕"/>
            </a:endParaRPr>
          </a:p>
        </p:txBody>
      </p:sp>
      <p:sp>
        <p:nvSpPr>
          <p:cNvPr id="181" name="TextBox 180">
            <a:extLst>
              <a:ext uri="{FF2B5EF4-FFF2-40B4-BE49-F238E27FC236}">
                <a16:creationId xmlns:a16="http://schemas.microsoft.com/office/drawing/2014/main" id="{B5C04AF8-31EF-4D4E-964F-C5F929419674}"/>
              </a:ext>
            </a:extLst>
          </p:cNvPr>
          <p:cNvSpPr txBox="1"/>
          <p:nvPr/>
        </p:nvSpPr>
        <p:spPr>
          <a:xfrm>
            <a:off x="13614400" y="4292600"/>
            <a:ext cx="2159000" cy="317500"/>
          </a:xfrm>
          <a:prstGeom prst="rect">
            <a:avLst/>
          </a:prstGeom>
          <a:noFill/>
        </p:spPr>
        <p:txBody>
          <a:bodyPr vertOverflow="overflow" vert="horz" wrap="square" rtlCol="0" anchor="t">
            <a:normAutofit/>
          </a:bodyPr>
          <a:lstStyle/>
          <a:p>
            <a:pPr algn="l"/>
            <a:r>
              <a:rPr lang="ko-KR" altLang="en-US" sz="1400" b="1">
                <a:solidFill>
                  <a:srgbClr val="0F1A2E"/>
                </a:solidFill>
                <a:latin typeface="맑은 고딕"/>
                <a:ea typeface="맑은 고딕"/>
              </a:rPr>
              <a:t>시간순 학습 분할</a:t>
            </a:r>
          </a:p>
        </p:txBody>
      </p:sp>
      <p:sp>
        <p:nvSpPr>
          <p:cNvPr id="182" name="TextBox 181">
            <a:extLst>
              <a:ext uri="{FF2B5EF4-FFF2-40B4-BE49-F238E27FC236}">
                <a16:creationId xmlns:a16="http://schemas.microsoft.com/office/drawing/2014/main" id="{CE30744C-CE52-48A5-9011-78F4F5ED522F}"/>
              </a:ext>
            </a:extLst>
          </p:cNvPr>
          <p:cNvSpPr txBox="1"/>
          <p:nvPr/>
        </p:nvSpPr>
        <p:spPr>
          <a:xfrm>
            <a:off x="13614400" y="4749800"/>
            <a:ext cx="2159000" cy="635000"/>
          </a:xfrm>
          <a:prstGeom prst="rect">
            <a:avLst/>
          </a:prstGeom>
          <a:noFill/>
        </p:spPr>
        <p:txBody>
          <a:bodyPr vertOverflow="overflow" vert="horz" wrap="square" rtlCol="0" anchor="t">
            <a:normAutofit/>
          </a:bodyPr>
          <a:lstStyle/>
          <a:p>
            <a:pPr algn="l"/>
            <a:r>
              <a:rPr lang="ko-KR" altLang="en-US" sz="1150">
                <a:solidFill>
                  <a:srgbClr val="7E899B"/>
                </a:solidFill>
                <a:latin typeface="맑은 고딕"/>
                <a:ea typeface="맑은 고딕"/>
              </a:rPr>
              <a:t>정책 이전 자료를
시간 순서대로 분할
학습 </a:t>
            </a:r>
            <a:r>
              <a:rPr lang="en-US" altLang="ko-KR" sz="1150">
                <a:solidFill>
                  <a:srgbClr val="7E899B"/>
                </a:solidFill>
                <a:latin typeface="맑은 고딕"/>
                <a:ea typeface="맑은 고딕"/>
              </a:rPr>
              <a:t>488</a:t>
            </a:r>
            <a:r>
              <a:rPr lang="ko-KR" altLang="en-US" sz="1150">
                <a:solidFill>
                  <a:srgbClr val="7E899B"/>
                </a:solidFill>
                <a:latin typeface="맑은 고딕"/>
                <a:ea typeface="맑은 고딕"/>
              </a:rPr>
              <a:t>주</a:t>
            </a:r>
            <a:r>
              <a:rPr lang="en-US" altLang="ko-KR" sz="1150">
                <a:solidFill>
                  <a:srgbClr val="7E899B"/>
                </a:solidFill>
                <a:latin typeface="맑은 고딕"/>
                <a:ea typeface="맑은 고딕"/>
              </a:rPr>
              <a:t>·</a:t>
            </a:r>
            <a:r>
              <a:rPr lang="ko-KR" altLang="en-US" sz="1150">
                <a:solidFill>
                  <a:srgbClr val="7E899B"/>
                </a:solidFill>
                <a:latin typeface="맑은 고딕"/>
                <a:ea typeface="맑은 고딕"/>
              </a:rPr>
              <a:t>평가 </a:t>
            </a:r>
            <a:r>
              <a:rPr lang="en-US" altLang="ko-KR" sz="1150">
                <a:solidFill>
                  <a:srgbClr val="7E899B"/>
                </a:solidFill>
                <a:latin typeface="맑은 고딕"/>
                <a:ea typeface="맑은 고딕"/>
              </a:rPr>
              <a:t>122</a:t>
            </a:r>
            <a:r>
              <a:rPr lang="ko-KR" altLang="en-US" sz="1150">
                <a:solidFill>
                  <a:srgbClr val="7E899B"/>
                </a:solidFill>
                <a:latin typeface="맑은 고딕"/>
                <a:ea typeface="맑은 고딕"/>
              </a:rPr>
              <a:t>주</a:t>
            </a:r>
          </a:p>
        </p:txBody>
      </p:sp>
      <p:sp>
        <p:nvSpPr>
          <p:cNvPr id="183" name="직사각형 182">
            <a:extLst>
              <a:ext uri="{FF2B5EF4-FFF2-40B4-BE49-F238E27FC236}">
                <a16:creationId xmlns:a16="http://schemas.microsoft.com/office/drawing/2014/main" id="{4B31733B-0579-4F09-9347-E3CC82AE1213}"/>
              </a:ext>
            </a:extLst>
          </p:cNvPr>
          <p:cNvSpPr/>
          <p:nvPr/>
        </p:nvSpPr>
        <p:spPr>
          <a:xfrm>
            <a:off x="914400" y="5664200"/>
            <a:ext cx="15163800" cy="508000"/>
          </a:xfrm>
          <a:prstGeom prst="rect">
            <a:avLst/>
          </a:prstGeom>
          <a:solidFill>
            <a:srgbClr val="EEF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84" name="TextBox 183">
            <a:extLst>
              <a:ext uri="{FF2B5EF4-FFF2-40B4-BE49-F238E27FC236}">
                <a16:creationId xmlns:a16="http://schemas.microsoft.com/office/drawing/2014/main" id="{16579772-9B5B-4032-9F68-CA791211CB55}"/>
              </a:ext>
            </a:extLst>
          </p:cNvPr>
          <p:cNvSpPr txBox="1"/>
          <p:nvPr/>
        </p:nvSpPr>
        <p:spPr>
          <a:xfrm>
            <a:off x="1193800" y="5791200"/>
            <a:ext cx="2159000" cy="279400"/>
          </a:xfrm>
          <a:prstGeom prst="rect">
            <a:avLst/>
          </a:prstGeom>
          <a:noFill/>
        </p:spPr>
        <p:txBody>
          <a:bodyPr vertOverflow="overflow" vert="horz" wrap="square" rtlCol="0" anchor="t">
            <a:normAutofit fontScale="92500" lnSpcReduction="20000"/>
          </a:bodyPr>
          <a:lstStyle/>
          <a:p>
            <a:pPr algn="l"/>
            <a:r>
              <a:rPr lang="en-US" altLang="ko-KR" sz="1500" b="1">
                <a:solidFill>
                  <a:srgbClr val="0F1A2E"/>
                </a:solidFill>
                <a:latin typeface="맑은 고딕"/>
                <a:ea typeface="맑은 고딕"/>
              </a:rPr>
              <a:t>614</a:t>
            </a:r>
            <a:r>
              <a:rPr lang="ko-KR" altLang="en-US" sz="1500" b="1">
                <a:solidFill>
                  <a:srgbClr val="0F1A2E"/>
                </a:solidFill>
                <a:latin typeface="맑은 고딕"/>
                <a:ea typeface="맑은 고딕"/>
              </a:rPr>
              <a:t>행 </a:t>
            </a:r>
            <a:r>
              <a:rPr lang="en-US" altLang="ko-KR" sz="1500" b="1">
                <a:solidFill>
                  <a:srgbClr val="0F1A2E"/>
                </a:solidFill>
                <a:latin typeface="맑은 고딕"/>
                <a:ea typeface="맑은 고딕"/>
              </a:rPr>
              <a:t>× 19</a:t>
            </a:r>
            <a:r>
              <a:rPr lang="ko-KR" altLang="en-US" sz="1500" b="1">
                <a:solidFill>
                  <a:srgbClr val="0F1A2E"/>
                </a:solidFill>
                <a:latin typeface="맑은 고딕"/>
                <a:ea typeface="맑은 고딕"/>
              </a:rPr>
              <a:t>열</a:t>
            </a:r>
          </a:p>
        </p:txBody>
      </p:sp>
      <p:sp>
        <p:nvSpPr>
          <p:cNvPr id="185" name="TextBox 184">
            <a:extLst>
              <a:ext uri="{FF2B5EF4-FFF2-40B4-BE49-F238E27FC236}">
                <a16:creationId xmlns:a16="http://schemas.microsoft.com/office/drawing/2014/main" id="{A1DE5FC7-5E58-48E8-A886-614FB995CA47}"/>
              </a:ext>
            </a:extLst>
          </p:cNvPr>
          <p:cNvSpPr txBox="1"/>
          <p:nvPr/>
        </p:nvSpPr>
        <p:spPr>
          <a:xfrm>
            <a:off x="3403600" y="5791200"/>
            <a:ext cx="355600" cy="279400"/>
          </a:xfrm>
          <a:prstGeom prst="rect">
            <a:avLst/>
          </a:prstGeom>
          <a:noFill/>
        </p:spPr>
        <p:txBody>
          <a:bodyPr vertOverflow="overflow" vert="horz" wrap="square" rtlCol="0" anchor="t">
            <a:normAutofit fontScale="92500" lnSpcReduction="20000"/>
          </a:bodyPr>
          <a:lstStyle/>
          <a:p>
            <a:pPr algn="l"/>
            <a:r>
              <a:rPr lang="ko-KR" altLang="en-US" sz="1500" b="1">
                <a:solidFill>
                  <a:srgbClr val="4B73FF"/>
                </a:solidFill>
                <a:latin typeface="맑은 고딕"/>
                <a:ea typeface="맑은 고딕"/>
              </a:rPr>
              <a:t>→</a:t>
            </a:r>
          </a:p>
        </p:txBody>
      </p:sp>
      <p:sp>
        <p:nvSpPr>
          <p:cNvPr id="186" name="TextBox 185">
            <a:extLst>
              <a:ext uri="{FF2B5EF4-FFF2-40B4-BE49-F238E27FC236}">
                <a16:creationId xmlns:a16="http://schemas.microsoft.com/office/drawing/2014/main" id="{6E42E866-2D0B-466C-9916-E01CE67D31CD}"/>
              </a:ext>
            </a:extLst>
          </p:cNvPr>
          <p:cNvSpPr txBox="1"/>
          <p:nvPr/>
        </p:nvSpPr>
        <p:spPr>
          <a:xfrm>
            <a:off x="3886200" y="5791200"/>
            <a:ext cx="2413000" cy="279400"/>
          </a:xfrm>
          <a:prstGeom prst="rect">
            <a:avLst/>
          </a:prstGeom>
          <a:noFill/>
        </p:spPr>
        <p:txBody>
          <a:bodyPr vertOverflow="overflow" vert="horz" wrap="square" rtlCol="0" anchor="t">
            <a:normAutofit fontScale="92500" lnSpcReduction="20000"/>
          </a:bodyPr>
          <a:lstStyle/>
          <a:p>
            <a:pPr algn="l"/>
            <a:r>
              <a:rPr lang="ko-KR" altLang="en-US" sz="1500" b="1">
                <a:solidFill>
                  <a:srgbClr val="0F1A2E"/>
                </a:solidFill>
                <a:latin typeface="맑은 고딕"/>
                <a:ea typeface="맑은 고딕"/>
              </a:rPr>
              <a:t>결측 제거 </a:t>
            </a:r>
            <a:r>
              <a:rPr lang="en-US" altLang="ko-KR" sz="1500" b="1">
                <a:solidFill>
                  <a:srgbClr val="0F1A2E"/>
                </a:solidFill>
                <a:latin typeface="맑은 고딕"/>
                <a:ea typeface="맑은 고딕"/>
              </a:rPr>
              <a:t>611</a:t>
            </a:r>
            <a:r>
              <a:rPr lang="ko-KR" altLang="en-US" sz="1500" b="1">
                <a:solidFill>
                  <a:srgbClr val="0F1A2E"/>
                </a:solidFill>
                <a:latin typeface="맑은 고딕"/>
                <a:ea typeface="맑은 고딕"/>
              </a:rPr>
              <a:t>주</a:t>
            </a:r>
          </a:p>
        </p:txBody>
      </p:sp>
      <p:sp>
        <p:nvSpPr>
          <p:cNvPr id="187" name="TextBox 186">
            <a:extLst>
              <a:ext uri="{FF2B5EF4-FFF2-40B4-BE49-F238E27FC236}">
                <a16:creationId xmlns:a16="http://schemas.microsoft.com/office/drawing/2014/main" id="{8CE06911-9765-4CEE-88C9-E7C59C2FEB29}"/>
              </a:ext>
            </a:extLst>
          </p:cNvPr>
          <p:cNvSpPr txBox="1"/>
          <p:nvPr/>
        </p:nvSpPr>
        <p:spPr>
          <a:xfrm>
            <a:off x="6350000" y="5791200"/>
            <a:ext cx="355600" cy="279400"/>
          </a:xfrm>
          <a:prstGeom prst="rect">
            <a:avLst/>
          </a:prstGeom>
          <a:noFill/>
        </p:spPr>
        <p:txBody>
          <a:bodyPr vertOverflow="overflow" vert="horz" wrap="square" rtlCol="0" anchor="t">
            <a:normAutofit fontScale="92500" lnSpcReduction="20000"/>
          </a:bodyPr>
          <a:lstStyle/>
          <a:p>
            <a:pPr algn="l"/>
            <a:r>
              <a:rPr lang="ko-KR" altLang="en-US" sz="1500" b="1">
                <a:solidFill>
                  <a:srgbClr val="4B73FF"/>
                </a:solidFill>
                <a:latin typeface="맑은 고딕"/>
                <a:ea typeface="맑은 고딕"/>
              </a:rPr>
              <a:t>→</a:t>
            </a:r>
          </a:p>
        </p:txBody>
      </p:sp>
      <p:sp>
        <p:nvSpPr>
          <p:cNvPr id="188" name="TextBox 187">
            <a:extLst>
              <a:ext uri="{FF2B5EF4-FFF2-40B4-BE49-F238E27FC236}">
                <a16:creationId xmlns:a16="http://schemas.microsoft.com/office/drawing/2014/main" id="{58515D61-CB4B-48A5-9FD3-624327C82FD5}"/>
              </a:ext>
            </a:extLst>
          </p:cNvPr>
          <p:cNvSpPr txBox="1"/>
          <p:nvPr/>
        </p:nvSpPr>
        <p:spPr>
          <a:xfrm>
            <a:off x="6832600" y="5791200"/>
            <a:ext cx="2413000" cy="279400"/>
          </a:xfrm>
          <a:prstGeom prst="rect">
            <a:avLst/>
          </a:prstGeom>
          <a:noFill/>
        </p:spPr>
        <p:txBody>
          <a:bodyPr vertOverflow="overflow" vert="horz" wrap="square" rtlCol="0" anchor="t">
            <a:normAutofit fontScale="92500" lnSpcReduction="20000"/>
          </a:bodyPr>
          <a:lstStyle/>
          <a:p>
            <a:pPr algn="l"/>
            <a:r>
              <a:rPr lang="ko-KR" altLang="en-US" sz="1500" b="1">
                <a:solidFill>
                  <a:srgbClr val="0F1A2E"/>
                </a:solidFill>
                <a:latin typeface="맑은 고딕"/>
                <a:ea typeface="맑은 고딕"/>
              </a:rPr>
              <a:t>시차 적용 </a:t>
            </a:r>
            <a:r>
              <a:rPr lang="en-US" altLang="ko-KR" sz="1500" b="1">
                <a:solidFill>
                  <a:srgbClr val="0F1A2E"/>
                </a:solidFill>
                <a:latin typeface="맑은 고딕"/>
                <a:ea typeface="맑은 고딕"/>
              </a:rPr>
              <a:t>610</a:t>
            </a:r>
            <a:r>
              <a:rPr lang="ko-KR" altLang="en-US" sz="1500" b="1">
                <a:solidFill>
                  <a:srgbClr val="0F1A2E"/>
                </a:solidFill>
                <a:latin typeface="맑은 고딕"/>
                <a:ea typeface="맑은 고딕"/>
              </a:rPr>
              <a:t>주</a:t>
            </a:r>
          </a:p>
        </p:txBody>
      </p:sp>
      <p:sp>
        <p:nvSpPr>
          <p:cNvPr id="189" name="TextBox 188">
            <a:extLst>
              <a:ext uri="{FF2B5EF4-FFF2-40B4-BE49-F238E27FC236}">
                <a16:creationId xmlns:a16="http://schemas.microsoft.com/office/drawing/2014/main" id="{DBED639F-F8FD-4EB9-BEF7-B8AD93C892DB}"/>
              </a:ext>
            </a:extLst>
          </p:cNvPr>
          <p:cNvSpPr txBox="1"/>
          <p:nvPr/>
        </p:nvSpPr>
        <p:spPr>
          <a:xfrm>
            <a:off x="9296400" y="5791200"/>
            <a:ext cx="355600" cy="279400"/>
          </a:xfrm>
          <a:prstGeom prst="rect">
            <a:avLst/>
          </a:prstGeom>
          <a:noFill/>
        </p:spPr>
        <p:txBody>
          <a:bodyPr vertOverflow="overflow" vert="horz" wrap="square" rtlCol="0" anchor="t">
            <a:normAutofit fontScale="92500" lnSpcReduction="20000"/>
          </a:bodyPr>
          <a:lstStyle/>
          <a:p>
            <a:pPr algn="l"/>
            <a:r>
              <a:rPr lang="ko-KR" altLang="en-US" sz="1500" b="1">
                <a:solidFill>
                  <a:srgbClr val="4B73FF"/>
                </a:solidFill>
                <a:latin typeface="맑은 고딕"/>
                <a:ea typeface="맑은 고딕"/>
              </a:rPr>
              <a:t>→</a:t>
            </a:r>
          </a:p>
        </p:txBody>
      </p:sp>
      <p:sp>
        <p:nvSpPr>
          <p:cNvPr id="190" name="TextBox 189">
            <a:extLst>
              <a:ext uri="{FF2B5EF4-FFF2-40B4-BE49-F238E27FC236}">
                <a16:creationId xmlns:a16="http://schemas.microsoft.com/office/drawing/2014/main" id="{FCDDF3CB-2A0C-4A53-927F-C02DFE0F80B4}"/>
              </a:ext>
            </a:extLst>
          </p:cNvPr>
          <p:cNvSpPr txBox="1"/>
          <p:nvPr/>
        </p:nvSpPr>
        <p:spPr>
          <a:xfrm>
            <a:off x="9779000" y="5791200"/>
            <a:ext cx="4572000" cy="279400"/>
          </a:xfrm>
          <a:prstGeom prst="rect">
            <a:avLst/>
          </a:prstGeom>
          <a:noFill/>
        </p:spPr>
        <p:txBody>
          <a:bodyPr vertOverflow="overflow" vert="horz" wrap="square" rtlCol="0" anchor="t">
            <a:normAutofit fontScale="92500" lnSpcReduction="20000"/>
          </a:bodyPr>
          <a:lstStyle/>
          <a:p>
            <a:pPr algn="l"/>
            <a:r>
              <a:rPr lang="ko-KR" altLang="en-US" sz="1500" b="1">
                <a:solidFill>
                  <a:srgbClr val="0F1A2E"/>
                </a:solidFill>
                <a:latin typeface="맑은 고딕"/>
                <a:ea typeface="맑은 고딕"/>
              </a:rPr>
              <a:t>학습 </a:t>
            </a:r>
            <a:r>
              <a:rPr lang="en-US" altLang="ko-KR" sz="1500" b="1">
                <a:solidFill>
                  <a:srgbClr val="0F1A2E"/>
                </a:solidFill>
                <a:latin typeface="맑은 고딕"/>
                <a:ea typeface="맑은 고딕"/>
              </a:rPr>
              <a:t>488</a:t>
            </a:r>
            <a:r>
              <a:rPr lang="ko-KR" altLang="en-US" sz="1500" b="1">
                <a:solidFill>
                  <a:srgbClr val="0F1A2E"/>
                </a:solidFill>
                <a:latin typeface="맑은 고딕"/>
                <a:ea typeface="맑은 고딕"/>
              </a:rPr>
              <a:t>주 </a:t>
            </a:r>
            <a:r>
              <a:rPr lang="en-US" altLang="ko-KR" sz="1500" b="1">
                <a:solidFill>
                  <a:srgbClr val="0F1A2E"/>
                </a:solidFill>
                <a:latin typeface="맑은 고딕"/>
                <a:ea typeface="맑은 고딕"/>
              </a:rPr>
              <a:t>/ </a:t>
            </a:r>
            <a:r>
              <a:rPr lang="ko-KR" altLang="en-US" sz="1500" b="1">
                <a:solidFill>
                  <a:srgbClr val="0F1A2E"/>
                </a:solidFill>
                <a:latin typeface="맑은 고딕"/>
                <a:ea typeface="맑은 고딕"/>
              </a:rPr>
              <a:t>평가 </a:t>
            </a:r>
            <a:r>
              <a:rPr lang="en-US" altLang="ko-KR" sz="1500" b="1">
                <a:solidFill>
                  <a:srgbClr val="0F1A2E"/>
                </a:solidFill>
                <a:latin typeface="맑은 고딕"/>
                <a:ea typeface="맑은 고딕"/>
              </a:rPr>
              <a:t>122</a:t>
            </a:r>
            <a:r>
              <a:rPr lang="ko-KR" altLang="en-US" sz="1500" b="1">
                <a:solidFill>
                  <a:srgbClr val="0F1A2E"/>
                </a:solidFill>
                <a:latin typeface="맑은 고딕"/>
                <a:ea typeface="맑은 고딕"/>
              </a:rPr>
              <a:t>주</a:t>
            </a:r>
          </a:p>
        </p:txBody>
      </p:sp>
      <p:sp>
        <p:nvSpPr>
          <p:cNvPr id="191" name="TextBox 190">
            <a:extLst>
              <a:ext uri="{FF2B5EF4-FFF2-40B4-BE49-F238E27FC236}">
                <a16:creationId xmlns:a16="http://schemas.microsoft.com/office/drawing/2014/main" id="{47542242-C48A-4EFF-BB0D-6293F3C9325E}"/>
              </a:ext>
            </a:extLst>
          </p:cNvPr>
          <p:cNvSpPr txBox="1"/>
          <p:nvPr/>
        </p:nvSpPr>
        <p:spPr>
          <a:xfrm>
            <a:off x="914400" y="6400800"/>
            <a:ext cx="4572000" cy="330200"/>
          </a:xfrm>
          <a:prstGeom prst="rect">
            <a:avLst/>
          </a:prstGeom>
          <a:noFill/>
        </p:spPr>
        <p:txBody>
          <a:bodyPr vertOverflow="overflow" vert="horz" wrap="square" rtlCol="0" anchor="t">
            <a:normAutofit fontScale="92500" lnSpcReduction="10000"/>
          </a:bodyPr>
          <a:lstStyle/>
          <a:p>
            <a:pPr algn="l"/>
            <a:r>
              <a:rPr lang="ko-KR" altLang="en-US" b="1">
                <a:solidFill>
                  <a:srgbClr val="0F1A2E"/>
                </a:solidFill>
                <a:latin typeface="맑은 고딕"/>
                <a:ea typeface="맑은 고딕"/>
              </a:rPr>
              <a:t>② 모델 입력용 </a:t>
            </a:r>
            <a:r>
              <a:rPr lang="en-US" altLang="ko-KR" b="1">
                <a:solidFill>
                  <a:srgbClr val="0F1A2E"/>
                </a:solidFill>
                <a:latin typeface="맑은 고딕"/>
                <a:ea typeface="맑은 고딕"/>
              </a:rPr>
              <a:t>Z-score </a:t>
            </a:r>
            <a:r>
              <a:rPr lang="ko-KR" altLang="en-US" b="1">
                <a:solidFill>
                  <a:srgbClr val="0F1A2E"/>
                </a:solidFill>
                <a:latin typeface="맑은 고딕"/>
                <a:ea typeface="맑은 고딕"/>
              </a:rPr>
              <a:t>표준화</a:t>
            </a:r>
          </a:p>
        </p:txBody>
      </p:sp>
      <p:sp>
        <p:nvSpPr>
          <p:cNvPr id="192" name="직사각형 191">
            <a:extLst>
              <a:ext uri="{FF2B5EF4-FFF2-40B4-BE49-F238E27FC236}">
                <a16:creationId xmlns:a16="http://schemas.microsoft.com/office/drawing/2014/main" id="{1B10D5B3-2714-47F6-988C-DFDAC2765687}"/>
              </a:ext>
            </a:extLst>
          </p:cNvPr>
          <p:cNvSpPr/>
          <p:nvPr/>
        </p:nvSpPr>
        <p:spPr>
          <a:xfrm>
            <a:off x="914400" y="6858000"/>
            <a:ext cx="4191000" cy="16764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93" name="TextBox 192">
            <a:extLst>
              <a:ext uri="{FF2B5EF4-FFF2-40B4-BE49-F238E27FC236}">
                <a16:creationId xmlns:a16="http://schemas.microsoft.com/office/drawing/2014/main" id="{9C25D8C7-0D41-43CA-B9C5-E782091BF36B}"/>
              </a:ext>
            </a:extLst>
          </p:cNvPr>
          <p:cNvSpPr txBox="1"/>
          <p:nvPr/>
        </p:nvSpPr>
        <p:spPr>
          <a:xfrm>
            <a:off x="1244600" y="7086600"/>
            <a:ext cx="1905000" cy="279400"/>
          </a:xfrm>
          <a:prstGeom prst="rect">
            <a:avLst/>
          </a:prstGeom>
          <a:noFill/>
        </p:spPr>
        <p:txBody>
          <a:bodyPr vertOverflow="overflow" vert="horz" wrap="square" rtlCol="0" anchor="t">
            <a:normAutofit fontScale="92500" lnSpcReduction="10000"/>
          </a:bodyPr>
          <a:lstStyle/>
          <a:p>
            <a:pPr algn="l"/>
            <a:r>
              <a:rPr lang="ko-KR" altLang="en-US" sz="1400" b="1">
                <a:solidFill>
                  <a:srgbClr val="35C6E8"/>
                </a:solidFill>
                <a:latin typeface="맑은 고딕"/>
                <a:ea typeface="맑은 고딕"/>
              </a:rPr>
              <a:t>표준화 계산</a:t>
            </a:r>
          </a:p>
        </p:txBody>
      </p:sp>
      <p:sp>
        <p:nvSpPr>
          <p:cNvPr id="194" name="TextBox 193">
            <a:extLst>
              <a:ext uri="{FF2B5EF4-FFF2-40B4-BE49-F238E27FC236}">
                <a16:creationId xmlns:a16="http://schemas.microsoft.com/office/drawing/2014/main" id="{05133E66-D7C2-4836-864D-ED1745E167BA}"/>
              </a:ext>
            </a:extLst>
          </p:cNvPr>
          <p:cNvSpPr txBox="1"/>
          <p:nvPr/>
        </p:nvSpPr>
        <p:spPr>
          <a:xfrm>
            <a:off x="1244600" y="7493000"/>
            <a:ext cx="3429000" cy="457200"/>
          </a:xfrm>
          <a:prstGeom prst="rect">
            <a:avLst/>
          </a:prstGeom>
          <a:noFill/>
        </p:spPr>
        <p:txBody>
          <a:bodyPr vertOverflow="overflow" vert="horz" wrap="square" rtlCol="0" anchor="t">
            <a:normAutofit fontScale="85000" lnSpcReduction="10000"/>
          </a:bodyPr>
          <a:lstStyle/>
          <a:p>
            <a:pPr algn="l"/>
            <a:r>
              <a:rPr lang="en-US" altLang="ko-KR" sz="1700" b="1">
                <a:solidFill>
                  <a:srgbClr val="FFFFFF"/>
                </a:solidFill>
                <a:latin typeface="맑은 고딕"/>
                <a:ea typeface="맑은 고딕"/>
              </a:rPr>
              <a:t>(</a:t>
            </a:r>
            <a:r>
              <a:rPr lang="ko-KR" altLang="en-US" sz="1700" b="1">
                <a:solidFill>
                  <a:srgbClr val="FFFFFF"/>
                </a:solidFill>
                <a:latin typeface="맑은 고딕"/>
                <a:ea typeface="맑은 고딕"/>
              </a:rPr>
              <a:t>원래 값 − 학습 평균</a:t>
            </a:r>
            <a:r>
              <a:rPr lang="en-US" altLang="ko-KR" sz="1700" b="1">
                <a:solidFill>
                  <a:srgbClr val="FFFFFF"/>
                </a:solidFill>
                <a:latin typeface="맑은 고딕"/>
                <a:ea typeface="맑은 고딕"/>
              </a:rPr>
              <a:t>) ÷ </a:t>
            </a:r>
            <a:r>
              <a:rPr lang="ko-KR" altLang="en-US" sz="1700" b="1">
                <a:solidFill>
                  <a:srgbClr val="FFFFFF"/>
                </a:solidFill>
                <a:latin typeface="맑은 고딕"/>
                <a:ea typeface="맑은 고딕"/>
              </a:rPr>
              <a:t>학습 표준편차</a:t>
            </a:r>
          </a:p>
        </p:txBody>
      </p:sp>
      <p:sp>
        <p:nvSpPr>
          <p:cNvPr id="195" name="TextBox 194">
            <a:extLst>
              <a:ext uri="{FF2B5EF4-FFF2-40B4-BE49-F238E27FC236}">
                <a16:creationId xmlns:a16="http://schemas.microsoft.com/office/drawing/2014/main" id="{1D55B2C5-D814-463C-9400-4F0D48FDD37F}"/>
              </a:ext>
            </a:extLst>
          </p:cNvPr>
          <p:cNvSpPr txBox="1"/>
          <p:nvPr/>
        </p:nvSpPr>
        <p:spPr>
          <a:xfrm>
            <a:off x="1244600" y="8051800"/>
            <a:ext cx="3429000" cy="355600"/>
          </a:xfrm>
          <a:prstGeom prst="rect">
            <a:avLst/>
          </a:prstGeom>
          <a:noFill/>
        </p:spPr>
        <p:txBody>
          <a:bodyPr vertOverflow="overflow" vert="horz" wrap="square" rtlCol="0" anchor="t">
            <a:normAutofit fontScale="85000" lnSpcReduction="20000"/>
          </a:bodyPr>
          <a:lstStyle/>
          <a:p>
            <a:pPr algn="l"/>
            <a:r>
              <a:rPr lang="ko-KR" altLang="en-US" sz="1150">
                <a:solidFill>
                  <a:srgbClr val="DCE5F3"/>
                </a:solidFill>
                <a:latin typeface="맑은 고딕"/>
                <a:ea typeface="맑은 고딕"/>
              </a:rPr>
              <a:t>예</a:t>
            </a:r>
            <a:r>
              <a:rPr lang="en-US" altLang="ko-KR" sz="1150">
                <a:solidFill>
                  <a:srgbClr val="DCE5F3"/>
                </a:solidFill>
                <a:latin typeface="맑은 고딕"/>
                <a:ea typeface="맑은 고딕"/>
              </a:rPr>
              <a:t>: </a:t>
            </a:r>
            <a:r>
              <a:rPr lang="ko-KR" altLang="en-US" sz="1150">
                <a:solidFill>
                  <a:srgbClr val="DCE5F3"/>
                </a:solidFill>
                <a:latin typeface="맑은 고딕"/>
                <a:ea typeface="맑은 고딕"/>
              </a:rPr>
              <a:t>평균 </a:t>
            </a:r>
            <a:r>
              <a:rPr lang="en-US" altLang="ko-KR" sz="1150">
                <a:solidFill>
                  <a:srgbClr val="DCE5F3"/>
                </a:solidFill>
                <a:latin typeface="맑은 고딕"/>
                <a:ea typeface="맑은 고딕"/>
              </a:rPr>
              <a:t>600</a:t>
            </a:r>
            <a:r>
              <a:rPr lang="ko-KR" altLang="en-US" sz="1150">
                <a:solidFill>
                  <a:srgbClr val="DCE5F3"/>
                </a:solidFill>
                <a:latin typeface="맑은 고딕"/>
                <a:ea typeface="맑은 고딕"/>
              </a:rPr>
              <a:t>원</a:t>
            </a:r>
            <a:r>
              <a:rPr lang="en-US" altLang="ko-KR" sz="1150">
                <a:solidFill>
                  <a:srgbClr val="DCE5F3"/>
                </a:solidFill>
                <a:latin typeface="맑은 고딕"/>
                <a:ea typeface="맑은 고딕"/>
              </a:rPr>
              <a:t>·</a:t>
            </a:r>
            <a:r>
              <a:rPr lang="ko-KR" altLang="en-US" sz="1150">
                <a:solidFill>
                  <a:srgbClr val="DCE5F3"/>
                </a:solidFill>
                <a:latin typeface="맑은 고딕"/>
                <a:ea typeface="맑은 고딕"/>
              </a:rPr>
              <a:t>표준편차 </a:t>
            </a:r>
            <a:r>
              <a:rPr lang="en-US" altLang="ko-KR" sz="1150">
                <a:solidFill>
                  <a:srgbClr val="DCE5F3"/>
                </a:solidFill>
                <a:latin typeface="맑은 고딕"/>
                <a:ea typeface="맑은 고딕"/>
              </a:rPr>
              <a:t>100</a:t>
            </a:r>
            <a:r>
              <a:rPr lang="ko-KR" altLang="en-US" sz="1150">
                <a:solidFill>
                  <a:srgbClr val="DCE5F3"/>
                </a:solidFill>
                <a:latin typeface="맑은 고딕"/>
                <a:ea typeface="맑은 고딕"/>
              </a:rPr>
              <a:t>원일 때
</a:t>
            </a:r>
            <a:r>
              <a:rPr lang="en-US" altLang="ko-KR" sz="1150">
                <a:solidFill>
                  <a:srgbClr val="DCE5F3"/>
                </a:solidFill>
                <a:latin typeface="맑은 고딕"/>
                <a:ea typeface="맑은 고딕"/>
              </a:rPr>
              <a:t>800</a:t>
            </a:r>
            <a:r>
              <a:rPr lang="ko-KR" altLang="en-US" sz="1150">
                <a:solidFill>
                  <a:srgbClr val="DCE5F3"/>
                </a:solidFill>
                <a:latin typeface="맑은 고딕"/>
                <a:ea typeface="맑은 고딕"/>
              </a:rPr>
              <a:t>원은 </a:t>
            </a:r>
            <a:r>
              <a:rPr lang="en-US" altLang="ko-KR" sz="1150">
                <a:solidFill>
                  <a:srgbClr val="DCE5F3"/>
                </a:solidFill>
                <a:latin typeface="맑은 고딕"/>
                <a:ea typeface="맑은 고딕"/>
              </a:rPr>
              <a:t>2 → </a:t>
            </a:r>
            <a:r>
              <a:rPr lang="ko-KR" altLang="en-US" sz="1150">
                <a:solidFill>
                  <a:srgbClr val="DCE5F3"/>
                </a:solidFill>
                <a:latin typeface="맑은 고딕"/>
                <a:ea typeface="맑은 고딕"/>
              </a:rPr>
              <a:t>평균보다 </a:t>
            </a:r>
            <a:r>
              <a:rPr lang="en-US" altLang="ko-KR" sz="1150">
                <a:solidFill>
                  <a:srgbClr val="DCE5F3"/>
                </a:solidFill>
                <a:latin typeface="맑은 고딕"/>
                <a:ea typeface="맑은 고딕"/>
              </a:rPr>
              <a:t>2σ </a:t>
            </a:r>
            <a:r>
              <a:rPr lang="ko-KR" altLang="en-US" sz="1150">
                <a:solidFill>
                  <a:srgbClr val="DCE5F3"/>
                </a:solidFill>
                <a:latin typeface="맑은 고딕"/>
                <a:ea typeface="맑은 고딕"/>
              </a:rPr>
              <a:t>높음</a:t>
            </a:r>
          </a:p>
        </p:txBody>
      </p:sp>
      <p:sp>
        <p:nvSpPr>
          <p:cNvPr id="196" name="직사각형 195">
            <a:extLst>
              <a:ext uri="{FF2B5EF4-FFF2-40B4-BE49-F238E27FC236}">
                <a16:creationId xmlns:a16="http://schemas.microsoft.com/office/drawing/2014/main" id="{C7A9C829-47BD-46A4-A53E-61C61FA56FA8}"/>
              </a:ext>
            </a:extLst>
          </p:cNvPr>
          <p:cNvSpPr/>
          <p:nvPr/>
        </p:nvSpPr>
        <p:spPr>
          <a:xfrm>
            <a:off x="5334000" y="6858000"/>
            <a:ext cx="5461000" cy="1676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97" name="TextBox 196">
            <a:extLst>
              <a:ext uri="{FF2B5EF4-FFF2-40B4-BE49-F238E27FC236}">
                <a16:creationId xmlns:a16="http://schemas.microsoft.com/office/drawing/2014/main" id="{1752F343-D980-4543-B974-8B8E88D6DBD1}"/>
              </a:ext>
            </a:extLst>
          </p:cNvPr>
          <p:cNvSpPr txBox="1"/>
          <p:nvPr/>
        </p:nvSpPr>
        <p:spPr>
          <a:xfrm>
            <a:off x="5664200" y="7086600"/>
            <a:ext cx="1651000" cy="279400"/>
          </a:xfrm>
          <a:prstGeom prst="rect">
            <a:avLst/>
          </a:prstGeom>
          <a:noFill/>
        </p:spPr>
        <p:txBody>
          <a:bodyPr vertOverflow="overflow" vert="horz" wrap="square" rtlCol="0" anchor="t">
            <a:normAutofit fontScale="92500" lnSpcReduction="10000"/>
          </a:bodyPr>
          <a:lstStyle/>
          <a:p>
            <a:pPr algn="l"/>
            <a:r>
              <a:rPr lang="ko-KR" altLang="en-US" sz="1400" b="1">
                <a:solidFill>
                  <a:srgbClr val="4B73FF"/>
                </a:solidFill>
                <a:latin typeface="맑은 고딕"/>
                <a:ea typeface="맑은 고딕"/>
              </a:rPr>
              <a:t>적용 방법</a:t>
            </a:r>
          </a:p>
        </p:txBody>
      </p:sp>
      <p:sp>
        <p:nvSpPr>
          <p:cNvPr id="198" name="TextBox 197">
            <a:extLst>
              <a:ext uri="{FF2B5EF4-FFF2-40B4-BE49-F238E27FC236}">
                <a16:creationId xmlns:a16="http://schemas.microsoft.com/office/drawing/2014/main" id="{5FFD0461-C659-49A8-87D8-9E8C08F5543C}"/>
              </a:ext>
            </a:extLst>
          </p:cNvPr>
          <p:cNvSpPr txBox="1"/>
          <p:nvPr/>
        </p:nvSpPr>
        <p:spPr>
          <a:xfrm>
            <a:off x="5664200" y="7493000"/>
            <a:ext cx="4699000" cy="762000"/>
          </a:xfrm>
          <a:prstGeom prst="rect">
            <a:avLst/>
          </a:prstGeom>
          <a:noFill/>
        </p:spPr>
        <p:txBody>
          <a:bodyPr vertOverflow="overflow" vert="horz" wrap="square" rtlCol="0" anchor="t">
            <a:normAutofit/>
          </a:bodyPr>
          <a:lstStyle/>
          <a:p>
            <a:pPr algn="l"/>
            <a:r>
              <a:rPr lang="en-US" altLang="ko-KR" sz="1200">
                <a:solidFill>
                  <a:srgbClr val="0F1A2E"/>
                </a:solidFill>
                <a:latin typeface="맑은 고딕"/>
                <a:ea typeface="맑은 고딕"/>
              </a:rPr>
              <a:t>• </a:t>
            </a:r>
            <a:r>
              <a:rPr lang="ko-KR" altLang="en-US" sz="1200">
                <a:solidFill>
                  <a:srgbClr val="0F1A2E"/>
                </a:solidFill>
                <a:latin typeface="맑은 고딕"/>
                <a:ea typeface="맑은 고딕"/>
              </a:rPr>
              <a:t>당주</a:t>
            </a:r>
            <a:r>
              <a:rPr lang="en-US" altLang="ko-KR" sz="1200">
                <a:solidFill>
                  <a:srgbClr val="0F1A2E"/>
                </a:solidFill>
                <a:latin typeface="맑은 고딕"/>
                <a:ea typeface="맑은 고딕"/>
              </a:rPr>
              <a:t>·1</a:t>
            </a:r>
            <a:r>
              <a:rPr lang="ko-KR" altLang="en-US" sz="1200">
                <a:solidFill>
                  <a:srgbClr val="0F1A2E"/>
                </a:solidFill>
                <a:latin typeface="맑은 고딕"/>
                <a:ea typeface="맑은 고딕"/>
              </a:rPr>
              <a:t>주 전</a:t>
            </a:r>
            <a:r>
              <a:rPr lang="en-US" altLang="ko-KR" sz="1200">
                <a:solidFill>
                  <a:srgbClr val="0F1A2E"/>
                </a:solidFill>
                <a:latin typeface="맑은 고딕"/>
                <a:ea typeface="맑은 고딕"/>
              </a:rPr>
              <a:t>·2</a:t>
            </a:r>
            <a:r>
              <a:rPr lang="ko-KR" altLang="en-US" sz="1200">
                <a:solidFill>
                  <a:srgbClr val="0F1A2E"/>
                </a:solidFill>
                <a:latin typeface="맑은 고딕"/>
                <a:ea typeface="맑은 고딕"/>
              </a:rPr>
              <a:t>주 전 국제가격과 같은 주 환율
</a:t>
            </a:r>
            <a:r>
              <a:rPr lang="en-US" altLang="ko-KR" sz="1200">
                <a:solidFill>
                  <a:srgbClr val="0F1A2E"/>
                </a:solidFill>
                <a:latin typeface="맑은 고딕"/>
                <a:ea typeface="맑은 고딕"/>
              </a:rPr>
              <a:t>• </a:t>
            </a:r>
            <a:r>
              <a:rPr lang="ko-KR" altLang="en-US" sz="1200">
                <a:solidFill>
                  <a:srgbClr val="0F1A2E"/>
                </a:solidFill>
                <a:latin typeface="맑은 고딕"/>
                <a:ea typeface="맑은 고딕"/>
              </a:rPr>
              <a:t>저장값을 원단위로 복원한 뒤 예측 기점 이전 자료로 재표준화
</a:t>
            </a:r>
            <a:r>
              <a:rPr lang="en-US" altLang="ko-KR" sz="1200">
                <a:solidFill>
                  <a:srgbClr val="0F1A2E"/>
                </a:solidFill>
                <a:latin typeface="맑은 고딕"/>
                <a:ea typeface="맑은 고딕"/>
              </a:rPr>
              <a:t>• </a:t>
            </a:r>
            <a:r>
              <a:rPr lang="ko-KR" altLang="en-US" sz="1200">
                <a:solidFill>
                  <a:srgbClr val="0F1A2E"/>
                </a:solidFill>
                <a:latin typeface="맑은 고딕"/>
                <a:ea typeface="맑은 고딕"/>
              </a:rPr>
              <a:t>같은 기준을 해당 학습</a:t>
            </a:r>
            <a:r>
              <a:rPr lang="en-US" altLang="ko-KR" sz="1200">
                <a:solidFill>
                  <a:srgbClr val="0F1A2E"/>
                </a:solidFill>
                <a:latin typeface="맑은 고딕"/>
                <a:ea typeface="맑은 고딕"/>
              </a:rPr>
              <a:t>·</a:t>
            </a:r>
            <a:r>
              <a:rPr lang="ko-KR" altLang="en-US" sz="1200">
                <a:solidFill>
                  <a:srgbClr val="0F1A2E"/>
                </a:solidFill>
                <a:latin typeface="맑은 고딕"/>
                <a:ea typeface="맑은 고딕"/>
              </a:rPr>
              <a:t>예측 구간에 적용</a:t>
            </a:r>
          </a:p>
        </p:txBody>
      </p:sp>
      <p:sp>
        <p:nvSpPr>
          <p:cNvPr id="199" name="TextBox 198">
            <a:extLst>
              <a:ext uri="{FF2B5EF4-FFF2-40B4-BE49-F238E27FC236}">
                <a16:creationId xmlns:a16="http://schemas.microsoft.com/office/drawing/2014/main" id="{CC87D91B-9498-48FB-8BD2-95BDC5E7F172}"/>
              </a:ext>
            </a:extLst>
          </p:cNvPr>
          <p:cNvSpPr txBox="1"/>
          <p:nvPr/>
        </p:nvSpPr>
        <p:spPr>
          <a:xfrm>
            <a:off x="5664200" y="8255000"/>
            <a:ext cx="4699000" cy="203200"/>
          </a:xfrm>
          <a:prstGeom prst="rect">
            <a:avLst/>
          </a:prstGeom>
          <a:noFill/>
        </p:spPr>
        <p:txBody>
          <a:bodyPr vertOverflow="overflow" vert="horz" wrap="square" rtlCol="0" anchor="t">
            <a:normAutofit fontScale="85000" lnSpcReduction="20000"/>
          </a:bodyPr>
          <a:lstStyle/>
          <a:p>
            <a:pPr algn="l"/>
            <a:r>
              <a:rPr lang="ko-KR" altLang="en-US" sz="1050" b="1">
                <a:solidFill>
                  <a:srgbClr val="4B73FF"/>
                </a:solidFill>
                <a:latin typeface="맑은 고딕"/>
                <a:ea typeface="맑은 고딕"/>
              </a:rPr>
              <a:t>각 기점의 미래</a:t>
            </a:r>
            <a:r>
              <a:rPr lang="en-US" altLang="ko-KR" sz="1050" b="1">
                <a:solidFill>
                  <a:srgbClr val="4B73FF"/>
                </a:solidFill>
                <a:latin typeface="맑은 고딕"/>
                <a:ea typeface="맑은 고딕"/>
              </a:rPr>
              <a:t>·</a:t>
            </a:r>
            <a:r>
              <a:rPr lang="ko-KR" altLang="en-US" sz="1050" b="1">
                <a:solidFill>
                  <a:srgbClr val="4B73FF"/>
                </a:solidFill>
                <a:latin typeface="맑은 고딕"/>
                <a:ea typeface="맑은 고딕"/>
              </a:rPr>
              <a:t>평가 데이터는 기준 계산에서 제외 → 정보 유출 방지</a:t>
            </a:r>
          </a:p>
        </p:txBody>
      </p:sp>
      <p:sp>
        <p:nvSpPr>
          <p:cNvPr id="200" name="직사각형 199">
            <a:extLst>
              <a:ext uri="{FF2B5EF4-FFF2-40B4-BE49-F238E27FC236}">
                <a16:creationId xmlns:a16="http://schemas.microsoft.com/office/drawing/2014/main" id="{7CEBA8CD-BE24-4DDA-AA50-72195E73BC91}"/>
              </a:ext>
            </a:extLst>
          </p:cNvPr>
          <p:cNvSpPr/>
          <p:nvPr/>
        </p:nvSpPr>
        <p:spPr>
          <a:xfrm>
            <a:off x="11023600" y="6858000"/>
            <a:ext cx="5054600" cy="1676400"/>
          </a:xfrm>
          <a:prstGeom prst="rect">
            <a:avLst/>
          </a:prstGeom>
          <a:solidFill>
            <a:srgbClr val="FFF5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01" name="TextBox 200">
            <a:extLst>
              <a:ext uri="{FF2B5EF4-FFF2-40B4-BE49-F238E27FC236}">
                <a16:creationId xmlns:a16="http://schemas.microsoft.com/office/drawing/2014/main" id="{B1E533C0-EEE4-4ABF-81AF-FEF7843D0F1B}"/>
              </a:ext>
            </a:extLst>
          </p:cNvPr>
          <p:cNvSpPr txBox="1"/>
          <p:nvPr/>
        </p:nvSpPr>
        <p:spPr>
          <a:xfrm>
            <a:off x="11353800" y="7086600"/>
            <a:ext cx="2794000" cy="279400"/>
          </a:xfrm>
          <a:prstGeom prst="rect">
            <a:avLst/>
          </a:prstGeom>
          <a:noFill/>
        </p:spPr>
        <p:txBody>
          <a:bodyPr vertOverflow="overflow" vert="horz" wrap="square" rtlCol="0" anchor="t">
            <a:normAutofit fontScale="92500" lnSpcReduction="10000"/>
          </a:bodyPr>
          <a:lstStyle/>
          <a:p>
            <a:pPr algn="l"/>
            <a:r>
              <a:rPr lang="ko-KR" altLang="en-US" sz="1400" b="1">
                <a:solidFill>
                  <a:srgbClr val="C26A00"/>
                </a:solidFill>
                <a:latin typeface="맑은 고딕"/>
                <a:ea typeface="맑은 고딕"/>
              </a:rPr>
              <a:t>유지 항목과 현재 상태</a:t>
            </a:r>
          </a:p>
        </p:txBody>
      </p:sp>
      <p:sp>
        <p:nvSpPr>
          <p:cNvPr id="202" name="TextBox 201">
            <a:extLst>
              <a:ext uri="{FF2B5EF4-FFF2-40B4-BE49-F238E27FC236}">
                <a16:creationId xmlns:a16="http://schemas.microsoft.com/office/drawing/2014/main" id="{A3DA8B2B-BAD4-42B7-A9CB-78C74EBC4337}"/>
              </a:ext>
            </a:extLst>
          </p:cNvPr>
          <p:cNvSpPr txBox="1"/>
          <p:nvPr/>
        </p:nvSpPr>
        <p:spPr>
          <a:xfrm>
            <a:off x="11353800" y="7493000"/>
            <a:ext cx="4318000" cy="685800"/>
          </a:xfrm>
          <a:prstGeom prst="rect">
            <a:avLst/>
          </a:prstGeom>
          <a:noFill/>
        </p:spPr>
        <p:txBody>
          <a:bodyPr vertOverflow="overflow" vert="horz" wrap="square" rtlCol="0" anchor="t">
            <a:normAutofit/>
          </a:bodyPr>
          <a:lstStyle/>
          <a:p>
            <a:pPr algn="l"/>
            <a:r>
              <a:rPr lang="en-US" altLang="ko-KR" sz="1200">
                <a:solidFill>
                  <a:srgbClr val="6B4A20"/>
                </a:solidFill>
                <a:latin typeface="맑은 고딕"/>
                <a:ea typeface="맑은 고딕"/>
              </a:rPr>
              <a:t>• </a:t>
            </a:r>
            <a:r>
              <a:rPr lang="ko-KR" altLang="en-US" sz="1200">
                <a:solidFill>
                  <a:srgbClr val="6B4A20"/>
                </a:solidFill>
                <a:latin typeface="맑은 고딕"/>
                <a:ea typeface="맑은 고딕"/>
              </a:rPr>
              <a:t>세전 공급가격은 원</a:t>
            </a:r>
            <a:r>
              <a:rPr lang="en-US" altLang="ko-KR" sz="1200">
                <a:solidFill>
                  <a:srgbClr val="6B4A20"/>
                </a:solidFill>
                <a:latin typeface="맑은 고딕"/>
                <a:ea typeface="맑은 고딕"/>
              </a:rPr>
              <a:t>/L </a:t>
            </a:r>
            <a:r>
              <a:rPr lang="ko-KR" altLang="en-US" sz="1200">
                <a:solidFill>
                  <a:srgbClr val="6B4A20"/>
                </a:solidFill>
                <a:latin typeface="맑은 고딕"/>
                <a:ea typeface="맑은 고딕"/>
              </a:rPr>
              <a:t>그대로 유지
</a:t>
            </a:r>
            <a:r>
              <a:rPr lang="en-US" altLang="ko-KR" sz="1200">
                <a:solidFill>
                  <a:srgbClr val="6B4A20"/>
                </a:solidFill>
                <a:latin typeface="맑은 고딕"/>
                <a:ea typeface="맑은 고딕"/>
              </a:rPr>
              <a:t>• </a:t>
            </a:r>
            <a:r>
              <a:rPr lang="ko-KR" altLang="en-US" sz="1200">
                <a:solidFill>
                  <a:srgbClr val="6B4A20"/>
                </a:solidFill>
                <a:latin typeface="맑은 고딕"/>
                <a:ea typeface="맑은 고딕"/>
              </a:rPr>
              <a:t>급등값은 삭제</a:t>
            </a:r>
            <a:r>
              <a:rPr lang="en-US" altLang="ko-KR" sz="1200">
                <a:solidFill>
                  <a:srgbClr val="6B4A20"/>
                </a:solidFill>
                <a:latin typeface="맑은 고딕"/>
                <a:ea typeface="맑은 고딕"/>
              </a:rPr>
              <a:t>·</a:t>
            </a:r>
            <a:r>
              <a:rPr lang="ko-KR" altLang="en-US" sz="1200">
                <a:solidFill>
                  <a:srgbClr val="6B4A20"/>
                </a:solidFill>
                <a:latin typeface="맑은 고딕"/>
                <a:ea typeface="맑은 고딕"/>
              </a:rPr>
              <a:t>절단하지 않음
</a:t>
            </a:r>
            <a:r>
              <a:rPr lang="en-US" altLang="ko-KR" sz="1200">
                <a:solidFill>
                  <a:srgbClr val="6B4A20"/>
                </a:solidFill>
                <a:latin typeface="맑은 고딕"/>
                <a:ea typeface="맑은 고딕"/>
              </a:rPr>
              <a:t>• csv/normalized/</a:t>
            </a:r>
            <a:r>
              <a:rPr lang="ko-KR" altLang="en-US" sz="1200">
                <a:solidFill>
                  <a:srgbClr val="6B4A20"/>
                </a:solidFill>
                <a:latin typeface="맑은 고딕"/>
                <a:ea typeface="맑은 고딕"/>
              </a:rPr>
              <a:t>의 </a:t>
            </a:r>
            <a:r>
              <a:rPr lang="en-US" altLang="ko-KR" sz="1200">
                <a:solidFill>
                  <a:srgbClr val="6B4A20"/>
                </a:solidFill>
                <a:latin typeface="맑은 고딕"/>
                <a:ea typeface="맑은 고딕"/>
              </a:rPr>
              <a:t>CSV·scaler.json </a:t>
            </a:r>
            <a:r>
              <a:rPr lang="ko-KR" altLang="en-US" sz="1200">
                <a:solidFill>
                  <a:srgbClr val="6B4A20"/>
                </a:solidFill>
                <a:latin typeface="맑은 고딕"/>
                <a:ea typeface="맑은 고딕"/>
              </a:rPr>
              <a:t>활용</a:t>
            </a:r>
          </a:p>
        </p:txBody>
      </p:sp>
      <p:sp>
        <p:nvSpPr>
          <p:cNvPr id="203" name="TextBox 202">
            <a:extLst>
              <a:ext uri="{FF2B5EF4-FFF2-40B4-BE49-F238E27FC236}">
                <a16:creationId xmlns:a16="http://schemas.microsoft.com/office/drawing/2014/main" id="{A2D5CBDF-FEA2-4D04-96C4-681774A93F3B}"/>
              </a:ext>
            </a:extLst>
          </p:cNvPr>
          <p:cNvSpPr txBox="1"/>
          <p:nvPr/>
        </p:nvSpPr>
        <p:spPr>
          <a:xfrm>
            <a:off x="11353800" y="8255000"/>
            <a:ext cx="4318000" cy="203200"/>
          </a:xfrm>
          <a:prstGeom prst="rect">
            <a:avLst/>
          </a:prstGeom>
          <a:noFill/>
        </p:spPr>
        <p:txBody>
          <a:bodyPr vertOverflow="overflow" vert="horz" wrap="square" rtlCol="0" anchor="t">
            <a:normAutofit fontScale="85000" lnSpcReduction="20000"/>
          </a:bodyPr>
          <a:lstStyle/>
          <a:p>
            <a:pPr algn="l"/>
            <a:r>
              <a:rPr lang="ko-KR" altLang="en-US" sz="1050" b="1">
                <a:solidFill>
                  <a:srgbClr val="C26A00"/>
                </a:solidFill>
                <a:latin typeface="맑은 고딕"/>
                <a:ea typeface="맑은 고딕"/>
              </a:rPr>
              <a:t>이번 회귀</a:t>
            </a:r>
            <a:r>
              <a:rPr lang="en-US" altLang="ko-KR" sz="1050" b="1">
                <a:solidFill>
                  <a:srgbClr val="C26A00"/>
                </a:solidFill>
                <a:latin typeface="맑은 고딕"/>
                <a:ea typeface="맑은 고딕"/>
              </a:rPr>
              <a:t>·TimesFM </a:t>
            </a:r>
            <a:r>
              <a:rPr lang="ko-KR" altLang="en-US" sz="1050" b="1">
                <a:solidFill>
                  <a:srgbClr val="C26A00"/>
                </a:solidFill>
                <a:latin typeface="맑은 고딕"/>
                <a:ea typeface="맑은 고딕"/>
              </a:rPr>
              <a:t>재분석에 정규화 입력을 실제 연결</a:t>
            </a:r>
          </a:p>
        </p:txBody>
      </p:sp>
      <p:sp>
        <p:nvSpPr>
          <p:cNvPr id="204" name="TextBox 203">
            <a:extLst>
              <a:ext uri="{FF2B5EF4-FFF2-40B4-BE49-F238E27FC236}">
                <a16:creationId xmlns:a16="http://schemas.microsoft.com/office/drawing/2014/main" id="{E678927D-8AD2-4CDD-8676-7349CBB8C5B9}"/>
              </a:ext>
            </a:extLst>
          </p:cNvPr>
          <p:cNvSpPr txBox="1"/>
          <p:nvPr/>
        </p:nvSpPr>
        <p:spPr>
          <a:xfrm>
            <a:off x="1066800" y="8940800"/>
            <a:ext cx="14986000" cy="203200"/>
          </a:xfrm>
          <a:prstGeom prst="rect">
            <a:avLst/>
          </a:prstGeom>
          <a:noFill/>
        </p:spPr>
        <p:txBody>
          <a:bodyPr vertOverflow="overflow" vert="horz" wrap="square" rtlCol="0" anchor="t">
            <a:normAutofit fontScale="92500" lnSpcReduction="20000"/>
          </a:bodyPr>
          <a:lstStyle/>
          <a:p>
            <a:pPr algn="l"/>
            <a:r>
              <a:rPr lang="ko-KR" altLang="en-US" sz="1000">
                <a:solidFill>
                  <a:srgbClr val="98A2B3"/>
                </a:solidFill>
                <a:latin typeface="맑은 고딕"/>
                <a:ea typeface="맑은 고딕"/>
              </a:rPr>
              <a:t>변경점</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국제가격과 환율의 크기 차이를 줄이고</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모든 교차검증 기점에서 과거 정보만 사용해 동일 조건으로 재분석</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463F028D-0C7E-4C8A-8F60-09CE33254C04}"/>
              </a:ext>
            </a:extLst>
          </p:cNvPr>
          <p:cNvSpPr/>
          <p:nvPr/>
        </p:nvSpPr>
        <p:spPr>
          <a:xfrm>
            <a:off x="1041400" y="914400"/>
            <a:ext cx="939800" cy="25400"/>
          </a:xfrm>
          <a:prstGeom prst="rect">
            <a:avLst/>
          </a:prstGeom>
          <a:solidFill>
            <a:srgbClr val="AAB2B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4" name="직사각형 43">
            <a:extLst>
              <a:ext uri="{FF2B5EF4-FFF2-40B4-BE49-F238E27FC236}">
                <a16:creationId xmlns:a16="http://schemas.microsoft.com/office/drawing/2014/main" id="{A2016D83-C152-4F60-AFEC-8BE07D0E5837}"/>
              </a:ext>
            </a:extLst>
          </p:cNvPr>
          <p:cNvSpPr/>
          <p:nvPr/>
        </p:nvSpPr>
        <p:spPr>
          <a:xfrm>
            <a:off x="1981200" y="914400"/>
            <a:ext cx="228600" cy="25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직사각형 44">
            <a:extLst>
              <a:ext uri="{FF2B5EF4-FFF2-40B4-BE49-F238E27FC236}">
                <a16:creationId xmlns:a16="http://schemas.microsoft.com/office/drawing/2014/main" id="{101E51AB-384A-4084-89F3-CA2EF9218536}"/>
              </a:ext>
            </a:extLst>
          </p:cNvPr>
          <p:cNvSpPr/>
          <p:nvPr/>
        </p:nvSpPr>
        <p:spPr>
          <a:xfrm>
            <a:off x="2209800" y="914400"/>
            <a:ext cx="13017500" cy="25400"/>
          </a:xfrm>
          <a:prstGeom prst="rect">
            <a:avLst/>
          </a:prstGeom>
          <a:solidFill>
            <a:srgbClr val="D5D9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TextBox 45">
            <a:extLst>
              <a:ext uri="{FF2B5EF4-FFF2-40B4-BE49-F238E27FC236}">
                <a16:creationId xmlns:a16="http://schemas.microsoft.com/office/drawing/2014/main" id="{078D3EF7-6F97-4DB4-84BF-3150C47DAB3D}"/>
              </a:ext>
            </a:extLst>
          </p:cNvPr>
          <p:cNvSpPr txBox="1"/>
          <p:nvPr/>
        </p:nvSpPr>
        <p:spPr>
          <a:xfrm>
            <a:off x="1092200" y="1498600"/>
            <a:ext cx="8890000" cy="330200"/>
          </a:xfrm>
          <a:prstGeom prst="rect">
            <a:avLst/>
          </a:prstGeom>
          <a:noFill/>
        </p:spPr>
        <p:txBody>
          <a:bodyPr vertOverflow="overflow" vert="horz" wrap="square" rtlCol="0" anchor="t">
            <a:normAutofit/>
          </a:bodyPr>
          <a:lstStyle/>
          <a:p>
            <a:pPr algn="l"/>
            <a:r>
              <a:rPr lang="en-US" altLang="ko-KR" sz="1400">
                <a:solidFill>
                  <a:srgbClr val="8793A6"/>
                </a:solidFill>
                <a:latin typeface="맑은 고딕"/>
                <a:ea typeface="맑은 고딕"/>
              </a:rPr>
              <a:t>EXPANDING-WINDOW CROSS-VALIDATION</a:t>
            </a:r>
            <a:endParaRPr lang="ko-KR" altLang="en-US" sz="1400">
              <a:solidFill>
                <a:srgbClr val="8793A6"/>
              </a:solidFill>
              <a:latin typeface="맑은 고딕"/>
              <a:ea typeface="맑은 고딕"/>
            </a:endParaRPr>
          </a:p>
        </p:txBody>
      </p:sp>
      <p:sp>
        <p:nvSpPr>
          <p:cNvPr id="47" name="TextBox 46">
            <a:extLst>
              <a:ext uri="{FF2B5EF4-FFF2-40B4-BE49-F238E27FC236}">
                <a16:creationId xmlns:a16="http://schemas.microsoft.com/office/drawing/2014/main" id="{007AD135-2D76-48C3-99B7-A1CA6DDEEFF2}"/>
              </a:ext>
            </a:extLst>
          </p:cNvPr>
          <p:cNvSpPr txBox="1"/>
          <p:nvPr/>
        </p:nvSpPr>
        <p:spPr>
          <a:xfrm>
            <a:off x="1041400" y="1981200"/>
            <a:ext cx="15494000" cy="736600"/>
          </a:xfrm>
          <a:prstGeom prst="rect">
            <a:avLst/>
          </a:prstGeom>
          <a:noFill/>
        </p:spPr>
        <p:txBody>
          <a:bodyPr vertOverflow="overflow" vert="horz" wrap="square" rtlCol="0" anchor="t">
            <a:normAutofit/>
          </a:bodyPr>
          <a:lstStyle/>
          <a:p>
            <a:pPr algn="l"/>
            <a:r>
              <a:rPr lang="ko-KR" altLang="en-US" sz="2900" b="1">
                <a:solidFill>
                  <a:srgbClr val="0F1A2E"/>
                </a:solidFill>
                <a:latin typeface="맑은 고딕"/>
                <a:ea typeface="맑은 고딕"/>
              </a:rPr>
              <a:t>과거만 학습하고 다음 </a:t>
            </a:r>
            <a:r>
              <a:rPr lang="en-US" altLang="ko-KR" sz="2900" b="1">
                <a:solidFill>
                  <a:srgbClr val="0F1A2E"/>
                </a:solidFill>
                <a:latin typeface="맑은 고딕"/>
                <a:ea typeface="맑은 고딕"/>
              </a:rPr>
              <a:t>32</a:t>
            </a:r>
            <a:r>
              <a:rPr lang="ko-KR" altLang="en-US" sz="2900" b="1">
                <a:solidFill>
                  <a:srgbClr val="0F1A2E"/>
                </a:solidFill>
                <a:latin typeface="맑은 고딕"/>
                <a:ea typeface="맑은 고딕"/>
              </a:rPr>
              <a:t>주를 예측하는 과정을 </a:t>
            </a:r>
            <a:r>
              <a:rPr lang="en-US" altLang="ko-KR" sz="2900" b="1">
                <a:solidFill>
                  <a:srgbClr val="0F1A2E"/>
                </a:solidFill>
                <a:latin typeface="맑은 고딕"/>
                <a:ea typeface="맑은 고딕"/>
              </a:rPr>
              <a:t>22</a:t>
            </a:r>
            <a:r>
              <a:rPr lang="ko-KR" altLang="en-US" sz="2900" b="1">
                <a:solidFill>
                  <a:srgbClr val="0F1A2E"/>
                </a:solidFill>
                <a:latin typeface="맑은 고딕"/>
                <a:ea typeface="맑은 고딕"/>
              </a:rPr>
              <a:t>번 반복합니다</a:t>
            </a:r>
          </a:p>
        </p:txBody>
      </p:sp>
      <p:sp>
        <p:nvSpPr>
          <p:cNvPr id="48" name="TextBox 47">
            <a:extLst>
              <a:ext uri="{FF2B5EF4-FFF2-40B4-BE49-F238E27FC236}">
                <a16:creationId xmlns:a16="http://schemas.microsoft.com/office/drawing/2014/main" id="{B3CA1922-5D84-4366-9526-48BD5BC6AADD}"/>
              </a:ext>
            </a:extLst>
          </p:cNvPr>
          <p:cNvSpPr txBox="1"/>
          <p:nvPr/>
        </p:nvSpPr>
        <p:spPr>
          <a:xfrm>
            <a:off x="1092200" y="2819400"/>
            <a:ext cx="14732000" cy="431800"/>
          </a:xfrm>
          <a:prstGeom prst="rect">
            <a:avLst/>
          </a:prstGeom>
          <a:noFill/>
        </p:spPr>
        <p:txBody>
          <a:bodyPr vertOverflow="overflow" vert="horz" wrap="square" rtlCol="0" anchor="t">
            <a:normAutofit/>
          </a:bodyPr>
          <a:lstStyle/>
          <a:p>
            <a:pPr algn="l"/>
            <a:r>
              <a:rPr lang="ko-KR" altLang="en-US" sz="1600">
                <a:solidFill>
                  <a:srgbClr val="7E899B"/>
                </a:solidFill>
                <a:latin typeface="맑은 고딕"/>
                <a:ea typeface="맑은 고딕"/>
              </a:rPr>
              <a:t>시간 순서를 지켜 실제 예측 환경을 재현하고</a:t>
            </a:r>
            <a:r>
              <a:rPr lang="en-US" altLang="ko-KR" sz="1600">
                <a:solidFill>
                  <a:srgbClr val="7E899B"/>
                </a:solidFill>
                <a:latin typeface="맑은 고딕"/>
                <a:ea typeface="맑은 고딕"/>
              </a:rPr>
              <a:t>, </a:t>
            </a:r>
            <a:r>
              <a:rPr lang="ko-KR" altLang="en-US" sz="1600">
                <a:solidFill>
                  <a:srgbClr val="7E899B"/>
                </a:solidFill>
                <a:latin typeface="맑은 고딕"/>
                <a:ea typeface="맑은 고딕"/>
              </a:rPr>
              <a:t>특정 시점에만 잘 맞는 모델을 피하기 위한 검증 방식입니다</a:t>
            </a:r>
            <a:r>
              <a:rPr lang="en-US" altLang="ko-KR" sz="1600">
                <a:solidFill>
                  <a:srgbClr val="7E899B"/>
                </a:solidFill>
                <a:latin typeface="맑은 고딕"/>
                <a:ea typeface="맑은 고딕"/>
              </a:rPr>
              <a:t>.</a:t>
            </a:r>
            <a:endParaRPr lang="ko-KR" altLang="en-US" sz="1600">
              <a:solidFill>
                <a:srgbClr val="7E899B"/>
              </a:solidFill>
              <a:latin typeface="맑은 고딕"/>
              <a:ea typeface="맑은 고딕"/>
            </a:endParaRPr>
          </a:p>
        </p:txBody>
      </p:sp>
      <p:sp>
        <p:nvSpPr>
          <p:cNvPr id="49" name="TextBox 48">
            <a:extLst>
              <a:ext uri="{FF2B5EF4-FFF2-40B4-BE49-F238E27FC236}">
                <a16:creationId xmlns:a16="http://schemas.microsoft.com/office/drawing/2014/main" id="{F23CF06B-718F-4EDD-BDD0-4F66F77AB9C1}"/>
              </a:ext>
            </a:extLst>
          </p:cNvPr>
          <p:cNvSpPr txBox="1"/>
          <p:nvPr/>
        </p:nvSpPr>
        <p:spPr>
          <a:xfrm>
            <a:off x="1041400" y="3530600"/>
            <a:ext cx="2413000" cy="355600"/>
          </a:xfrm>
          <a:prstGeom prst="rect">
            <a:avLst/>
          </a:prstGeom>
          <a:noFill/>
        </p:spPr>
        <p:txBody>
          <a:bodyPr vertOverflow="overflow" vert="horz" wrap="square" rtlCol="0" anchor="t">
            <a:normAutofit lnSpcReduction="10000"/>
          </a:bodyPr>
          <a:lstStyle/>
          <a:p>
            <a:pPr algn="l"/>
            <a:r>
              <a:rPr lang="ko-KR" altLang="en-US" sz="1900" b="1">
                <a:solidFill>
                  <a:srgbClr val="0F1A2E"/>
                </a:solidFill>
                <a:latin typeface="맑은 고딕"/>
                <a:ea typeface="맑은 고딕"/>
              </a:rPr>
              <a:t>① 데이터 분할</a:t>
            </a:r>
          </a:p>
        </p:txBody>
      </p:sp>
      <p:sp>
        <p:nvSpPr>
          <p:cNvPr id="50" name="직사각형 49">
            <a:extLst>
              <a:ext uri="{FF2B5EF4-FFF2-40B4-BE49-F238E27FC236}">
                <a16:creationId xmlns:a16="http://schemas.microsoft.com/office/drawing/2014/main" id="{415F2413-BDCF-41D8-954A-353A8210F7C0}"/>
              </a:ext>
            </a:extLst>
          </p:cNvPr>
          <p:cNvSpPr/>
          <p:nvPr/>
        </p:nvSpPr>
        <p:spPr>
          <a:xfrm>
            <a:off x="1041400" y="4013200"/>
            <a:ext cx="11684000" cy="8128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1" name="직사각형 50">
            <a:extLst>
              <a:ext uri="{FF2B5EF4-FFF2-40B4-BE49-F238E27FC236}">
                <a16:creationId xmlns:a16="http://schemas.microsoft.com/office/drawing/2014/main" id="{E23EC219-FD22-4608-AC23-B86AE188AF31}"/>
              </a:ext>
            </a:extLst>
          </p:cNvPr>
          <p:cNvSpPr/>
          <p:nvPr/>
        </p:nvSpPr>
        <p:spPr>
          <a:xfrm>
            <a:off x="12725400" y="4013200"/>
            <a:ext cx="3175000" cy="8128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2" name="TextBox 51">
            <a:extLst>
              <a:ext uri="{FF2B5EF4-FFF2-40B4-BE49-F238E27FC236}">
                <a16:creationId xmlns:a16="http://schemas.microsoft.com/office/drawing/2014/main" id="{00371613-9BD2-4885-A164-E88276CA6022}"/>
              </a:ext>
            </a:extLst>
          </p:cNvPr>
          <p:cNvSpPr txBox="1"/>
          <p:nvPr/>
        </p:nvSpPr>
        <p:spPr>
          <a:xfrm>
            <a:off x="1371600" y="4165600"/>
            <a:ext cx="4953000" cy="304800"/>
          </a:xfrm>
          <a:prstGeom prst="rect">
            <a:avLst/>
          </a:prstGeom>
          <a:noFill/>
        </p:spPr>
        <p:txBody>
          <a:bodyPr vertOverflow="overflow" vert="horz" wrap="square" rtlCol="0" anchor="t">
            <a:normAutofit fontScale="92500" lnSpcReduction="20000"/>
          </a:bodyPr>
          <a:lstStyle/>
          <a:p>
            <a:pPr algn="l"/>
            <a:r>
              <a:rPr lang="ko-KR" altLang="en-US" b="1">
                <a:solidFill>
                  <a:srgbClr val="FFFFFF"/>
                </a:solidFill>
                <a:latin typeface="맑은 고딕"/>
                <a:ea typeface="맑은 고딕"/>
              </a:rPr>
              <a:t>앞 </a:t>
            </a:r>
            <a:r>
              <a:rPr lang="en-US" altLang="ko-KR" b="1">
                <a:solidFill>
                  <a:srgbClr val="FFFFFF"/>
                </a:solidFill>
                <a:latin typeface="맑은 고딕"/>
                <a:ea typeface="맑은 고딕"/>
              </a:rPr>
              <a:t>80% · </a:t>
            </a:r>
            <a:r>
              <a:rPr lang="ko-KR" altLang="en-US" b="1">
                <a:solidFill>
                  <a:srgbClr val="FFFFFF"/>
                </a:solidFill>
                <a:latin typeface="맑은 고딕"/>
                <a:ea typeface="맑은 고딕"/>
              </a:rPr>
              <a:t>모델 개발 구간</a:t>
            </a:r>
          </a:p>
        </p:txBody>
      </p:sp>
      <p:sp>
        <p:nvSpPr>
          <p:cNvPr id="53" name="TextBox 52">
            <a:extLst>
              <a:ext uri="{FF2B5EF4-FFF2-40B4-BE49-F238E27FC236}">
                <a16:creationId xmlns:a16="http://schemas.microsoft.com/office/drawing/2014/main" id="{A1FFEC78-36B0-4A1E-A6B3-F791B3CC164E}"/>
              </a:ext>
            </a:extLst>
          </p:cNvPr>
          <p:cNvSpPr txBox="1"/>
          <p:nvPr/>
        </p:nvSpPr>
        <p:spPr>
          <a:xfrm>
            <a:off x="1371600" y="4495800"/>
            <a:ext cx="4572000" cy="228600"/>
          </a:xfrm>
          <a:prstGeom prst="rect">
            <a:avLst/>
          </a:prstGeom>
          <a:noFill/>
        </p:spPr>
        <p:txBody>
          <a:bodyPr vertOverflow="overflow" vert="horz" wrap="square" rtlCol="0" anchor="t">
            <a:normAutofit fontScale="85000" lnSpcReduction="20000"/>
          </a:bodyPr>
          <a:lstStyle/>
          <a:p>
            <a:pPr algn="l"/>
            <a:r>
              <a:rPr lang="ko-KR" altLang="en-US" sz="1300">
                <a:solidFill>
                  <a:srgbClr val="E8EEFF"/>
                </a:solidFill>
                <a:latin typeface="맑은 고딕"/>
                <a:ea typeface="맑은 고딕"/>
              </a:rPr>
              <a:t>학습과 교차검증을 반복</a:t>
            </a:r>
          </a:p>
        </p:txBody>
      </p:sp>
      <p:sp>
        <p:nvSpPr>
          <p:cNvPr id="54" name="TextBox 53">
            <a:extLst>
              <a:ext uri="{FF2B5EF4-FFF2-40B4-BE49-F238E27FC236}">
                <a16:creationId xmlns:a16="http://schemas.microsoft.com/office/drawing/2014/main" id="{A3AF0587-2D65-489A-96E5-4E707679A890}"/>
              </a:ext>
            </a:extLst>
          </p:cNvPr>
          <p:cNvSpPr txBox="1"/>
          <p:nvPr/>
        </p:nvSpPr>
        <p:spPr>
          <a:xfrm>
            <a:off x="12979400" y="4165600"/>
            <a:ext cx="2667000" cy="304800"/>
          </a:xfrm>
          <a:prstGeom prst="rect">
            <a:avLst/>
          </a:prstGeom>
          <a:noFill/>
        </p:spPr>
        <p:txBody>
          <a:bodyPr vertOverflow="overflow" vert="horz" wrap="square" rtlCol="0" anchor="t">
            <a:normAutofit fontScale="92500" lnSpcReduction="20000"/>
          </a:bodyPr>
          <a:lstStyle/>
          <a:p>
            <a:pPr algn="l"/>
            <a:r>
              <a:rPr lang="ko-KR" altLang="en-US" sz="1700" b="1">
                <a:solidFill>
                  <a:srgbClr val="FFFFFF"/>
                </a:solidFill>
                <a:latin typeface="맑은 고딕"/>
                <a:ea typeface="맑은 고딕"/>
              </a:rPr>
              <a:t>뒤 </a:t>
            </a:r>
            <a:r>
              <a:rPr lang="en-US" altLang="ko-KR" sz="1700" b="1">
                <a:solidFill>
                  <a:srgbClr val="FFFFFF"/>
                </a:solidFill>
                <a:latin typeface="맑은 고딕"/>
                <a:ea typeface="맑은 고딕"/>
              </a:rPr>
              <a:t>20% · </a:t>
            </a:r>
            <a:r>
              <a:rPr lang="ko-KR" altLang="en-US" sz="1700" b="1">
                <a:solidFill>
                  <a:srgbClr val="FFFFFF"/>
                </a:solidFill>
                <a:latin typeface="맑은 고딕"/>
                <a:ea typeface="맑은 고딕"/>
              </a:rPr>
              <a:t>최종 테스트</a:t>
            </a:r>
          </a:p>
        </p:txBody>
      </p:sp>
      <p:sp>
        <p:nvSpPr>
          <p:cNvPr id="55" name="TextBox 54">
            <a:extLst>
              <a:ext uri="{FF2B5EF4-FFF2-40B4-BE49-F238E27FC236}">
                <a16:creationId xmlns:a16="http://schemas.microsoft.com/office/drawing/2014/main" id="{127A0A99-90E9-487C-95C9-2FC49BAD13E9}"/>
              </a:ext>
            </a:extLst>
          </p:cNvPr>
          <p:cNvSpPr txBox="1"/>
          <p:nvPr/>
        </p:nvSpPr>
        <p:spPr>
          <a:xfrm>
            <a:off x="12979400" y="4495800"/>
            <a:ext cx="2667000" cy="228600"/>
          </a:xfrm>
          <a:prstGeom prst="rect">
            <a:avLst/>
          </a:prstGeom>
          <a:noFill/>
        </p:spPr>
        <p:txBody>
          <a:bodyPr vertOverflow="overflow" vert="horz" wrap="square" rtlCol="0" anchor="t">
            <a:normAutofit fontScale="92500" lnSpcReduction="20000"/>
          </a:bodyPr>
          <a:lstStyle/>
          <a:p>
            <a:pPr algn="l"/>
            <a:r>
              <a:rPr lang="ko-KR" altLang="en-US" sz="1200">
                <a:solidFill>
                  <a:srgbClr val="B8C3D4"/>
                </a:solidFill>
                <a:latin typeface="맑은 고딕"/>
                <a:ea typeface="맑은 고딕"/>
              </a:rPr>
              <a:t>마지막까지 사용하지 않음</a:t>
            </a:r>
          </a:p>
        </p:txBody>
      </p:sp>
      <p:sp>
        <p:nvSpPr>
          <p:cNvPr id="56" name="TextBox 55">
            <a:extLst>
              <a:ext uri="{FF2B5EF4-FFF2-40B4-BE49-F238E27FC236}">
                <a16:creationId xmlns:a16="http://schemas.microsoft.com/office/drawing/2014/main" id="{FE6ECE91-30CF-44FF-9559-700917ECADD4}"/>
              </a:ext>
            </a:extLst>
          </p:cNvPr>
          <p:cNvSpPr txBox="1"/>
          <p:nvPr/>
        </p:nvSpPr>
        <p:spPr>
          <a:xfrm>
            <a:off x="1041400" y="5181600"/>
            <a:ext cx="4191000" cy="355600"/>
          </a:xfrm>
          <a:prstGeom prst="rect">
            <a:avLst/>
          </a:prstGeom>
          <a:noFill/>
        </p:spPr>
        <p:txBody>
          <a:bodyPr vertOverflow="overflow" vert="horz" wrap="square" rtlCol="0" anchor="t">
            <a:normAutofit lnSpcReduction="10000"/>
          </a:bodyPr>
          <a:lstStyle/>
          <a:p>
            <a:pPr algn="l"/>
            <a:r>
              <a:rPr lang="ko-KR" altLang="en-US" sz="1900" b="1">
                <a:solidFill>
                  <a:srgbClr val="0F1A2E"/>
                </a:solidFill>
                <a:latin typeface="맑은 고딕"/>
                <a:ea typeface="맑은 고딕"/>
              </a:rPr>
              <a:t>② 앞 </a:t>
            </a:r>
            <a:r>
              <a:rPr lang="en-US" altLang="ko-KR" sz="1900" b="1">
                <a:solidFill>
                  <a:srgbClr val="0F1A2E"/>
                </a:solidFill>
                <a:latin typeface="맑은 고딕"/>
                <a:ea typeface="맑은 고딕"/>
              </a:rPr>
              <a:t>80% </a:t>
            </a:r>
            <a:r>
              <a:rPr lang="ko-KR" altLang="en-US" sz="1900" b="1">
                <a:solidFill>
                  <a:srgbClr val="0F1A2E"/>
                </a:solidFill>
                <a:latin typeface="맑은 고딕"/>
                <a:ea typeface="맑은 고딕"/>
              </a:rPr>
              <a:t>내부의 반복 검증</a:t>
            </a:r>
          </a:p>
        </p:txBody>
      </p:sp>
      <p:sp>
        <p:nvSpPr>
          <p:cNvPr id="57" name="직사각형 56">
            <a:extLst>
              <a:ext uri="{FF2B5EF4-FFF2-40B4-BE49-F238E27FC236}">
                <a16:creationId xmlns:a16="http://schemas.microsoft.com/office/drawing/2014/main" id="{6A7737C6-28F5-464B-BEE3-6883A8195EC2}"/>
              </a:ext>
            </a:extLst>
          </p:cNvPr>
          <p:cNvSpPr/>
          <p:nvPr/>
        </p:nvSpPr>
        <p:spPr>
          <a:xfrm>
            <a:off x="1041400" y="5664200"/>
            <a:ext cx="2844800" cy="1905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8" name="직사각형 57">
            <a:extLst>
              <a:ext uri="{FF2B5EF4-FFF2-40B4-BE49-F238E27FC236}">
                <a16:creationId xmlns:a16="http://schemas.microsoft.com/office/drawing/2014/main" id="{5F902869-6B99-4F2E-BB6C-E67FEA8AAACD}"/>
              </a:ext>
            </a:extLst>
          </p:cNvPr>
          <p:cNvSpPr/>
          <p:nvPr/>
        </p:nvSpPr>
        <p:spPr>
          <a:xfrm>
            <a:off x="1041400" y="5664200"/>
            <a:ext cx="2844800" cy="1270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9" name="TextBox 58">
            <a:extLst>
              <a:ext uri="{FF2B5EF4-FFF2-40B4-BE49-F238E27FC236}">
                <a16:creationId xmlns:a16="http://schemas.microsoft.com/office/drawing/2014/main" id="{DEE149B9-FAB4-4731-8DA9-8C50A4039B46}"/>
              </a:ext>
            </a:extLst>
          </p:cNvPr>
          <p:cNvSpPr txBox="1"/>
          <p:nvPr/>
        </p:nvSpPr>
        <p:spPr>
          <a:xfrm>
            <a:off x="1371600" y="5892800"/>
            <a:ext cx="431800" cy="355600"/>
          </a:xfrm>
          <a:prstGeom prst="rect">
            <a:avLst/>
          </a:prstGeom>
          <a:noFill/>
        </p:spPr>
        <p:txBody>
          <a:bodyPr vertOverflow="overflow" vert="horz" wrap="square" rtlCol="0" anchor="t">
            <a:normAutofit/>
          </a:bodyPr>
          <a:lstStyle/>
          <a:p>
            <a:pPr algn="l"/>
            <a:r>
              <a:rPr lang="en-US" altLang="ko-KR" sz="1700" b="1">
                <a:solidFill>
                  <a:srgbClr val="4B73FF"/>
                </a:solidFill>
                <a:latin typeface="맑은 고딕"/>
                <a:ea typeface="맑은 고딕"/>
              </a:rPr>
              <a:t>1</a:t>
            </a:r>
            <a:endParaRPr lang="ko-KR" altLang="en-US" sz="1700" b="1">
              <a:solidFill>
                <a:srgbClr val="4B73FF"/>
              </a:solidFill>
              <a:latin typeface="맑은 고딕"/>
              <a:ea typeface="맑은 고딕"/>
            </a:endParaRPr>
          </a:p>
        </p:txBody>
      </p:sp>
      <p:sp>
        <p:nvSpPr>
          <p:cNvPr id="60" name="TextBox 59">
            <a:extLst>
              <a:ext uri="{FF2B5EF4-FFF2-40B4-BE49-F238E27FC236}">
                <a16:creationId xmlns:a16="http://schemas.microsoft.com/office/drawing/2014/main" id="{4601A31B-38CD-4702-B445-485A8F9DE474}"/>
              </a:ext>
            </a:extLst>
          </p:cNvPr>
          <p:cNvSpPr txBox="1"/>
          <p:nvPr/>
        </p:nvSpPr>
        <p:spPr>
          <a:xfrm>
            <a:off x="1371600" y="6350000"/>
            <a:ext cx="2209800" cy="330200"/>
          </a:xfrm>
          <a:prstGeom prst="rect">
            <a:avLst/>
          </a:prstGeom>
          <a:noFill/>
        </p:spPr>
        <p:txBody>
          <a:bodyPr vertOverflow="overflow" vert="horz" wrap="square" rtlCol="0" anchor="t">
            <a:normAutofit/>
          </a:bodyPr>
          <a:lstStyle/>
          <a:p>
            <a:pPr algn="l"/>
            <a:r>
              <a:rPr lang="ko-KR" altLang="en-US" sz="1500" b="1">
                <a:solidFill>
                  <a:srgbClr val="0F1A2E"/>
                </a:solidFill>
                <a:latin typeface="맑은 고딕"/>
                <a:ea typeface="맑은 고딕"/>
              </a:rPr>
              <a:t>첫 예측 기점 설정</a:t>
            </a:r>
          </a:p>
        </p:txBody>
      </p:sp>
      <p:sp>
        <p:nvSpPr>
          <p:cNvPr id="61" name="TextBox 60">
            <a:extLst>
              <a:ext uri="{FF2B5EF4-FFF2-40B4-BE49-F238E27FC236}">
                <a16:creationId xmlns:a16="http://schemas.microsoft.com/office/drawing/2014/main" id="{EE0ABD1F-8626-43C3-A548-8BABE53ACEB7}"/>
              </a:ext>
            </a:extLst>
          </p:cNvPr>
          <p:cNvSpPr txBox="1"/>
          <p:nvPr/>
        </p:nvSpPr>
        <p:spPr>
          <a:xfrm>
            <a:off x="1371600" y="6807200"/>
            <a:ext cx="2209800" cy="609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정책 이전 자료에서
예측 시작 시점을 선택</a:t>
            </a:r>
          </a:p>
        </p:txBody>
      </p:sp>
      <p:sp>
        <p:nvSpPr>
          <p:cNvPr id="62" name="TextBox 61">
            <a:extLst>
              <a:ext uri="{FF2B5EF4-FFF2-40B4-BE49-F238E27FC236}">
                <a16:creationId xmlns:a16="http://schemas.microsoft.com/office/drawing/2014/main" id="{47DA1E49-E59C-400D-8A66-E23848D11030}"/>
              </a:ext>
            </a:extLst>
          </p:cNvPr>
          <p:cNvSpPr txBox="1"/>
          <p:nvPr/>
        </p:nvSpPr>
        <p:spPr>
          <a:xfrm>
            <a:off x="3911600" y="6400800"/>
            <a:ext cx="254000" cy="355600"/>
          </a:xfrm>
          <a:prstGeom prst="rect">
            <a:avLst/>
          </a:prstGeom>
          <a:noFill/>
        </p:spPr>
        <p:txBody>
          <a:bodyPr vertOverflow="overflow" vert="horz" wrap="square" rtlCol="0" anchor="t">
            <a:normAutofit lnSpcReduction="10000"/>
          </a:bodyPr>
          <a:lstStyle/>
          <a:p>
            <a:pPr algn="l"/>
            <a:r>
              <a:rPr lang="ko-KR" altLang="en-US" b="1">
                <a:solidFill>
                  <a:srgbClr val="4B73FF"/>
                </a:solidFill>
                <a:latin typeface="맑은 고딕"/>
                <a:ea typeface="맑은 고딕"/>
              </a:rPr>
              <a:t>→</a:t>
            </a:r>
          </a:p>
        </p:txBody>
      </p:sp>
      <p:sp>
        <p:nvSpPr>
          <p:cNvPr id="63" name="직사각형 62">
            <a:extLst>
              <a:ext uri="{FF2B5EF4-FFF2-40B4-BE49-F238E27FC236}">
                <a16:creationId xmlns:a16="http://schemas.microsoft.com/office/drawing/2014/main" id="{A48DF0E2-D25E-4933-8C4E-EE8B0AB0F0BD}"/>
              </a:ext>
            </a:extLst>
          </p:cNvPr>
          <p:cNvSpPr/>
          <p:nvPr/>
        </p:nvSpPr>
        <p:spPr>
          <a:xfrm>
            <a:off x="4191000" y="5664200"/>
            <a:ext cx="2844800" cy="1905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4" name="직사각형 63">
            <a:extLst>
              <a:ext uri="{FF2B5EF4-FFF2-40B4-BE49-F238E27FC236}">
                <a16:creationId xmlns:a16="http://schemas.microsoft.com/office/drawing/2014/main" id="{A4199541-70B2-424E-A0E7-98ACBC7492F7}"/>
              </a:ext>
            </a:extLst>
          </p:cNvPr>
          <p:cNvSpPr/>
          <p:nvPr/>
        </p:nvSpPr>
        <p:spPr>
          <a:xfrm>
            <a:off x="4191000" y="5664200"/>
            <a:ext cx="2844800" cy="1270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5" name="TextBox 64">
            <a:extLst>
              <a:ext uri="{FF2B5EF4-FFF2-40B4-BE49-F238E27FC236}">
                <a16:creationId xmlns:a16="http://schemas.microsoft.com/office/drawing/2014/main" id="{CE5784AF-6C42-4186-8FC2-7A5F2D76D519}"/>
              </a:ext>
            </a:extLst>
          </p:cNvPr>
          <p:cNvSpPr txBox="1"/>
          <p:nvPr/>
        </p:nvSpPr>
        <p:spPr>
          <a:xfrm>
            <a:off x="4521200" y="5892800"/>
            <a:ext cx="431800" cy="355600"/>
          </a:xfrm>
          <a:prstGeom prst="rect">
            <a:avLst/>
          </a:prstGeom>
          <a:noFill/>
        </p:spPr>
        <p:txBody>
          <a:bodyPr vertOverflow="overflow" vert="horz" wrap="square" rtlCol="0" anchor="t">
            <a:normAutofit/>
          </a:bodyPr>
          <a:lstStyle/>
          <a:p>
            <a:pPr algn="l"/>
            <a:r>
              <a:rPr lang="en-US" altLang="ko-KR" sz="1700" b="1">
                <a:solidFill>
                  <a:srgbClr val="22AFCF"/>
                </a:solidFill>
                <a:latin typeface="맑은 고딕"/>
                <a:ea typeface="맑은 고딕"/>
              </a:rPr>
              <a:t>2</a:t>
            </a:r>
            <a:endParaRPr lang="ko-KR" altLang="en-US" sz="1700" b="1">
              <a:solidFill>
                <a:srgbClr val="22AFCF"/>
              </a:solidFill>
              <a:latin typeface="맑은 고딕"/>
              <a:ea typeface="맑은 고딕"/>
            </a:endParaRPr>
          </a:p>
        </p:txBody>
      </p:sp>
      <p:sp>
        <p:nvSpPr>
          <p:cNvPr id="66" name="TextBox 65">
            <a:extLst>
              <a:ext uri="{FF2B5EF4-FFF2-40B4-BE49-F238E27FC236}">
                <a16:creationId xmlns:a16="http://schemas.microsoft.com/office/drawing/2014/main" id="{7467DB75-1BB2-42FD-BDFF-549808D20C94}"/>
              </a:ext>
            </a:extLst>
          </p:cNvPr>
          <p:cNvSpPr txBox="1"/>
          <p:nvPr/>
        </p:nvSpPr>
        <p:spPr>
          <a:xfrm>
            <a:off x="4521200" y="6350000"/>
            <a:ext cx="2209800" cy="330200"/>
          </a:xfrm>
          <a:prstGeom prst="rect">
            <a:avLst/>
          </a:prstGeom>
          <a:noFill/>
        </p:spPr>
        <p:txBody>
          <a:bodyPr vertOverflow="overflow" vert="horz" wrap="square" rtlCol="0" anchor="t">
            <a:normAutofit/>
          </a:bodyPr>
          <a:lstStyle/>
          <a:p>
            <a:pPr algn="l"/>
            <a:r>
              <a:rPr lang="ko-KR" altLang="en-US" sz="1500" b="1">
                <a:solidFill>
                  <a:srgbClr val="0F1A2E"/>
                </a:solidFill>
                <a:latin typeface="맑은 고딕"/>
                <a:ea typeface="맑은 고딕"/>
              </a:rPr>
              <a:t>기점까지 모델 학습</a:t>
            </a:r>
          </a:p>
        </p:txBody>
      </p:sp>
      <p:sp>
        <p:nvSpPr>
          <p:cNvPr id="67" name="TextBox 66">
            <a:extLst>
              <a:ext uri="{FF2B5EF4-FFF2-40B4-BE49-F238E27FC236}">
                <a16:creationId xmlns:a16="http://schemas.microsoft.com/office/drawing/2014/main" id="{7C72C976-4EA1-4F21-8774-1E956D056D96}"/>
              </a:ext>
            </a:extLst>
          </p:cNvPr>
          <p:cNvSpPr txBox="1"/>
          <p:nvPr/>
        </p:nvSpPr>
        <p:spPr>
          <a:xfrm>
            <a:off x="4521200" y="6807200"/>
            <a:ext cx="2209800" cy="609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그 시점 이전 자료만 사용
회귀는 매번 다시 추정</a:t>
            </a:r>
          </a:p>
        </p:txBody>
      </p:sp>
      <p:sp>
        <p:nvSpPr>
          <p:cNvPr id="68" name="TextBox 67">
            <a:extLst>
              <a:ext uri="{FF2B5EF4-FFF2-40B4-BE49-F238E27FC236}">
                <a16:creationId xmlns:a16="http://schemas.microsoft.com/office/drawing/2014/main" id="{3467A1F5-A486-4DE6-BDF0-19B40182DA30}"/>
              </a:ext>
            </a:extLst>
          </p:cNvPr>
          <p:cNvSpPr txBox="1"/>
          <p:nvPr/>
        </p:nvSpPr>
        <p:spPr>
          <a:xfrm>
            <a:off x="7061200" y="6400800"/>
            <a:ext cx="254000" cy="355600"/>
          </a:xfrm>
          <a:prstGeom prst="rect">
            <a:avLst/>
          </a:prstGeom>
          <a:noFill/>
        </p:spPr>
        <p:txBody>
          <a:bodyPr vertOverflow="overflow" vert="horz" wrap="square" rtlCol="0" anchor="t">
            <a:normAutofit lnSpcReduction="10000"/>
          </a:bodyPr>
          <a:lstStyle/>
          <a:p>
            <a:pPr algn="l"/>
            <a:r>
              <a:rPr lang="ko-KR" altLang="en-US" b="1">
                <a:solidFill>
                  <a:srgbClr val="4B73FF"/>
                </a:solidFill>
                <a:latin typeface="맑은 고딕"/>
                <a:ea typeface="맑은 고딕"/>
              </a:rPr>
              <a:t>→</a:t>
            </a:r>
          </a:p>
        </p:txBody>
      </p:sp>
      <p:sp>
        <p:nvSpPr>
          <p:cNvPr id="69" name="직사각형 68">
            <a:extLst>
              <a:ext uri="{FF2B5EF4-FFF2-40B4-BE49-F238E27FC236}">
                <a16:creationId xmlns:a16="http://schemas.microsoft.com/office/drawing/2014/main" id="{DBED014A-AC77-4272-8F3F-0FC86BAF9BBF}"/>
              </a:ext>
            </a:extLst>
          </p:cNvPr>
          <p:cNvSpPr/>
          <p:nvPr/>
        </p:nvSpPr>
        <p:spPr>
          <a:xfrm>
            <a:off x="7340600" y="5664200"/>
            <a:ext cx="2844800" cy="1905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70" name="직사각형 69">
            <a:extLst>
              <a:ext uri="{FF2B5EF4-FFF2-40B4-BE49-F238E27FC236}">
                <a16:creationId xmlns:a16="http://schemas.microsoft.com/office/drawing/2014/main" id="{C2D59712-2A7B-4423-8687-BB530F55D24C}"/>
              </a:ext>
            </a:extLst>
          </p:cNvPr>
          <p:cNvSpPr/>
          <p:nvPr/>
        </p:nvSpPr>
        <p:spPr>
          <a:xfrm>
            <a:off x="7340600" y="5664200"/>
            <a:ext cx="2844800" cy="1270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71" name="TextBox 70">
            <a:extLst>
              <a:ext uri="{FF2B5EF4-FFF2-40B4-BE49-F238E27FC236}">
                <a16:creationId xmlns:a16="http://schemas.microsoft.com/office/drawing/2014/main" id="{A7EDF262-5DF9-45FA-94AE-96AE799BBB35}"/>
              </a:ext>
            </a:extLst>
          </p:cNvPr>
          <p:cNvSpPr txBox="1"/>
          <p:nvPr/>
        </p:nvSpPr>
        <p:spPr>
          <a:xfrm>
            <a:off x="7670800" y="5892800"/>
            <a:ext cx="431800" cy="355600"/>
          </a:xfrm>
          <a:prstGeom prst="rect">
            <a:avLst/>
          </a:prstGeom>
          <a:noFill/>
        </p:spPr>
        <p:txBody>
          <a:bodyPr vertOverflow="overflow" vert="horz" wrap="square" rtlCol="0" anchor="t">
            <a:normAutofit/>
          </a:bodyPr>
          <a:lstStyle/>
          <a:p>
            <a:pPr algn="l"/>
            <a:r>
              <a:rPr lang="en-US" altLang="ko-KR" sz="1700" b="1">
                <a:solidFill>
                  <a:srgbClr val="4B73FF"/>
                </a:solidFill>
                <a:latin typeface="맑은 고딕"/>
                <a:ea typeface="맑은 고딕"/>
              </a:rPr>
              <a:t>3</a:t>
            </a:r>
            <a:endParaRPr lang="ko-KR" altLang="en-US" sz="1700" b="1">
              <a:solidFill>
                <a:srgbClr val="4B73FF"/>
              </a:solidFill>
              <a:latin typeface="맑은 고딕"/>
              <a:ea typeface="맑은 고딕"/>
            </a:endParaRPr>
          </a:p>
        </p:txBody>
      </p:sp>
      <p:sp>
        <p:nvSpPr>
          <p:cNvPr id="72" name="TextBox 71">
            <a:extLst>
              <a:ext uri="{FF2B5EF4-FFF2-40B4-BE49-F238E27FC236}">
                <a16:creationId xmlns:a16="http://schemas.microsoft.com/office/drawing/2014/main" id="{728CF39C-40B4-47AB-BF96-CFB8E55EB6C7}"/>
              </a:ext>
            </a:extLst>
          </p:cNvPr>
          <p:cNvSpPr txBox="1"/>
          <p:nvPr/>
        </p:nvSpPr>
        <p:spPr>
          <a:xfrm>
            <a:off x="7670800" y="6350000"/>
            <a:ext cx="2209800" cy="330200"/>
          </a:xfrm>
          <a:prstGeom prst="rect">
            <a:avLst/>
          </a:prstGeom>
          <a:noFill/>
        </p:spPr>
        <p:txBody>
          <a:bodyPr vertOverflow="overflow" vert="horz" wrap="square" rtlCol="0" anchor="t">
            <a:normAutofit/>
          </a:bodyPr>
          <a:lstStyle/>
          <a:p>
            <a:pPr algn="l"/>
            <a:r>
              <a:rPr lang="ko-KR" altLang="en-US" sz="1500" b="1">
                <a:solidFill>
                  <a:srgbClr val="0F1A2E"/>
                </a:solidFill>
                <a:latin typeface="맑은 고딕"/>
                <a:ea typeface="맑은 고딕"/>
              </a:rPr>
              <a:t>다음 </a:t>
            </a:r>
            <a:r>
              <a:rPr lang="en-US" altLang="ko-KR" sz="1500" b="1">
                <a:solidFill>
                  <a:srgbClr val="0F1A2E"/>
                </a:solidFill>
                <a:latin typeface="맑은 고딕"/>
                <a:ea typeface="맑은 고딕"/>
              </a:rPr>
              <a:t>32</a:t>
            </a:r>
            <a:r>
              <a:rPr lang="ko-KR" altLang="en-US" sz="1500" b="1">
                <a:solidFill>
                  <a:srgbClr val="0F1A2E"/>
                </a:solidFill>
                <a:latin typeface="맑은 고딕"/>
                <a:ea typeface="맑은 고딕"/>
              </a:rPr>
              <a:t>주 예측</a:t>
            </a:r>
          </a:p>
        </p:txBody>
      </p:sp>
      <p:sp>
        <p:nvSpPr>
          <p:cNvPr id="73" name="TextBox 72">
            <a:extLst>
              <a:ext uri="{FF2B5EF4-FFF2-40B4-BE49-F238E27FC236}">
                <a16:creationId xmlns:a16="http://schemas.microsoft.com/office/drawing/2014/main" id="{4235D6BF-C8D9-4D3E-B70C-9F94F5DDD6B3}"/>
              </a:ext>
            </a:extLst>
          </p:cNvPr>
          <p:cNvSpPr txBox="1"/>
          <p:nvPr/>
        </p:nvSpPr>
        <p:spPr>
          <a:xfrm>
            <a:off x="7670800" y="6807200"/>
            <a:ext cx="2209800" cy="609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두 모델에 같은 미래
국제가격</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환율을 제공</a:t>
            </a:r>
          </a:p>
        </p:txBody>
      </p:sp>
      <p:sp>
        <p:nvSpPr>
          <p:cNvPr id="74" name="TextBox 73">
            <a:extLst>
              <a:ext uri="{FF2B5EF4-FFF2-40B4-BE49-F238E27FC236}">
                <a16:creationId xmlns:a16="http://schemas.microsoft.com/office/drawing/2014/main" id="{C7D4A838-E39A-4A00-A46E-D83FDB62CAF3}"/>
              </a:ext>
            </a:extLst>
          </p:cNvPr>
          <p:cNvSpPr txBox="1"/>
          <p:nvPr/>
        </p:nvSpPr>
        <p:spPr>
          <a:xfrm>
            <a:off x="10210800" y="6400800"/>
            <a:ext cx="254000" cy="355600"/>
          </a:xfrm>
          <a:prstGeom prst="rect">
            <a:avLst/>
          </a:prstGeom>
          <a:noFill/>
        </p:spPr>
        <p:txBody>
          <a:bodyPr vertOverflow="overflow" vert="horz" wrap="square" rtlCol="0" anchor="t">
            <a:normAutofit lnSpcReduction="10000"/>
          </a:bodyPr>
          <a:lstStyle/>
          <a:p>
            <a:pPr algn="l"/>
            <a:r>
              <a:rPr lang="ko-KR" altLang="en-US" b="1">
                <a:solidFill>
                  <a:srgbClr val="4B73FF"/>
                </a:solidFill>
                <a:latin typeface="맑은 고딕"/>
                <a:ea typeface="맑은 고딕"/>
              </a:rPr>
              <a:t>→</a:t>
            </a:r>
          </a:p>
        </p:txBody>
      </p:sp>
      <p:sp>
        <p:nvSpPr>
          <p:cNvPr id="75" name="직사각형 74">
            <a:extLst>
              <a:ext uri="{FF2B5EF4-FFF2-40B4-BE49-F238E27FC236}">
                <a16:creationId xmlns:a16="http://schemas.microsoft.com/office/drawing/2014/main" id="{03FE8663-55B2-49FE-A49B-623D623ABA41}"/>
              </a:ext>
            </a:extLst>
          </p:cNvPr>
          <p:cNvSpPr/>
          <p:nvPr/>
        </p:nvSpPr>
        <p:spPr>
          <a:xfrm>
            <a:off x="10490200" y="5664200"/>
            <a:ext cx="2844800" cy="1905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76" name="직사각형 75">
            <a:extLst>
              <a:ext uri="{FF2B5EF4-FFF2-40B4-BE49-F238E27FC236}">
                <a16:creationId xmlns:a16="http://schemas.microsoft.com/office/drawing/2014/main" id="{9D342229-1B09-49B6-9CD1-DB68B2F94863}"/>
              </a:ext>
            </a:extLst>
          </p:cNvPr>
          <p:cNvSpPr/>
          <p:nvPr/>
        </p:nvSpPr>
        <p:spPr>
          <a:xfrm>
            <a:off x="10490200" y="5664200"/>
            <a:ext cx="2844800" cy="1270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77" name="TextBox 76">
            <a:extLst>
              <a:ext uri="{FF2B5EF4-FFF2-40B4-BE49-F238E27FC236}">
                <a16:creationId xmlns:a16="http://schemas.microsoft.com/office/drawing/2014/main" id="{C913C2E8-4014-4C8D-AC48-6FEEEAACC625}"/>
              </a:ext>
            </a:extLst>
          </p:cNvPr>
          <p:cNvSpPr txBox="1"/>
          <p:nvPr/>
        </p:nvSpPr>
        <p:spPr>
          <a:xfrm>
            <a:off x="10820400" y="5892800"/>
            <a:ext cx="431800" cy="355600"/>
          </a:xfrm>
          <a:prstGeom prst="rect">
            <a:avLst/>
          </a:prstGeom>
          <a:noFill/>
        </p:spPr>
        <p:txBody>
          <a:bodyPr vertOverflow="overflow" vert="horz" wrap="square" rtlCol="0" anchor="t">
            <a:normAutofit/>
          </a:bodyPr>
          <a:lstStyle/>
          <a:p>
            <a:pPr algn="l"/>
            <a:r>
              <a:rPr lang="en-US" altLang="ko-KR" sz="1700" b="1">
                <a:solidFill>
                  <a:srgbClr val="22AFCF"/>
                </a:solidFill>
                <a:latin typeface="맑은 고딕"/>
                <a:ea typeface="맑은 고딕"/>
              </a:rPr>
              <a:t>4</a:t>
            </a:r>
            <a:endParaRPr lang="ko-KR" altLang="en-US" sz="1700" b="1">
              <a:solidFill>
                <a:srgbClr val="22AFCF"/>
              </a:solidFill>
              <a:latin typeface="맑은 고딕"/>
              <a:ea typeface="맑은 고딕"/>
            </a:endParaRPr>
          </a:p>
        </p:txBody>
      </p:sp>
      <p:sp>
        <p:nvSpPr>
          <p:cNvPr id="78" name="TextBox 77">
            <a:extLst>
              <a:ext uri="{FF2B5EF4-FFF2-40B4-BE49-F238E27FC236}">
                <a16:creationId xmlns:a16="http://schemas.microsoft.com/office/drawing/2014/main" id="{8859B1C5-7EFA-4248-A5A7-10C6134CA4A8}"/>
              </a:ext>
            </a:extLst>
          </p:cNvPr>
          <p:cNvSpPr txBox="1"/>
          <p:nvPr/>
        </p:nvSpPr>
        <p:spPr>
          <a:xfrm>
            <a:off x="10820400" y="6350000"/>
            <a:ext cx="2209800" cy="330200"/>
          </a:xfrm>
          <a:prstGeom prst="rect">
            <a:avLst/>
          </a:prstGeom>
          <a:noFill/>
        </p:spPr>
        <p:txBody>
          <a:bodyPr vertOverflow="overflow" vert="horz" wrap="square" rtlCol="0" anchor="t">
            <a:normAutofit/>
          </a:bodyPr>
          <a:lstStyle/>
          <a:p>
            <a:pPr algn="l"/>
            <a:r>
              <a:rPr lang="en-US" altLang="ko-KR" sz="1500" b="1">
                <a:solidFill>
                  <a:srgbClr val="0F1A2E"/>
                </a:solidFill>
                <a:latin typeface="맑은 고딕"/>
                <a:ea typeface="맑은 고딕"/>
              </a:rPr>
              <a:t>13</a:t>
            </a:r>
            <a:r>
              <a:rPr lang="ko-KR" altLang="en-US" sz="1500" b="1">
                <a:solidFill>
                  <a:srgbClr val="0F1A2E"/>
                </a:solidFill>
                <a:latin typeface="맑은 고딕"/>
                <a:ea typeface="맑은 고딕"/>
              </a:rPr>
              <a:t>주 이동 후 반복</a:t>
            </a:r>
          </a:p>
        </p:txBody>
      </p:sp>
      <p:sp>
        <p:nvSpPr>
          <p:cNvPr id="116" name="TextBox 115">
            <a:extLst>
              <a:ext uri="{FF2B5EF4-FFF2-40B4-BE49-F238E27FC236}">
                <a16:creationId xmlns:a16="http://schemas.microsoft.com/office/drawing/2014/main" id="{D767A59C-C10C-471D-99D2-423A370D0F21}"/>
              </a:ext>
            </a:extLst>
          </p:cNvPr>
          <p:cNvSpPr txBox="1"/>
          <p:nvPr/>
        </p:nvSpPr>
        <p:spPr>
          <a:xfrm>
            <a:off x="10820400" y="6807200"/>
            <a:ext cx="2209800" cy="609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학습 자료를 늘려가며
유종별 </a:t>
            </a:r>
            <a:r>
              <a:rPr lang="en-US" altLang="ko-KR" sz="1300">
                <a:solidFill>
                  <a:srgbClr val="7E899B"/>
                </a:solidFill>
                <a:latin typeface="맑은 고딕"/>
                <a:ea typeface="맑은 고딕"/>
              </a:rPr>
              <a:t>22</a:t>
            </a:r>
            <a:r>
              <a:rPr lang="ko-KR" altLang="en-US" sz="1300">
                <a:solidFill>
                  <a:srgbClr val="7E899B"/>
                </a:solidFill>
                <a:latin typeface="맑은 고딕"/>
                <a:ea typeface="맑은 고딕"/>
              </a:rPr>
              <a:t>개 기점 평가</a:t>
            </a:r>
          </a:p>
        </p:txBody>
      </p:sp>
      <p:sp>
        <p:nvSpPr>
          <p:cNvPr id="117" name="직사각형 116">
            <a:extLst>
              <a:ext uri="{FF2B5EF4-FFF2-40B4-BE49-F238E27FC236}">
                <a16:creationId xmlns:a16="http://schemas.microsoft.com/office/drawing/2014/main" id="{ED02F25B-3965-47E9-BA98-ACFAEEC099C2}"/>
              </a:ext>
            </a:extLst>
          </p:cNvPr>
          <p:cNvSpPr/>
          <p:nvPr/>
        </p:nvSpPr>
        <p:spPr>
          <a:xfrm>
            <a:off x="13589000" y="5181600"/>
            <a:ext cx="3429000" cy="23876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18" name="TextBox 117">
            <a:extLst>
              <a:ext uri="{FF2B5EF4-FFF2-40B4-BE49-F238E27FC236}">
                <a16:creationId xmlns:a16="http://schemas.microsoft.com/office/drawing/2014/main" id="{D5E77FE1-ED05-4254-8B99-2F703E84C608}"/>
              </a:ext>
            </a:extLst>
          </p:cNvPr>
          <p:cNvSpPr txBox="1"/>
          <p:nvPr/>
        </p:nvSpPr>
        <p:spPr>
          <a:xfrm>
            <a:off x="13919200" y="5461000"/>
            <a:ext cx="2794000" cy="330200"/>
          </a:xfrm>
          <a:prstGeom prst="rect">
            <a:avLst/>
          </a:prstGeom>
          <a:noFill/>
        </p:spPr>
        <p:txBody>
          <a:bodyPr vertOverflow="overflow" vert="horz" wrap="square" rtlCol="0" anchor="t">
            <a:normAutofit lnSpcReduction="10000"/>
          </a:bodyPr>
          <a:lstStyle/>
          <a:p>
            <a:pPr algn="l"/>
            <a:r>
              <a:rPr lang="ko-KR" altLang="en-US" sz="1700" b="1">
                <a:solidFill>
                  <a:srgbClr val="35C6E8"/>
                </a:solidFill>
                <a:latin typeface="맑은 고딕"/>
                <a:ea typeface="맑은 고딕"/>
              </a:rPr>
              <a:t>왜 이렇게 검증하나</a:t>
            </a:r>
            <a:r>
              <a:rPr lang="en-US" altLang="ko-KR" sz="1700" b="1">
                <a:solidFill>
                  <a:srgbClr val="35C6E8"/>
                </a:solidFill>
                <a:latin typeface="맑은 고딕"/>
                <a:ea typeface="맑은 고딕"/>
              </a:rPr>
              <a:t>?</a:t>
            </a:r>
            <a:endParaRPr lang="ko-KR" altLang="en-US" sz="1700" b="1">
              <a:solidFill>
                <a:srgbClr val="35C6E8"/>
              </a:solidFill>
              <a:latin typeface="맑은 고딕"/>
              <a:ea typeface="맑은 고딕"/>
            </a:endParaRPr>
          </a:p>
        </p:txBody>
      </p:sp>
      <p:sp>
        <p:nvSpPr>
          <p:cNvPr id="119" name="TextBox 118">
            <a:extLst>
              <a:ext uri="{FF2B5EF4-FFF2-40B4-BE49-F238E27FC236}">
                <a16:creationId xmlns:a16="http://schemas.microsoft.com/office/drawing/2014/main" id="{D3A49515-932D-4289-8C95-495D43F0A126}"/>
              </a:ext>
            </a:extLst>
          </p:cNvPr>
          <p:cNvSpPr txBox="1"/>
          <p:nvPr/>
        </p:nvSpPr>
        <p:spPr>
          <a:xfrm>
            <a:off x="13919200" y="5969000"/>
            <a:ext cx="2743200" cy="1320800"/>
          </a:xfrm>
          <a:prstGeom prst="rect">
            <a:avLst/>
          </a:prstGeom>
          <a:noFill/>
        </p:spPr>
        <p:txBody>
          <a:bodyPr vertOverflow="overflow" vert="horz" wrap="square" rtlCol="0" anchor="t">
            <a:normAutofit/>
          </a:bodyPr>
          <a:lstStyle/>
          <a:p>
            <a:pPr algn="l"/>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미래 정보 유출 방지
</a:t>
            </a:r>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여러 시장 국면에서 평가
</a:t>
            </a:r>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국제가격</a:t>
            </a:r>
            <a:r>
              <a:rPr lang="en-US" altLang="ko-KR" sz="1400">
                <a:solidFill>
                  <a:srgbClr val="FFFFFF"/>
                </a:solidFill>
                <a:latin typeface="맑은 고딕"/>
                <a:ea typeface="맑은 고딕"/>
              </a:rPr>
              <a:t>·</a:t>
            </a:r>
            <a:r>
              <a:rPr lang="ko-KR" altLang="en-US" sz="1400">
                <a:solidFill>
                  <a:srgbClr val="FFFFFF"/>
                </a:solidFill>
                <a:latin typeface="맑은 고딕"/>
                <a:ea typeface="맑은 고딕"/>
              </a:rPr>
              <a:t>환율 조건을 동일화
</a:t>
            </a:r>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회귀와 딥러닝을 같은 조건으로 비교</a:t>
            </a:r>
          </a:p>
        </p:txBody>
      </p:sp>
      <p:sp>
        <p:nvSpPr>
          <p:cNvPr id="120" name="직사각형 119">
            <a:extLst>
              <a:ext uri="{FF2B5EF4-FFF2-40B4-BE49-F238E27FC236}">
                <a16:creationId xmlns:a16="http://schemas.microsoft.com/office/drawing/2014/main" id="{AD8033EA-10D5-4EBB-830F-207AE244E886}"/>
              </a:ext>
            </a:extLst>
          </p:cNvPr>
          <p:cNvSpPr/>
          <p:nvPr/>
        </p:nvSpPr>
        <p:spPr>
          <a:xfrm>
            <a:off x="1041400" y="7874000"/>
            <a:ext cx="15976600" cy="914400"/>
          </a:xfrm>
          <a:prstGeom prst="rect">
            <a:avLst/>
          </a:prstGeom>
          <a:solidFill>
            <a:srgbClr val="EEF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21" name="TextBox 120">
            <a:extLst>
              <a:ext uri="{FF2B5EF4-FFF2-40B4-BE49-F238E27FC236}">
                <a16:creationId xmlns:a16="http://schemas.microsoft.com/office/drawing/2014/main" id="{3B45E17B-1862-4032-9B3A-5B0965924696}"/>
              </a:ext>
            </a:extLst>
          </p:cNvPr>
          <p:cNvSpPr txBox="1"/>
          <p:nvPr/>
        </p:nvSpPr>
        <p:spPr>
          <a:xfrm>
            <a:off x="1346200" y="8077200"/>
            <a:ext cx="1905000" cy="330200"/>
          </a:xfrm>
          <a:prstGeom prst="rect">
            <a:avLst/>
          </a:prstGeom>
          <a:noFill/>
        </p:spPr>
        <p:txBody>
          <a:bodyPr vertOverflow="overflow" vert="horz" wrap="square" rtlCol="0" anchor="t">
            <a:normAutofit fontScale="92500" lnSpcReduction="10000"/>
          </a:bodyPr>
          <a:lstStyle/>
          <a:p>
            <a:pPr algn="l"/>
            <a:r>
              <a:rPr lang="en-US" altLang="ko-KR" b="1">
                <a:solidFill>
                  <a:srgbClr val="0F1A2E"/>
                </a:solidFill>
                <a:latin typeface="맑은 고딕"/>
                <a:ea typeface="맑은 고딕"/>
              </a:rPr>
              <a:t>22</a:t>
            </a:r>
            <a:r>
              <a:rPr lang="ko-KR" altLang="en-US" b="1">
                <a:solidFill>
                  <a:srgbClr val="0F1A2E"/>
                </a:solidFill>
                <a:latin typeface="맑은 고딕"/>
                <a:ea typeface="맑은 고딕"/>
              </a:rPr>
              <a:t>개 기점</a:t>
            </a:r>
          </a:p>
        </p:txBody>
      </p:sp>
      <p:sp>
        <p:nvSpPr>
          <p:cNvPr id="122" name="TextBox 121">
            <a:extLst>
              <a:ext uri="{FF2B5EF4-FFF2-40B4-BE49-F238E27FC236}">
                <a16:creationId xmlns:a16="http://schemas.microsoft.com/office/drawing/2014/main" id="{A92CD470-04FA-47D2-B930-0CBBD7878C17}"/>
              </a:ext>
            </a:extLst>
          </p:cNvPr>
          <p:cNvSpPr txBox="1"/>
          <p:nvPr/>
        </p:nvSpPr>
        <p:spPr>
          <a:xfrm>
            <a:off x="3302000" y="8077200"/>
            <a:ext cx="304800" cy="330200"/>
          </a:xfrm>
          <a:prstGeom prst="rect">
            <a:avLst/>
          </a:prstGeom>
          <a:noFill/>
        </p:spPr>
        <p:txBody>
          <a:bodyPr vertOverflow="overflow" vert="horz" wrap="square" rtlCol="0" anchor="t">
            <a:normAutofit fontScale="92500" lnSpcReduction="10000"/>
          </a:bodyPr>
          <a:lstStyle/>
          <a:p>
            <a:pPr algn="l"/>
            <a:r>
              <a:rPr lang="en-US" altLang="ko-KR" b="1">
                <a:solidFill>
                  <a:srgbClr val="4B73FF"/>
                </a:solidFill>
                <a:latin typeface="맑은 고딕"/>
                <a:ea typeface="맑은 고딕"/>
              </a:rPr>
              <a:t>×</a:t>
            </a:r>
            <a:endParaRPr lang="ko-KR" altLang="en-US" b="1">
              <a:solidFill>
                <a:srgbClr val="4B73FF"/>
              </a:solidFill>
              <a:latin typeface="맑은 고딕"/>
              <a:ea typeface="맑은 고딕"/>
            </a:endParaRPr>
          </a:p>
        </p:txBody>
      </p:sp>
      <p:sp>
        <p:nvSpPr>
          <p:cNvPr id="123" name="TextBox 122">
            <a:extLst>
              <a:ext uri="{FF2B5EF4-FFF2-40B4-BE49-F238E27FC236}">
                <a16:creationId xmlns:a16="http://schemas.microsoft.com/office/drawing/2014/main" id="{075967F0-F4B8-46A7-B78B-1BF1773F6B1E}"/>
              </a:ext>
            </a:extLst>
          </p:cNvPr>
          <p:cNvSpPr txBox="1"/>
          <p:nvPr/>
        </p:nvSpPr>
        <p:spPr>
          <a:xfrm>
            <a:off x="3683000" y="8077200"/>
            <a:ext cx="1905000" cy="330200"/>
          </a:xfrm>
          <a:prstGeom prst="rect">
            <a:avLst/>
          </a:prstGeom>
          <a:noFill/>
        </p:spPr>
        <p:txBody>
          <a:bodyPr vertOverflow="overflow" vert="horz" wrap="square" rtlCol="0" anchor="t">
            <a:normAutofit fontScale="92500" lnSpcReduction="10000"/>
          </a:bodyPr>
          <a:lstStyle/>
          <a:p>
            <a:pPr algn="l"/>
            <a:r>
              <a:rPr lang="en-US" altLang="ko-KR" b="1">
                <a:solidFill>
                  <a:srgbClr val="0F1A2E"/>
                </a:solidFill>
                <a:latin typeface="맑은 고딕"/>
                <a:ea typeface="맑은 고딕"/>
              </a:rPr>
              <a:t>32</a:t>
            </a:r>
            <a:r>
              <a:rPr lang="ko-KR" altLang="en-US" b="1">
                <a:solidFill>
                  <a:srgbClr val="0F1A2E"/>
                </a:solidFill>
                <a:latin typeface="맑은 고딕"/>
                <a:ea typeface="맑은 고딕"/>
              </a:rPr>
              <a:t>주 예측</a:t>
            </a:r>
          </a:p>
        </p:txBody>
      </p:sp>
      <p:sp>
        <p:nvSpPr>
          <p:cNvPr id="124" name="TextBox 123">
            <a:extLst>
              <a:ext uri="{FF2B5EF4-FFF2-40B4-BE49-F238E27FC236}">
                <a16:creationId xmlns:a16="http://schemas.microsoft.com/office/drawing/2014/main" id="{47057906-6FEE-49AE-BFEE-62C58FB041E4}"/>
              </a:ext>
            </a:extLst>
          </p:cNvPr>
          <p:cNvSpPr txBox="1"/>
          <p:nvPr/>
        </p:nvSpPr>
        <p:spPr>
          <a:xfrm>
            <a:off x="5638800" y="8077200"/>
            <a:ext cx="304800" cy="330200"/>
          </a:xfrm>
          <a:prstGeom prst="rect">
            <a:avLst/>
          </a:prstGeom>
          <a:noFill/>
        </p:spPr>
        <p:txBody>
          <a:bodyPr vertOverflow="overflow" vert="horz" wrap="square" rtlCol="0" anchor="t">
            <a:normAutofit fontScale="92500" lnSpcReduction="10000"/>
          </a:bodyPr>
          <a:lstStyle/>
          <a:p>
            <a:pPr algn="l"/>
            <a:r>
              <a:rPr lang="en-US" altLang="ko-KR" b="1">
                <a:solidFill>
                  <a:srgbClr val="4B73FF"/>
                </a:solidFill>
                <a:latin typeface="맑은 고딕"/>
                <a:ea typeface="맑은 고딕"/>
              </a:rPr>
              <a:t>=</a:t>
            </a:r>
            <a:endParaRPr lang="ko-KR" altLang="en-US" b="1">
              <a:solidFill>
                <a:srgbClr val="4B73FF"/>
              </a:solidFill>
              <a:latin typeface="맑은 고딕"/>
              <a:ea typeface="맑은 고딕"/>
            </a:endParaRPr>
          </a:p>
        </p:txBody>
      </p:sp>
      <p:sp>
        <p:nvSpPr>
          <p:cNvPr id="125" name="TextBox 124">
            <a:extLst>
              <a:ext uri="{FF2B5EF4-FFF2-40B4-BE49-F238E27FC236}">
                <a16:creationId xmlns:a16="http://schemas.microsoft.com/office/drawing/2014/main" id="{1B55DD71-A071-4B34-B5CB-526A089ADCDE}"/>
              </a:ext>
            </a:extLst>
          </p:cNvPr>
          <p:cNvSpPr txBox="1"/>
          <p:nvPr/>
        </p:nvSpPr>
        <p:spPr>
          <a:xfrm>
            <a:off x="6045200" y="8077200"/>
            <a:ext cx="4826000" cy="330200"/>
          </a:xfrm>
          <a:prstGeom prst="rect">
            <a:avLst/>
          </a:prstGeom>
          <a:noFill/>
        </p:spPr>
        <p:txBody>
          <a:bodyPr vertOverflow="overflow" vert="horz" wrap="square" rtlCol="0" anchor="t">
            <a:normAutofit fontScale="92500" lnSpcReduction="10000"/>
          </a:bodyPr>
          <a:lstStyle/>
          <a:p>
            <a:pPr algn="l"/>
            <a:r>
              <a:rPr lang="ko-KR" altLang="en-US" b="1">
                <a:solidFill>
                  <a:srgbClr val="0F1A2E"/>
                </a:solidFill>
                <a:latin typeface="맑은 고딕"/>
                <a:ea typeface="맑은 고딕"/>
              </a:rPr>
              <a:t>유종별 </a:t>
            </a:r>
            <a:r>
              <a:rPr lang="en-US" altLang="ko-KR" b="1">
                <a:solidFill>
                  <a:srgbClr val="0F1A2E"/>
                </a:solidFill>
                <a:latin typeface="맑은 고딕"/>
                <a:ea typeface="맑은 고딕"/>
              </a:rPr>
              <a:t>704</a:t>
            </a:r>
            <a:r>
              <a:rPr lang="ko-KR" altLang="en-US" b="1">
                <a:solidFill>
                  <a:srgbClr val="0F1A2E"/>
                </a:solidFill>
                <a:latin typeface="맑은 고딕"/>
                <a:ea typeface="맑은 고딕"/>
              </a:rPr>
              <a:t>개 </a:t>
            </a:r>
            <a:r>
              <a:rPr lang="en-US" altLang="ko-KR" b="1">
                <a:solidFill>
                  <a:srgbClr val="0F1A2E"/>
                </a:solidFill>
                <a:latin typeface="맑은 고딕"/>
                <a:ea typeface="맑은 고딕"/>
              </a:rPr>
              <a:t>· </a:t>
            </a:r>
            <a:r>
              <a:rPr lang="ko-KR" altLang="en-US" b="1">
                <a:solidFill>
                  <a:srgbClr val="0F1A2E"/>
                </a:solidFill>
                <a:latin typeface="맑은 고딕"/>
                <a:ea typeface="맑은 고딕"/>
              </a:rPr>
              <a:t>전체 </a:t>
            </a:r>
            <a:r>
              <a:rPr lang="en-US" altLang="ko-KR" b="1">
                <a:solidFill>
                  <a:srgbClr val="0F1A2E"/>
                </a:solidFill>
                <a:latin typeface="맑은 고딕"/>
                <a:ea typeface="맑은 고딕"/>
              </a:rPr>
              <a:t>2,112</a:t>
            </a:r>
            <a:r>
              <a:rPr lang="ko-KR" altLang="en-US" b="1">
                <a:solidFill>
                  <a:srgbClr val="0F1A2E"/>
                </a:solidFill>
                <a:latin typeface="맑은 고딕"/>
                <a:ea typeface="맑은 고딕"/>
              </a:rPr>
              <a:t>개 예측값</a:t>
            </a:r>
          </a:p>
        </p:txBody>
      </p:sp>
      <p:sp>
        <p:nvSpPr>
          <p:cNvPr id="126" name="TextBox 125">
            <a:extLst>
              <a:ext uri="{FF2B5EF4-FFF2-40B4-BE49-F238E27FC236}">
                <a16:creationId xmlns:a16="http://schemas.microsoft.com/office/drawing/2014/main" id="{24EE8F0A-D186-40B0-AED5-8CB8E6B117D4}"/>
              </a:ext>
            </a:extLst>
          </p:cNvPr>
          <p:cNvSpPr txBox="1"/>
          <p:nvPr/>
        </p:nvSpPr>
        <p:spPr>
          <a:xfrm>
            <a:off x="1346200" y="8483600"/>
            <a:ext cx="15113000" cy="228600"/>
          </a:xfrm>
          <a:prstGeom prst="rect">
            <a:avLst/>
          </a:prstGeom>
          <a:noFill/>
        </p:spPr>
        <p:txBody>
          <a:bodyPr vertOverflow="overflow" vert="horz" wrap="square" rtlCol="0" anchor="t">
            <a:normAutofit fontScale="92500" lnSpcReduction="20000"/>
          </a:bodyPr>
          <a:lstStyle/>
          <a:p>
            <a:pPr algn="l"/>
            <a:r>
              <a:rPr lang="ko-KR" altLang="en-US" sz="1200" b="1">
                <a:solidFill>
                  <a:srgbClr val="4B73FF"/>
                </a:solidFill>
                <a:latin typeface="맑은 고딕"/>
                <a:ea typeface="맑은 고딕"/>
              </a:rPr>
              <a:t>주의  </a:t>
            </a:r>
            <a:r>
              <a:rPr lang="en-US" altLang="ko-KR" sz="1200" b="1">
                <a:solidFill>
                  <a:srgbClr val="4B73FF"/>
                </a:solidFill>
                <a:latin typeface="맑은 고딕"/>
                <a:ea typeface="맑은 고딕"/>
              </a:rPr>
              <a:t>|  32</a:t>
            </a:r>
            <a:r>
              <a:rPr lang="ko-KR" altLang="en-US" sz="1200" b="1">
                <a:solidFill>
                  <a:srgbClr val="4B73FF"/>
                </a:solidFill>
                <a:latin typeface="맑은 고딕"/>
                <a:ea typeface="맑은 고딕"/>
              </a:rPr>
              <a:t>주 예측을 </a:t>
            </a:r>
            <a:r>
              <a:rPr lang="en-US" altLang="ko-KR" sz="1200" b="1">
                <a:solidFill>
                  <a:srgbClr val="4B73FF"/>
                </a:solidFill>
                <a:latin typeface="맑은 고딕"/>
                <a:ea typeface="맑은 고딕"/>
              </a:rPr>
              <a:t>13</a:t>
            </a:r>
            <a:r>
              <a:rPr lang="ko-KR" altLang="en-US" sz="1200" b="1">
                <a:solidFill>
                  <a:srgbClr val="4B73FF"/>
                </a:solidFill>
                <a:latin typeface="맑은 고딕"/>
                <a:ea typeface="맑은 고딕"/>
              </a:rPr>
              <a:t>주 간격으로 실행하므로 평가 기간이 일부 겹치며</a:t>
            </a:r>
            <a:r>
              <a:rPr lang="en-US" altLang="ko-KR" sz="1200" b="1">
                <a:solidFill>
                  <a:srgbClr val="4B73FF"/>
                </a:solidFill>
                <a:latin typeface="맑은 고딕"/>
                <a:ea typeface="맑은 고딕"/>
              </a:rPr>
              <a:t>, </a:t>
            </a:r>
            <a:r>
              <a:rPr lang="ko-KR" altLang="en-US" sz="1200" b="1">
                <a:solidFill>
                  <a:srgbClr val="4B73FF"/>
                </a:solidFill>
                <a:latin typeface="맑은 고딕"/>
                <a:ea typeface="맑은 고딕"/>
              </a:rPr>
              <a:t>현재 성능은 뒤 </a:t>
            </a:r>
            <a:r>
              <a:rPr lang="en-US" altLang="ko-KR" sz="1200" b="1">
                <a:solidFill>
                  <a:srgbClr val="4B73FF"/>
                </a:solidFill>
                <a:latin typeface="맑은 고딕"/>
                <a:ea typeface="맑은 고딕"/>
              </a:rPr>
              <a:t>20% </a:t>
            </a:r>
            <a:r>
              <a:rPr lang="ko-KR" altLang="en-US" sz="1200" b="1">
                <a:solidFill>
                  <a:srgbClr val="4B73FF"/>
                </a:solidFill>
                <a:latin typeface="맑은 고딕"/>
                <a:ea typeface="맑은 고딕"/>
              </a:rPr>
              <a:t>최종 테스트 결과가 아닙니다</a:t>
            </a:r>
            <a:r>
              <a:rPr lang="en-US" altLang="ko-KR" sz="1200" b="1">
                <a:solidFill>
                  <a:srgbClr val="4B73FF"/>
                </a:solidFill>
                <a:latin typeface="맑은 고딕"/>
                <a:ea typeface="맑은 고딕"/>
              </a:rPr>
              <a:t>.</a:t>
            </a:r>
            <a:endParaRPr lang="ko-KR" altLang="en-US" sz="1200" b="1">
              <a:solidFill>
                <a:srgbClr val="4B73FF"/>
              </a:solidFill>
              <a:latin typeface="맑은 고딕"/>
              <a:ea typeface="맑은 고딕"/>
            </a:endParaRPr>
          </a:p>
        </p:txBody>
      </p:sp>
    </p:spTree>
    <p:extLst>
      <p:ext uri="{BB962C8B-B14F-4D97-AF65-F5344CB8AC3E}">
        <p14:creationId xmlns:p14="http://schemas.microsoft.com/office/powerpoint/2010/main" val="4291315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B656DD00-0CDC-46EB-BE4C-C1DBC0EA210B}"/>
              </a:ext>
            </a:extLst>
          </p:cNvPr>
          <p:cNvSpPr/>
          <p:nvPr/>
        </p:nvSpPr>
        <p:spPr>
          <a:xfrm>
            <a:off x="1041400" y="914400"/>
            <a:ext cx="939800" cy="25400"/>
          </a:xfrm>
          <a:prstGeom prst="rect">
            <a:avLst/>
          </a:prstGeom>
          <a:solidFill>
            <a:srgbClr val="AAB2B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 name="직사각형 2">
            <a:extLst>
              <a:ext uri="{FF2B5EF4-FFF2-40B4-BE49-F238E27FC236}">
                <a16:creationId xmlns:a16="http://schemas.microsoft.com/office/drawing/2014/main" id="{F0636030-A169-477D-AF46-7B2124DE8D97}"/>
              </a:ext>
            </a:extLst>
          </p:cNvPr>
          <p:cNvSpPr/>
          <p:nvPr/>
        </p:nvSpPr>
        <p:spPr>
          <a:xfrm>
            <a:off x="1981200" y="914400"/>
            <a:ext cx="228600" cy="25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 name="직사각형 3">
            <a:extLst>
              <a:ext uri="{FF2B5EF4-FFF2-40B4-BE49-F238E27FC236}">
                <a16:creationId xmlns:a16="http://schemas.microsoft.com/office/drawing/2014/main" id="{66149512-F730-4903-9DD1-12429ED0D556}"/>
              </a:ext>
            </a:extLst>
          </p:cNvPr>
          <p:cNvSpPr/>
          <p:nvPr/>
        </p:nvSpPr>
        <p:spPr>
          <a:xfrm>
            <a:off x="2209800" y="914400"/>
            <a:ext cx="13017500" cy="25400"/>
          </a:xfrm>
          <a:prstGeom prst="rect">
            <a:avLst/>
          </a:prstGeom>
          <a:solidFill>
            <a:srgbClr val="D5D9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 name="TextBox 4">
            <a:extLst>
              <a:ext uri="{FF2B5EF4-FFF2-40B4-BE49-F238E27FC236}">
                <a16:creationId xmlns:a16="http://schemas.microsoft.com/office/drawing/2014/main" id="{98A5C7D3-4D89-4A96-A5CB-575CA3D7E472}"/>
              </a:ext>
            </a:extLst>
          </p:cNvPr>
          <p:cNvSpPr txBox="1"/>
          <p:nvPr/>
        </p:nvSpPr>
        <p:spPr>
          <a:xfrm>
            <a:off x="1092200" y="1498600"/>
            <a:ext cx="8890000" cy="330200"/>
          </a:xfrm>
          <a:prstGeom prst="rect">
            <a:avLst/>
          </a:prstGeom>
          <a:noFill/>
        </p:spPr>
        <p:txBody>
          <a:bodyPr vertOverflow="overflow" vert="horz" wrap="square" rtlCol="0" anchor="t">
            <a:normAutofit/>
          </a:bodyPr>
          <a:lstStyle/>
          <a:p>
            <a:pPr algn="l"/>
            <a:r>
              <a:rPr lang="en-US" altLang="ko-KR" sz="1400">
                <a:solidFill>
                  <a:srgbClr val="8793A6"/>
                </a:solidFill>
                <a:latin typeface="맑은 고딕"/>
                <a:ea typeface="맑은 고딕"/>
              </a:rPr>
              <a:t>RECENT-MARGIN REGRESSION · METHOD</a:t>
            </a:r>
            <a:endParaRPr lang="ko-KR" altLang="en-US" sz="1400">
              <a:solidFill>
                <a:srgbClr val="8793A6"/>
              </a:solidFill>
              <a:latin typeface="맑은 고딕"/>
              <a:ea typeface="맑은 고딕"/>
            </a:endParaRPr>
          </a:p>
        </p:txBody>
      </p:sp>
      <p:sp>
        <p:nvSpPr>
          <p:cNvPr id="6" name="TextBox 5">
            <a:extLst>
              <a:ext uri="{FF2B5EF4-FFF2-40B4-BE49-F238E27FC236}">
                <a16:creationId xmlns:a16="http://schemas.microsoft.com/office/drawing/2014/main" id="{11ECFB35-7853-4D74-A2FB-66ABF9FD1B1E}"/>
              </a:ext>
            </a:extLst>
          </p:cNvPr>
          <p:cNvSpPr txBox="1"/>
          <p:nvPr/>
        </p:nvSpPr>
        <p:spPr>
          <a:xfrm>
            <a:off x="1041400" y="1981200"/>
            <a:ext cx="15494000" cy="736600"/>
          </a:xfrm>
          <a:prstGeom prst="rect">
            <a:avLst/>
          </a:prstGeom>
          <a:noFill/>
        </p:spPr>
        <p:txBody>
          <a:bodyPr vertOverflow="overflow" vert="horz" wrap="square" rtlCol="0" anchor="t">
            <a:normAutofit/>
          </a:bodyPr>
          <a:lstStyle/>
          <a:p>
            <a:pPr algn="l"/>
            <a:r>
              <a:rPr lang="ko-KR" altLang="en-US" sz="2900" b="1">
                <a:solidFill>
                  <a:srgbClr val="0F1A2E"/>
                </a:solidFill>
                <a:latin typeface="맑은 고딕"/>
                <a:ea typeface="맑은 고딕"/>
              </a:rPr>
              <a:t>국제가격 시차와 환율 효과를 분리한 뒤 최근 </a:t>
            </a:r>
            <a:r>
              <a:rPr lang="en-US" altLang="ko-KR" sz="2900" b="1">
                <a:solidFill>
                  <a:srgbClr val="0F1A2E"/>
                </a:solidFill>
                <a:latin typeface="맑은 고딕"/>
                <a:ea typeface="맑은 고딕"/>
              </a:rPr>
              <a:t>52</a:t>
            </a:r>
            <a:r>
              <a:rPr lang="ko-KR" altLang="en-US" sz="2900" b="1">
                <a:solidFill>
                  <a:srgbClr val="0F1A2E"/>
                </a:solidFill>
                <a:latin typeface="맑은 고딕"/>
                <a:ea typeface="맑은 고딕"/>
              </a:rPr>
              <a:t>주 잔차를 보정합니다</a:t>
            </a:r>
          </a:p>
        </p:txBody>
      </p:sp>
      <p:sp>
        <p:nvSpPr>
          <p:cNvPr id="7" name="TextBox 6">
            <a:extLst>
              <a:ext uri="{FF2B5EF4-FFF2-40B4-BE49-F238E27FC236}">
                <a16:creationId xmlns:a16="http://schemas.microsoft.com/office/drawing/2014/main" id="{F23413D4-C5CA-4C20-BA9B-54BA80CFF8EB}"/>
              </a:ext>
            </a:extLst>
          </p:cNvPr>
          <p:cNvSpPr txBox="1"/>
          <p:nvPr/>
        </p:nvSpPr>
        <p:spPr>
          <a:xfrm>
            <a:off x="1092200" y="2819400"/>
            <a:ext cx="14732000" cy="431800"/>
          </a:xfrm>
          <a:prstGeom prst="rect">
            <a:avLst/>
          </a:prstGeom>
          <a:noFill/>
        </p:spPr>
        <p:txBody>
          <a:bodyPr vertOverflow="overflow" vert="horz" wrap="square" rtlCol="0" anchor="t">
            <a:normAutofit/>
          </a:bodyPr>
          <a:lstStyle/>
          <a:p>
            <a:pPr algn="l"/>
            <a:r>
              <a:rPr lang="ko-KR" altLang="en-US" sz="1600">
                <a:solidFill>
                  <a:srgbClr val="7E899B"/>
                </a:solidFill>
                <a:latin typeface="맑은 고딕"/>
                <a:ea typeface="맑은 고딕"/>
              </a:rPr>
              <a:t>예측 기점마다 과거 데이터만 사용해 국제가격 반영 비중</a:t>
            </a:r>
            <a:r>
              <a:rPr lang="en-US" altLang="ko-KR" sz="1600">
                <a:solidFill>
                  <a:srgbClr val="7E899B"/>
                </a:solidFill>
                <a:latin typeface="맑은 고딕"/>
                <a:ea typeface="맑은 고딕"/>
              </a:rPr>
              <a:t>, </a:t>
            </a:r>
            <a:r>
              <a:rPr lang="ko-KR" altLang="en-US" sz="1600">
                <a:solidFill>
                  <a:srgbClr val="7E899B"/>
                </a:solidFill>
                <a:latin typeface="맑은 고딕"/>
                <a:ea typeface="맑은 고딕"/>
              </a:rPr>
              <a:t>환율 계수</a:t>
            </a:r>
            <a:r>
              <a:rPr lang="en-US" altLang="ko-KR" sz="1600">
                <a:solidFill>
                  <a:srgbClr val="7E899B"/>
                </a:solidFill>
                <a:latin typeface="맑은 고딕"/>
                <a:ea typeface="맑은 고딕"/>
              </a:rPr>
              <a:t>, </a:t>
            </a:r>
            <a:r>
              <a:rPr lang="ko-KR" altLang="en-US" sz="1600">
                <a:solidFill>
                  <a:srgbClr val="7E899B"/>
                </a:solidFill>
                <a:latin typeface="맑은 고딕"/>
                <a:ea typeface="맑은 고딕"/>
              </a:rPr>
              <a:t>최근 평균 잔차를 다시 계산합니다</a:t>
            </a:r>
            <a:r>
              <a:rPr lang="en-US" altLang="ko-KR" sz="1600">
                <a:solidFill>
                  <a:srgbClr val="7E899B"/>
                </a:solidFill>
                <a:latin typeface="맑은 고딕"/>
                <a:ea typeface="맑은 고딕"/>
              </a:rPr>
              <a:t>.</a:t>
            </a:r>
            <a:endParaRPr lang="ko-KR" altLang="en-US" sz="1600">
              <a:solidFill>
                <a:srgbClr val="7E899B"/>
              </a:solidFill>
              <a:latin typeface="맑은 고딕"/>
              <a:ea typeface="맑은 고딕"/>
            </a:endParaRPr>
          </a:p>
        </p:txBody>
      </p:sp>
      <p:sp>
        <p:nvSpPr>
          <p:cNvPr id="8" name="직사각형 7">
            <a:extLst>
              <a:ext uri="{FF2B5EF4-FFF2-40B4-BE49-F238E27FC236}">
                <a16:creationId xmlns:a16="http://schemas.microsoft.com/office/drawing/2014/main" id="{7854AB9E-B33E-42C2-B789-E82749565C7D}"/>
              </a:ext>
            </a:extLst>
          </p:cNvPr>
          <p:cNvSpPr/>
          <p:nvPr/>
        </p:nvSpPr>
        <p:spPr>
          <a:xfrm>
            <a:off x="9144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9" name="직사각형 8">
            <a:extLst>
              <a:ext uri="{FF2B5EF4-FFF2-40B4-BE49-F238E27FC236}">
                <a16:creationId xmlns:a16="http://schemas.microsoft.com/office/drawing/2014/main" id="{B99D32DE-B2A9-48CB-9B14-5550CBD3E057}"/>
              </a:ext>
            </a:extLst>
          </p:cNvPr>
          <p:cNvSpPr/>
          <p:nvPr/>
        </p:nvSpPr>
        <p:spPr>
          <a:xfrm>
            <a:off x="914400" y="3810000"/>
            <a:ext cx="127000" cy="33782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TextBox 9">
            <a:extLst>
              <a:ext uri="{FF2B5EF4-FFF2-40B4-BE49-F238E27FC236}">
                <a16:creationId xmlns:a16="http://schemas.microsoft.com/office/drawing/2014/main" id="{09F72874-573F-4714-BBC3-624BD2B1004B}"/>
              </a:ext>
            </a:extLst>
          </p:cNvPr>
          <p:cNvSpPr txBox="1"/>
          <p:nvPr/>
        </p:nvSpPr>
        <p:spPr>
          <a:xfrm>
            <a:off x="1270000" y="4114800"/>
            <a:ext cx="558800" cy="330200"/>
          </a:xfrm>
          <a:prstGeom prst="rect">
            <a:avLst/>
          </a:prstGeom>
          <a:noFill/>
        </p:spPr>
        <p:txBody>
          <a:bodyPr vertOverflow="overflow" vert="horz" wrap="square" rtlCol="0" anchor="t">
            <a:normAutofit/>
          </a:bodyPr>
          <a:lstStyle/>
          <a:p>
            <a:pPr algn="l"/>
            <a:r>
              <a:rPr lang="en-US" altLang="ko-KR" sz="1500" b="1">
                <a:solidFill>
                  <a:srgbClr val="4B73FF"/>
                </a:solidFill>
                <a:latin typeface="맑은 고딕"/>
                <a:ea typeface="맑은 고딕"/>
              </a:rPr>
              <a:t>01</a:t>
            </a:r>
            <a:endParaRPr lang="ko-KR" altLang="en-US" sz="1500" b="1">
              <a:solidFill>
                <a:srgbClr val="4B73FF"/>
              </a:solidFill>
              <a:latin typeface="맑은 고딕"/>
              <a:ea typeface="맑은 고딕"/>
            </a:endParaRPr>
          </a:p>
        </p:txBody>
      </p:sp>
      <p:sp>
        <p:nvSpPr>
          <p:cNvPr id="11" name="TextBox 10">
            <a:extLst>
              <a:ext uri="{FF2B5EF4-FFF2-40B4-BE49-F238E27FC236}">
                <a16:creationId xmlns:a16="http://schemas.microsoft.com/office/drawing/2014/main" id="{06B5D1D4-CBFD-423B-BCEA-1C167DF67667}"/>
              </a:ext>
            </a:extLst>
          </p:cNvPr>
          <p:cNvSpPr txBox="1"/>
          <p:nvPr/>
        </p:nvSpPr>
        <p:spPr>
          <a:xfrm>
            <a:off x="12700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데이터 준비</a:t>
            </a:r>
          </a:p>
        </p:txBody>
      </p:sp>
      <p:sp>
        <p:nvSpPr>
          <p:cNvPr id="12" name="TextBox 11">
            <a:extLst>
              <a:ext uri="{FF2B5EF4-FFF2-40B4-BE49-F238E27FC236}">
                <a16:creationId xmlns:a16="http://schemas.microsoft.com/office/drawing/2014/main" id="{C78E684F-EF20-4BC6-8D55-1630BCF268E6}"/>
              </a:ext>
            </a:extLst>
          </p:cNvPr>
          <p:cNvSpPr txBox="1"/>
          <p:nvPr/>
        </p:nvSpPr>
        <p:spPr>
          <a:xfrm>
            <a:off x="1270000" y="5461000"/>
            <a:ext cx="2108200" cy="1244600"/>
          </a:xfrm>
          <a:prstGeom prst="rect">
            <a:avLst/>
          </a:prstGeom>
          <a:noFill/>
        </p:spPr>
        <p:txBody>
          <a:bodyPr vertOverflow="overflow" vert="horz" wrap="square" rtlCol="0" anchor="t">
            <a:normAutofit lnSpcReduction="10000"/>
          </a:bodyPr>
          <a:lstStyle/>
          <a:p>
            <a:pPr algn="l"/>
            <a:r>
              <a:rPr lang="ko-KR" altLang="en-US" sz="1300">
                <a:solidFill>
                  <a:srgbClr val="7E899B"/>
                </a:solidFill>
                <a:latin typeface="맑은 고딕"/>
                <a:ea typeface="맑은 고딕"/>
              </a:rPr>
              <a:t>유종별 국내 세전 공급가격과
당주</a:t>
            </a:r>
            <a:r>
              <a:rPr lang="en-US" altLang="ko-KR" sz="1300">
                <a:solidFill>
                  <a:srgbClr val="7E899B"/>
                </a:solidFill>
                <a:latin typeface="맑은 고딕"/>
                <a:ea typeface="맑은 고딕"/>
              </a:rPr>
              <a:t>·1</a:t>
            </a:r>
            <a:r>
              <a:rPr lang="ko-KR" altLang="en-US" sz="1300">
                <a:solidFill>
                  <a:srgbClr val="7E899B"/>
                </a:solidFill>
                <a:latin typeface="맑은 고딕"/>
                <a:ea typeface="맑은 고딕"/>
              </a:rPr>
              <a:t>주 전</a:t>
            </a:r>
            <a:r>
              <a:rPr lang="en-US" altLang="ko-KR" sz="1300">
                <a:solidFill>
                  <a:srgbClr val="7E899B"/>
                </a:solidFill>
                <a:latin typeface="맑은 고딕"/>
                <a:ea typeface="맑은 고딕"/>
              </a:rPr>
              <a:t>·2</a:t>
            </a:r>
            <a:r>
              <a:rPr lang="ko-KR" altLang="en-US" sz="1300">
                <a:solidFill>
                  <a:srgbClr val="7E899B"/>
                </a:solidFill>
                <a:latin typeface="맑은 고딕"/>
                <a:ea typeface="맑은 고딕"/>
              </a:rPr>
              <a:t>주 전 국제가격</a:t>
            </a:r>
            <a:r>
              <a:rPr lang="en-US" altLang="ko-KR" sz="1300">
                <a:solidFill>
                  <a:srgbClr val="7E899B"/>
                </a:solidFill>
                <a:latin typeface="맑은 고딕"/>
                <a:ea typeface="맑은 고딕"/>
              </a:rPr>
              <a:t>,
</a:t>
            </a:r>
            <a:r>
              <a:rPr lang="ko-KR" altLang="en-US" sz="1300">
                <a:solidFill>
                  <a:srgbClr val="7E899B"/>
                </a:solidFill>
                <a:latin typeface="맑은 고딕"/>
                <a:ea typeface="맑은 고딕"/>
              </a:rPr>
              <a:t>같은 주 원</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달러 환율을 불러옴</a:t>
            </a:r>
          </a:p>
        </p:txBody>
      </p:sp>
      <p:sp>
        <p:nvSpPr>
          <p:cNvPr id="13" name="TextBox 12">
            <a:extLst>
              <a:ext uri="{FF2B5EF4-FFF2-40B4-BE49-F238E27FC236}">
                <a16:creationId xmlns:a16="http://schemas.microsoft.com/office/drawing/2014/main" id="{D89DDF38-9C7D-4A26-BBCD-7A2294DCE752}"/>
              </a:ext>
            </a:extLst>
          </p:cNvPr>
          <p:cNvSpPr txBox="1"/>
          <p:nvPr/>
        </p:nvSpPr>
        <p:spPr>
          <a:xfrm>
            <a:off x="37338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14" name="직사각형 13">
            <a:extLst>
              <a:ext uri="{FF2B5EF4-FFF2-40B4-BE49-F238E27FC236}">
                <a16:creationId xmlns:a16="http://schemas.microsoft.com/office/drawing/2014/main" id="{7FB4BD91-5627-4CC2-A89D-4072AEDB062A}"/>
              </a:ext>
            </a:extLst>
          </p:cNvPr>
          <p:cNvSpPr/>
          <p:nvPr/>
        </p:nvSpPr>
        <p:spPr>
          <a:xfrm>
            <a:off x="40640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 name="직사각형 14">
            <a:extLst>
              <a:ext uri="{FF2B5EF4-FFF2-40B4-BE49-F238E27FC236}">
                <a16:creationId xmlns:a16="http://schemas.microsoft.com/office/drawing/2014/main" id="{A692D3DD-78C7-4BE9-84BB-A99F2E42A7EB}"/>
              </a:ext>
            </a:extLst>
          </p:cNvPr>
          <p:cNvSpPr/>
          <p:nvPr/>
        </p:nvSpPr>
        <p:spPr>
          <a:xfrm>
            <a:off x="4064000" y="3810000"/>
            <a:ext cx="127000" cy="33782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 name="TextBox 15">
            <a:extLst>
              <a:ext uri="{FF2B5EF4-FFF2-40B4-BE49-F238E27FC236}">
                <a16:creationId xmlns:a16="http://schemas.microsoft.com/office/drawing/2014/main" id="{FCCB4C47-5F84-4E3A-A57C-BB9D6378814E}"/>
              </a:ext>
            </a:extLst>
          </p:cNvPr>
          <p:cNvSpPr txBox="1"/>
          <p:nvPr/>
        </p:nvSpPr>
        <p:spPr>
          <a:xfrm>
            <a:off x="4419600" y="4114800"/>
            <a:ext cx="558800" cy="330200"/>
          </a:xfrm>
          <a:prstGeom prst="rect">
            <a:avLst/>
          </a:prstGeom>
          <a:noFill/>
        </p:spPr>
        <p:txBody>
          <a:bodyPr vertOverflow="overflow" vert="horz" wrap="square" rtlCol="0" anchor="t">
            <a:normAutofit/>
          </a:bodyPr>
          <a:lstStyle/>
          <a:p>
            <a:pPr algn="l"/>
            <a:r>
              <a:rPr lang="en-US" altLang="ko-KR" sz="1500" b="1">
                <a:solidFill>
                  <a:srgbClr val="22AFCF"/>
                </a:solidFill>
                <a:latin typeface="맑은 고딕"/>
                <a:ea typeface="맑은 고딕"/>
              </a:rPr>
              <a:t>02</a:t>
            </a:r>
            <a:endParaRPr lang="ko-KR" altLang="en-US" sz="1500" b="1">
              <a:solidFill>
                <a:srgbClr val="22AFCF"/>
              </a:solidFill>
              <a:latin typeface="맑은 고딕"/>
              <a:ea typeface="맑은 고딕"/>
            </a:endParaRPr>
          </a:p>
        </p:txBody>
      </p:sp>
      <p:sp>
        <p:nvSpPr>
          <p:cNvPr id="17" name="TextBox 16">
            <a:extLst>
              <a:ext uri="{FF2B5EF4-FFF2-40B4-BE49-F238E27FC236}">
                <a16:creationId xmlns:a16="http://schemas.microsoft.com/office/drawing/2014/main" id="{35C1BACF-C587-470C-9575-5D15C4C79C90}"/>
              </a:ext>
            </a:extLst>
          </p:cNvPr>
          <p:cNvSpPr txBox="1"/>
          <p:nvPr/>
        </p:nvSpPr>
        <p:spPr>
          <a:xfrm>
            <a:off x="44196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시차</a:t>
            </a:r>
            <a:r>
              <a:rPr lang="en-US" altLang="ko-KR" sz="1600" b="1">
                <a:solidFill>
                  <a:srgbClr val="0F1A2E"/>
                </a:solidFill>
                <a:latin typeface="맑은 고딕"/>
                <a:ea typeface="맑은 고딕"/>
              </a:rPr>
              <a:t>·</a:t>
            </a:r>
            <a:r>
              <a:rPr lang="ko-KR" altLang="en-US" sz="1600" b="1">
                <a:solidFill>
                  <a:srgbClr val="0F1A2E"/>
                </a:solidFill>
                <a:latin typeface="맑은 고딕"/>
                <a:ea typeface="맑은 고딕"/>
              </a:rPr>
              <a:t>환율 효과 추정</a:t>
            </a:r>
          </a:p>
        </p:txBody>
      </p:sp>
      <p:sp>
        <p:nvSpPr>
          <p:cNvPr id="18" name="TextBox 17">
            <a:extLst>
              <a:ext uri="{FF2B5EF4-FFF2-40B4-BE49-F238E27FC236}">
                <a16:creationId xmlns:a16="http://schemas.microsoft.com/office/drawing/2014/main" id="{13F90DE3-C9EF-40CE-9777-5526C11D99A3}"/>
              </a:ext>
            </a:extLst>
          </p:cNvPr>
          <p:cNvSpPr txBox="1"/>
          <p:nvPr/>
        </p:nvSpPr>
        <p:spPr>
          <a:xfrm>
            <a:off x="4419600" y="5461000"/>
            <a:ext cx="2108200" cy="1244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정책 이전 학습 구간에서
세 국제가격과 환율이 국내 가격에
얼마나 반영되는지 함께 추정</a:t>
            </a:r>
          </a:p>
        </p:txBody>
      </p:sp>
      <p:sp>
        <p:nvSpPr>
          <p:cNvPr id="19" name="TextBox 18">
            <a:extLst>
              <a:ext uri="{FF2B5EF4-FFF2-40B4-BE49-F238E27FC236}">
                <a16:creationId xmlns:a16="http://schemas.microsoft.com/office/drawing/2014/main" id="{79A08E14-3E96-4BCF-895B-B3ED0251D27B}"/>
              </a:ext>
            </a:extLst>
          </p:cNvPr>
          <p:cNvSpPr txBox="1"/>
          <p:nvPr/>
        </p:nvSpPr>
        <p:spPr>
          <a:xfrm>
            <a:off x="68834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20" name="직사각형 19">
            <a:extLst>
              <a:ext uri="{FF2B5EF4-FFF2-40B4-BE49-F238E27FC236}">
                <a16:creationId xmlns:a16="http://schemas.microsoft.com/office/drawing/2014/main" id="{301D72E1-DA53-42D4-A6CA-F2F1128C5183}"/>
              </a:ext>
            </a:extLst>
          </p:cNvPr>
          <p:cNvSpPr/>
          <p:nvPr/>
        </p:nvSpPr>
        <p:spPr>
          <a:xfrm>
            <a:off x="72136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1" name="직사각형 20">
            <a:extLst>
              <a:ext uri="{FF2B5EF4-FFF2-40B4-BE49-F238E27FC236}">
                <a16:creationId xmlns:a16="http://schemas.microsoft.com/office/drawing/2014/main" id="{8A745AC4-A975-4FAE-BE31-CF41C89DEC52}"/>
              </a:ext>
            </a:extLst>
          </p:cNvPr>
          <p:cNvSpPr/>
          <p:nvPr/>
        </p:nvSpPr>
        <p:spPr>
          <a:xfrm>
            <a:off x="7213600" y="3810000"/>
            <a:ext cx="127000" cy="33782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2" name="TextBox 21">
            <a:extLst>
              <a:ext uri="{FF2B5EF4-FFF2-40B4-BE49-F238E27FC236}">
                <a16:creationId xmlns:a16="http://schemas.microsoft.com/office/drawing/2014/main" id="{A6B5E456-8F32-4D3F-A382-4781E093ADD5}"/>
              </a:ext>
            </a:extLst>
          </p:cNvPr>
          <p:cNvSpPr txBox="1"/>
          <p:nvPr/>
        </p:nvSpPr>
        <p:spPr>
          <a:xfrm>
            <a:off x="7569200" y="4114800"/>
            <a:ext cx="558800" cy="330200"/>
          </a:xfrm>
          <a:prstGeom prst="rect">
            <a:avLst/>
          </a:prstGeom>
          <a:noFill/>
        </p:spPr>
        <p:txBody>
          <a:bodyPr vertOverflow="overflow" vert="horz" wrap="square" rtlCol="0" anchor="t">
            <a:normAutofit/>
          </a:bodyPr>
          <a:lstStyle/>
          <a:p>
            <a:pPr algn="l"/>
            <a:r>
              <a:rPr lang="en-US" altLang="ko-KR" sz="1500" b="1">
                <a:solidFill>
                  <a:srgbClr val="4B73FF"/>
                </a:solidFill>
                <a:latin typeface="맑은 고딕"/>
                <a:ea typeface="맑은 고딕"/>
              </a:rPr>
              <a:t>03</a:t>
            </a:r>
            <a:endParaRPr lang="ko-KR" altLang="en-US" sz="1500" b="1">
              <a:solidFill>
                <a:srgbClr val="4B73FF"/>
              </a:solidFill>
              <a:latin typeface="맑은 고딕"/>
              <a:ea typeface="맑은 고딕"/>
            </a:endParaRPr>
          </a:p>
        </p:txBody>
      </p:sp>
      <p:sp>
        <p:nvSpPr>
          <p:cNvPr id="23" name="TextBox 22">
            <a:extLst>
              <a:ext uri="{FF2B5EF4-FFF2-40B4-BE49-F238E27FC236}">
                <a16:creationId xmlns:a16="http://schemas.microsoft.com/office/drawing/2014/main" id="{D89C4F66-7AE5-401F-92B3-4D6EA25E7B3D}"/>
              </a:ext>
            </a:extLst>
          </p:cNvPr>
          <p:cNvSpPr txBox="1"/>
          <p:nvPr/>
        </p:nvSpPr>
        <p:spPr>
          <a:xfrm>
            <a:off x="75692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국제가격 계수 제약</a:t>
            </a:r>
          </a:p>
        </p:txBody>
      </p:sp>
      <p:sp>
        <p:nvSpPr>
          <p:cNvPr id="24" name="TextBox 23">
            <a:extLst>
              <a:ext uri="{FF2B5EF4-FFF2-40B4-BE49-F238E27FC236}">
                <a16:creationId xmlns:a16="http://schemas.microsoft.com/office/drawing/2014/main" id="{8569E71B-D266-4FDE-8032-5CBA7E05B79A}"/>
              </a:ext>
            </a:extLst>
          </p:cNvPr>
          <p:cNvSpPr txBox="1"/>
          <p:nvPr/>
        </p:nvSpPr>
        <p:spPr>
          <a:xfrm>
            <a:off x="7569200" y="5461000"/>
            <a:ext cx="2108200" cy="1244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국제가격 세 계수의 합만
</a:t>
            </a:r>
            <a:r>
              <a:rPr lang="en-US" altLang="ko-KR" sz="1300">
                <a:solidFill>
                  <a:srgbClr val="7E899B"/>
                </a:solidFill>
                <a:latin typeface="맑은 고딕"/>
                <a:ea typeface="맑은 고딕"/>
              </a:rPr>
              <a:t>100%</a:t>
            </a:r>
            <a:r>
              <a:rPr lang="ko-KR" altLang="en-US" sz="1300">
                <a:solidFill>
                  <a:srgbClr val="7E899B"/>
                </a:solidFill>
                <a:latin typeface="맑은 고딕"/>
                <a:ea typeface="맑은 고딕"/>
              </a:rPr>
              <a:t>가 되도록 조정하고
환율 계수는 별도로 유지</a:t>
            </a:r>
          </a:p>
        </p:txBody>
      </p:sp>
      <p:sp>
        <p:nvSpPr>
          <p:cNvPr id="25" name="TextBox 24">
            <a:extLst>
              <a:ext uri="{FF2B5EF4-FFF2-40B4-BE49-F238E27FC236}">
                <a16:creationId xmlns:a16="http://schemas.microsoft.com/office/drawing/2014/main" id="{6A824BDE-32E3-46ED-B208-FE4805FBFFBC}"/>
              </a:ext>
            </a:extLst>
          </p:cNvPr>
          <p:cNvSpPr txBox="1"/>
          <p:nvPr/>
        </p:nvSpPr>
        <p:spPr>
          <a:xfrm>
            <a:off x="100330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26" name="직사각형 25">
            <a:extLst>
              <a:ext uri="{FF2B5EF4-FFF2-40B4-BE49-F238E27FC236}">
                <a16:creationId xmlns:a16="http://schemas.microsoft.com/office/drawing/2014/main" id="{EEB703D5-CBF8-4EAD-855D-C9477F106EE7}"/>
              </a:ext>
            </a:extLst>
          </p:cNvPr>
          <p:cNvSpPr/>
          <p:nvPr/>
        </p:nvSpPr>
        <p:spPr>
          <a:xfrm>
            <a:off x="103632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7" name="직사각형 26">
            <a:extLst>
              <a:ext uri="{FF2B5EF4-FFF2-40B4-BE49-F238E27FC236}">
                <a16:creationId xmlns:a16="http://schemas.microsoft.com/office/drawing/2014/main" id="{C07D9801-B137-4BA0-84E9-874942422F8C}"/>
              </a:ext>
            </a:extLst>
          </p:cNvPr>
          <p:cNvSpPr/>
          <p:nvPr/>
        </p:nvSpPr>
        <p:spPr>
          <a:xfrm>
            <a:off x="10363200" y="3810000"/>
            <a:ext cx="127000" cy="33782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8" name="TextBox 27">
            <a:extLst>
              <a:ext uri="{FF2B5EF4-FFF2-40B4-BE49-F238E27FC236}">
                <a16:creationId xmlns:a16="http://schemas.microsoft.com/office/drawing/2014/main" id="{5035793C-DD2E-4494-BB91-88DCE9EEBF96}"/>
              </a:ext>
            </a:extLst>
          </p:cNvPr>
          <p:cNvSpPr txBox="1"/>
          <p:nvPr/>
        </p:nvSpPr>
        <p:spPr>
          <a:xfrm>
            <a:off x="10718800" y="4114800"/>
            <a:ext cx="558800" cy="330200"/>
          </a:xfrm>
          <a:prstGeom prst="rect">
            <a:avLst/>
          </a:prstGeom>
          <a:noFill/>
        </p:spPr>
        <p:txBody>
          <a:bodyPr vertOverflow="overflow" vert="horz" wrap="square" rtlCol="0" anchor="t">
            <a:normAutofit/>
          </a:bodyPr>
          <a:lstStyle/>
          <a:p>
            <a:pPr algn="l"/>
            <a:r>
              <a:rPr lang="en-US" altLang="ko-KR" sz="1500" b="1">
                <a:solidFill>
                  <a:srgbClr val="22AFCF"/>
                </a:solidFill>
                <a:latin typeface="맑은 고딕"/>
                <a:ea typeface="맑은 고딕"/>
              </a:rPr>
              <a:t>04</a:t>
            </a:r>
            <a:endParaRPr lang="ko-KR" altLang="en-US" sz="1500" b="1">
              <a:solidFill>
                <a:srgbClr val="22AFCF"/>
              </a:solidFill>
              <a:latin typeface="맑은 고딕"/>
              <a:ea typeface="맑은 고딕"/>
            </a:endParaRPr>
          </a:p>
        </p:txBody>
      </p:sp>
      <p:sp>
        <p:nvSpPr>
          <p:cNvPr id="29" name="TextBox 28">
            <a:extLst>
              <a:ext uri="{FF2B5EF4-FFF2-40B4-BE49-F238E27FC236}">
                <a16:creationId xmlns:a16="http://schemas.microsoft.com/office/drawing/2014/main" id="{1C16A608-54FC-46A2-BD95-FA9FD19803D0}"/>
              </a:ext>
            </a:extLst>
          </p:cNvPr>
          <p:cNvSpPr txBox="1"/>
          <p:nvPr/>
        </p:nvSpPr>
        <p:spPr>
          <a:xfrm>
            <a:off x="107188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최근 잔차 보정</a:t>
            </a:r>
          </a:p>
        </p:txBody>
      </p:sp>
      <p:sp>
        <p:nvSpPr>
          <p:cNvPr id="30" name="TextBox 29">
            <a:extLst>
              <a:ext uri="{FF2B5EF4-FFF2-40B4-BE49-F238E27FC236}">
                <a16:creationId xmlns:a16="http://schemas.microsoft.com/office/drawing/2014/main" id="{71C2F751-8FDB-4E58-A930-6688DC5817F0}"/>
              </a:ext>
            </a:extLst>
          </p:cNvPr>
          <p:cNvSpPr txBox="1"/>
          <p:nvPr/>
        </p:nvSpPr>
        <p:spPr>
          <a:xfrm>
            <a:off x="10718800" y="5461000"/>
            <a:ext cx="2108200" cy="1244600"/>
          </a:xfrm>
          <a:prstGeom prst="rect">
            <a:avLst/>
          </a:prstGeom>
          <a:noFill/>
        </p:spPr>
        <p:txBody>
          <a:bodyPr vertOverflow="overflow" vert="horz" wrap="square" rtlCol="0" anchor="t">
            <a:normAutofit lnSpcReduction="10000"/>
          </a:bodyPr>
          <a:lstStyle/>
          <a:p>
            <a:pPr algn="l"/>
            <a:r>
              <a:rPr lang="ko-KR" altLang="en-US" sz="1300">
                <a:solidFill>
                  <a:srgbClr val="7E899B"/>
                </a:solidFill>
                <a:latin typeface="맑은 고딕"/>
                <a:ea typeface="맑은 고딕"/>
              </a:rPr>
              <a:t>환율 효과까지 포함한 예측값과
실제 공급가격의 차이를 구해
마지막 </a:t>
            </a:r>
            <a:r>
              <a:rPr lang="en-US" altLang="ko-KR" sz="1300">
                <a:solidFill>
                  <a:srgbClr val="7E899B"/>
                </a:solidFill>
                <a:latin typeface="맑은 고딕"/>
                <a:ea typeface="맑은 고딕"/>
              </a:rPr>
              <a:t>52</a:t>
            </a:r>
            <a:r>
              <a:rPr lang="ko-KR" altLang="en-US" sz="1300">
                <a:solidFill>
                  <a:srgbClr val="7E899B"/>
                </a:solidFill>
                <a:latin typeface="맑은 고딕"/>
                <a:ea typeface="맑은 고딕"/>
              </a:rPr>
              <a:t>주 평균 잔차 계산</a:t>
            </a:r>
          </a:p>
        </p:txBody>
      </p:sp>
      <p:sp>
        <p:nvSpPr>
          <p:cNvPr id="31" name="TextBox 30">
            <a:extLst>
              <a:ext uri="{FF2B5EF4-FFF2-40B4-BE49-F238E27FC236}">
                <a16:creationId xmlns:a16="http://schemas.microsoft.com/office/drawing/2014/main" id="{832CFC00-B957-45A9-A9F0-92AA2CD4B6DF}"/>
              </a:ext>
            </a:extLst>
          </p:cNvPr>
          <p:cNvSpPr txBox="1"/>
          <p:nvPr/>
        </p:nvSpPr>
        <p:spPr>
          <a:xfrm>
            <a:off x="131826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32" name="직사각형 31">
            <a:extLst>
              <a:ext uri="{FF2B5EF4-FFF2-40B4-BE49-F238E27FC236}">
                <a16:creationId xmlns:a16="http://schemas.microsoft.com/office/drawing/2014/main" id="{9330AC91-C147-4C48-9778-A7327720E0FA}"/>
              </a:ext>
            </a:extLst>
          </p:cNvPr>
          <p:cNvSpPr/>
          <p:nvPr/>
        </p:nvSpPr>
        <p:spPr>
          <a:xfrm>
            <a:off x="135128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3" name="직사각형 32">
            <a:extLst>
              <a:ext uri="{FF2B5EF4-FFF2-40B4-BE49-F238E27FC236}">
                <a16:creationId xmlns:a16="http://schemas.microsoft.com/office/drawing/2014/main" id="{50B1286D-EA95-4EDB-B500-0AA187717C8F}"/>
              </a:ext>
            </a:extLst>
          </p:cNvPr>
          <p:cNvSpPr/>
          <p:nvPr/>
        </p:nvSpPr>
        <p:spPr>
          <a:xfrm>
            <a:off x="13512800" y="3810000"/>
            <a:ext cx="127000" cy="33782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4" name="TextBox 33">
            <a:extLst>
              <a:ext uri="{FF2B5EF4-FFF2-40B4-BE49-F238E27FC236}">
                <a16:creationId xmlns:a16="http://schemas.microsoft.com/office/drawing/2014/main" id="{C3ACDC10-0C5F-43D8-9D46-EF2269F904EC}"/>
              </a:ext>
            </a:extLst>
          </p:cNvPr>
          <p:cNvSpPr txBox="1"/>
          <p:nvPr/>
        </p:nvSpPr>
        <p:spPr>
          <a:xfrm>
            <a:off x="13868400" y="4114800"/>
            <a:ext cx="558800" cy="330200"/>
          </a:xfrm>
          <a:prstGeom prst="rect">
            <a:avLst/>
          </a:prstGeom>
          <a:noFill/>
        </p:spPr>
        <p:txBody>
          <a:bodyPr vertOverflow="overflow" vert="horz" wrap="square" rtlCol="0" anchor="t">
            <a:normAutofit/>
          </a:bodyPr>
          <a:lstStyle/>
          <a:p>
            <a:pPr algn="l"/>
            <a:r>
              <a:rPr lang="en-US" altLang="ko-KR" sz="1500" b="1">
                <a:solidFill>
                  <a:srgbClr val="4B73FF"/>
                </a:solidFill>
                <a:latin typeface="맑은 고딕"/>
                <a:ea typeface="맑은 고딕"/>
              </a:rPr>
              <a:t>05</a:t>
            </a:r>
            <a:endParaRPr lang="ko-KR" altLang="en-US" sz="1500" b="1">
              <a:solidFill>
                <a:srgbClr val="4B73FF"/>
              </a:solidFill>
              <a:latin typeface="맑은 고딕"/>
              <a:ea typeface="맑은 고딕"/>
            </a:endParaRPr>
          </a:p>
        </p:txBody>
      </p:sp>
      <p:sp>
        <p:nvSpPr>
          <p:cNvPr id="35" name="TextBox 34">
            <a:extLst>
              <a:ext uri="{FF2B5EF4-FFF2-40B4-BE49-F238E27FC236}">
                <a16:creationId xmlns:a16="http://schemas.microsoft.com/office/drawing/2014/main" id="{BBD8EC0D-DDB0-43DE-9808-8A17A17B4B0E}"/>
              </a:ext>
            </a:extLst>
          </p:cNvPr>
          <p:cNvSpPr txBox="1"/>
          <p:nvPr/>
        </p:nvSpPr>
        <p:spPr>
          <a:xfrm>
            <a:off x="138684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미래 공급가 예측</a:t>
            </a:r>
          </a:p>
        </p:txBody>
      </p:sp>
      <p:sp>
        <p:nvSpPr>
          <p:cNvPr id="36" name="TextBox 35">
            <a:extLst>
              <a:ext uri="{FF2B5EF4-FFF2-40B4-BE49-F238E27FC236}">
                <a16:creationId xmlns:a16="http://schemas.microsoft.com/office/drawing/2014/main" id="{EC791279-798C-4A7D-AFCF-5ED6DF03DB3D}"/>
              </a:ext>
            </a:extLst>
          </p:cNvPr>
          <p:cNvSpPr txBox="1"/>
          <p:nvPr/>
        </p:nvSpPr>
        <p:spPr>
          <a:xfrm>
            <a:off x="13868400" y="5461000"/>
            <a:ext cx="2108200" cy="1244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미래 국제가격</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환율 효과에
최근 </a:t>
            </a:r>
            <a:r>
              <a:rPr lang="en-US" altLang="ko-KR" sz="1300">
                <a:solidFill>
                  <a:srgbClr val="7E899B"/>
                </a:solidFill>
                <a:latin typeface="맑은 고딕"/>
                <a:ea typeface="맑은 고딕"/>
              </a:rPr>
              <a:t>52</a:t>
            </a:r>
            <a:r>
              <a:rPr lang="ko-KR" altLang="en-US" sz="1300">
                <a:solidFill>
                  <a:srgbClr val="7E899B"/>
                </a:solidFill>
                <a:latin typeface="맑은 고딕"/>
                <a:ea typeface="맑은 고딕"/>
              </a:rPr>
              <a:t>주 평균 잔차를 더해
무상한 공급가격 산출</a:t>
            </a:r>
          </a:p>
        </p:txBody>
      </p:sp>
      <p:sp>
        <p:nvSpPr>
          <p:cNvPr id="37" name="직사각형 36">
            <a:extLst>
              <a:ext uri="{FF2B5EF4-FFF2-40B4-BE49-F238E27FC236}">
                <a16:creationId xmlns:a16="http://schemas.microsoft.com/office/drawing/2014/main" id="{AA1C97D7-71E9-449A-B117-D2A93FBC10E9}"/>
              </a:ext>
            </a:extLst>
          </p:cNvPr>
          <p:cNvSpPr/>
          <p:nvPr/>
        </p:nvSpPr>
        <p:spPr>
          <a:xfrm>
            <a:off x="914400" y="7493000"/>
            <a:ext cx="15392400" cy="11684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8" name="TextBox 37">
            <a:extLst>
              <a:ext uri="{FF2B5EF4-FFF2-40B4-BE49-F238E27FC236}">
                <a16:creationId xmlns:a16="http://schemas.microsoft.com/office/drawing/2014/main" id="{E27D307F-1860-4AB5-B990-773DF422EB05}"/>
              </a:ext>
            </a:extLst>
          </p:cNvPr>
          <p:cNvSpPr txBox="1"/>
          <p:nvPr/>
        </p:nvSpPr>
        <p:spPr>
          <a:xfrm>
            <a:off x="1295400" y="7772400"/>
            <a:ext cx="3175000" cy="330200"/>
          </a:xfrm>
          <a:prstGeom prst="rect">
            <a:avLst/>
          </a:prstGeom>
          <a:noFill/>
        </p:spPr>
        <p:txBody>
          <a:bodyPr vertOverflow="overflow" vert="horz" wrap="square" rtlCol="0" anchor="t">
            <a:normAutofit lnSpcReduction="10000"/>
          </a:bodyPr>
          <a:lstStyle/>
          <a:p>
            <a:pPr algn="l"/>
            <a:r>
              <a:rPr lang="ko-KR" altLang="en-US" sz="1700" b="1">
                <a:solidFill>
                  <a:srgbClr val="35C6E8"/>
                </a:solidFill>
                <a:latin typeface="맑은 고딕"/>
                <a:ea typeface="맑은 고딕"/>
              </a:rPr>
              <a:t>왜 잔차를 보정하나</a:t>
            </a:r>
            <a:r>
              <a:rPr lang="en-US" altLang="ko-KR" sz="1700" b="1">
                <a:solidFill>
                  <a:srgbClr val="35C6E8"/>
                </a:solidFill>
                <a:latin typeface="맑은 고딕"/>
                <a:ea typeface="맑은 고딕"/>
              </a:rPr>
              <a:t>?</a:t>
            </a:r>
            <a:endParaRPr lang="ko-KR" altLang="en-US" sz="1700" b="1">
              <a:solidFill>
                <a:srgbClr val="35C6E8"/>
              </a:solidFill>
              <a:latin typeface="맑은 고딕"/>
              <a:ea typeface="맑은 고딕"/>
            </a:endParaRPr>
          </a:p>
        </p:txBody>
      </p:sp>
      <p:sp>
        <p:nvSpPr>
          <p:cNvPr id="39" name="TextBox 38">
            <a:extLst>
              <a:ext uri="{FF2B5EF4-FFF2-40B4-BE49-F238E27FC236}">
                <a16:creationId xmlns:a16="http://schemas.microsoft.com/office/drawing/2014/main" id="{DA0F5F12-4155-4289-A6FB-8063B7956D90}"/>
              </a:ext>
            </a:extLst>
          </p:cNvPr>
          <p:cNvSpPr txBox="1"/>
          <p:nvPr/>
        </p:nvSpPr>
        <p:spPr>
          <a:xfrm>
            <a:off x="4699000" y="7721600"/>
            <a:ext cx="11049000" cy="685800"/>
          </a:xfrm>
          <a:prstGeom prst="rect">
            <a:avLst/>
          </a:prstGeom>
          <a:noFill/>
        </p:spPr>
        <p:txBody>
          <a:bodyPr vertOverflow="overflow" vert="horz" wrap="square" rtlCol="0" anchor="t">
            <a:normAutofit/>
          </a:bodyPr>
          <a:lstStyle/>
          <a:p>
            <a:pPr algn="l"/>
            <a:r>
              <a:rPr lang="ko-KR" altLang="en-US" sz="1400">
                <a:solidFill>
                  <a:srgbClr val="FFFFFF"/>
                </a:solidFill>
                <a:latin typeface="맑은 고딕"/>
                <a:ea typeface="맑은 고딕"/>
              </a:rPr>
              <a:t>국제가격과 환율만으로 설명되지 않는 정제</a:t>
            </a:r>
            <a:r>
              <a:rPr lang="en-US" altLang="ko-KR" sz="1400">
                <a:solidFill>
                  <a:srgbClr val="FFFFFF"/>
                </a:solidFill>
                <a:latin typeface="맑은 고딕"/>
                <a:ea typeface="맑은 고딕"/>
              </a:rPr>
              <a:t>·</a:t>
            </a:r>
            <a:r>
              <a:rPr lang="ko-KR" altLang="en-US" sz="1400">
                <a:solidFill>
                  <a:srgbClr val="FFFFFF"/>
                </a:solidFill>
                <a:latin typeface="맑은 고딕"/>
                <a:ea typeface="맑은 고딕"/>
              </a:rPr>
              <a:t>운송</a:t>
            </a:r>
            <a:r>
              <a:rPr lang="en-US" altLang="ko-KR" sz="1400">
                <a:solidFill>
                  <a:srgbClr val="FFFFFF"/>
                </a:solidFill>
                <a:latin typeface="맑은 고딕"/>
                <a:ea typeface="맑은 고딕"/>
              </a:rPr>
              <a:t>·</a:t>
            </a:r>
            <a:r>
              <a:rPr lang="ko-KR" altLang="en-US" sz="1400">
                <a:solidFill>
                  <a:srgbClr val="FFFFFF"/>
                </a:solidFill>
                <a:latin typeface="맑은 고딕"/>
                <a:ea typeface="맑은 고딕"/>
              </a:rPr>
              <a:t>유통 비용과 최근 국내 가격 수준을 반영하기 위해서입니다</a:t>
            </a:r>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따라서 이번 보정값은 단순 가격 차이인 ‘마진’이 아니라</a:t>
            </a:r>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환율 효과까지 제거한 뒤 남은 평균 예측오차입니다</a:t>
            </a:r>
            <a:r>
              <a:rPr lang="en-US" altLang="ko-KR" sz="1400">
                <a:solidFill>
                  <a:srgbClr val="FFFFFF"/>
                </a:solidFill>
                <a:latin typeface="맑은 고딕"/>
                <a:ea typeface="맑은 고딕"/>
              </a:rPr>
              <a:t>.</a:t>
            </a:r>
            <a:endParaRPr lang="ko-KR" altLang="en-US" sz="1400">
              <a:solidFill>
                <a:srgbClr val="FFFFFF"/>
              </a:solidFill>
              <a:latin typeface="맑은 고딕"/>
              <a:ea typeface="맑은 고딕"/>
            </a:endParaRPr>
          </a:p>
        </p:txBody>
      </p:sp>
      <p:sp>
        <p:nvSpPr>
          <p:cNvPr id="40" name="TextBox 39">
            <a:extLst>
              <a:ext uri="{FF2B5EF4-FFF2-40B4-BE49-F238E27FC236}">
                <a16:creationId xmlns:a16="http://schemas.microsoft.com/office/drawing/2014/main" id="{DBA77714-0500-4A6C-BDE9-88F5F541F467}"/>
              </a:ext>
            </a:extLst>
          </p:cNvPr>
          <p:cNvSpPr txBox="1"/>
          <p:nvPr/>
        </p:nvSpPr>
        <p:spPr>
          <a:xfrm>
            <a:off x="1066800" y="8940800"/>
            <a:ext cx="14986000" cy="203200"/>
          </a:xfrm>
          <a:prstGeom prst="rect">
            <a:avLst/>
          </a:prstGeom>
          <a:noFill/>
        </p:spPr>
        <p:txBody>
          <a:bodyPr vertOverflow="overflow" vert="horz" wrap="square" rtlCol="0" anchor="t">
            <a:normAutofit fontScale="92500" lnSpcReduction="20000"/>
          </a:bodyPr>
          <a:lstStyle/>
          <a:p>
            <a:pPr algn="l"/>
            <a:r>
              <a:rPr lang="ko-KR" altLang="en-US" sz="1000">
                <a:solidFill>
                  <a:srgbClr val="98A2B3"/>
                </a:solidFill>
                <a:latin typeface="맑은 고딕"/>
                <a:ea typeface="맑은 고딕"/>
              </a:rPr>
              <a:t>운영 원칙  </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예측 기점마다 정규화 기준</a:t>
            </a:r>
            <a:r>
              <a:rPr lang="en-US" altLang="ko-KR" sz="1000">
                <a:solidFill>
                  <a:srgbClr val="98A2B3"/>
                </a:solidFill>
                <a:latin typeface="맑은 고딕"/>
                <a:ea typeface="맑은 고딕"/>
              </a:rPr>
              <a:t>·</a:t>
            </a:r>
            <a:r>
              <a:rPr lang="ko-KR" altLang="en-US" sz="1000">
                <a:solidFill>
                  <a:srgbClr val="98A2B3"/>
                </a:solidFill>
                <a:latin typeface="맑은 고딕"/>
                <a:ea typeface="맑은 고딕"/>
              </a:rPr>
              <a:t>회귀계수</a:t>
            </a:r>
            <a:r>
              <a:rPr lang="en-US" altLang="ko-KR" sz="1000">
                <a:solidFill>
                  <a:srgbClr val="98A2B3"/>
                </a:solidFill>
                <a:latin typeface="맑은 고딕"/>
                <a:ea typeface="맑은 고딕"/>
              </a:rPr>
              <a:t>·52</a:t>
            </a:r>
            <a:r>
              <a:rPr lang="ko-KR" altLang="en-US" sz="1000">
                <a:solidFill>
                  <a:srgbClr val="98A2B3"/>
                </a:solidFill>
                <a:latin typeface="맑은 고딕"/>
                <a:ea typeface="맑은 고딕"/>
              </a:rPr>
              <a:t>주 평균 잔차를 다시 계산하며</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환율은 독립 설명변수로 직접 투입</a:t>
            </a:r>
          </a:p>
        </p:txBody>
      </p:sp>
    </p:spTree>
    <p:extLst>
      <p:ext uri="{BB962C8B-B14F-4D97-AF65-F5344CB8AC3E}">
        <p14:creationId xmlns:p14="http://schemas.microsoft.com/office/powerpoint/2010/main" val="3161107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364B90B-91B2-4F3D-9948-BA5D8A7F0958}"/>
              </a:ext>
            </a:extLst>
          </p:cNvPr>
          <p:cNvSpPr/>
          <p:nvPr/>
        </p:nvSpPr>
        <p:spPr>
          <a:xfrm>
            <a:off x="1041400" y="914400"/>
            <a:ext cx="939800" cy="25400"/>
          </a:xfrm>
          <a:prstGeom prst="rect">
            <a:avLst/>
          </a:prstGeom>
          <a:solidFill>
            <a:srgbClr val="AAB2B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 name="직사각형 2">
            <a:extLst>
              <a:ext uri="{FF2B5EF4-FFF2-40B4-BE49-F238E27FC236}">
                <a16:creationId xmlns:a16="http://schemas.microsoft.com/office/drawing/2014/main" id="{A11D5BFC-1B1F-4BB8-A40F-3099E2E90B21}"/>
              </a:ext>
            </a:extLst>
          </p:cNvPr>
          <p:cNvSpPr/>
          <p:nvPr/>
        </p:nvSpPr>
        <p:spPr>
          <a:xfrm>
            <a:off x="1981200" y="914400"/>
            <a:ext cx="228600" cy="25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 name="직사각형 3">
            <a:extLst>
              <a:ext uri="{FF2B5EF4-FFF2-40B4-BE49-F238E27FC236}">
                <a16:creationId xmlns:a16="http://schemas.microsoft.com/office/drawing/2014/main" id="{7DB377CD-00B0-43F1-9035-46EF507761A6}"/>
              </a:ext>
            </a:extLst>
          </p:cNvPr>
          <p:cNvSpPr/>
          <p:nvPr/>
        </p:nvSpPr>
        <p:spPr>
          <a:xfrm>
            <a:off x="2209800" y="914400"/>
            <a:ext cx="13017500" cy="25400"/>
          </a:xfrm>
          <a:prstGeom prst="rect">
            <a:avLst/>
          </a:prstGeom>
          <a:solidFill>
            <a:srgbClr val="D5D9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 name="TextBox 4">
            <a:extLst>
              <a:ext uri="{FF2B5EF4-FFF2-40B4-BE49-F238E27FC236}">
                <a16:creationId xmlns:a16="http://schemas.microsoft.com/office/drawing/2014/main" id="{3BEE4DAE-3025-491D-840F-F34BBC0BACC1}"/>
              </a:ext>
            </a:extLst>
          </p:cNvPr>
          <p:cNvSpPr txBox="1"/>
          <p:nvPr/>
        </p:nvSpPr>
        <p:spPr>
          <a:xfrm>
            <a:off x="1092200" y="1498600"/>
            <a:ext cx="7874000" cy="330200"/>
          </a:xfrm>
          <a:prstGeom prst="rect">
            <a:avLst/>
          </a:prstGeom>
          <a:noFill/>
        </p:spPr>
        <p:txBody>
          <a:bodyPr vertOverflow="overflow" vert="horz" wrap="square" rtlCol="0" anchor="t">
            <a:normAutofit/>
          </a:bodyPr>
          <a:lstStyle/>
          <a:p>
            <a:pPr algn="l"/>
            <a:r>
              <a:rPr lang="en-US" altLang="ko-KR" sz="1400">
                <a:solidFill>
                  <a:srgbClr val="8793A6"/>
                </a:solidFill>
                <a:latin typeface="맑은 고딕"/>
                <a:ea typeface="맑은 고딕"/>
              </a:rPr>
              <a:t>PRODUCT-SPECIFIC REGRESSION</a:t>
            </a:r>
            <a:endParaRPr lang="ko-KR" altLang="en-US" sz="1400">
              <a:solidFill>
                <a:srgbClr val="8793A6"/>
              </a:solidFill>
              <a:latin typeface="맑은 고딕"/>
              <a:ea typeface="맑은 고딕"/>
            </a:endParaRPr>
          </a:p>
        </p:txBody>
      </p:sp>
      <p:sp>
        <p:nvSpPr>
          <p:cNvPr id="6" name="TextBox 5">
            <a:extLst>
              <a:ext uri="{FF2B5EF4-FFF2-40B4-BE49-F238E27FC236}">
                <a16:creationId xmlns:a16="http://schemas.microsoft.com/office/drawing/2014/main" id="{BD19FFF1-0F0F-4C2D-A6EA-FB85A6D774D2}"/>
              </a:ext>
            </a:extLst>
          </p:cNvPr>
          <p:cNvSpPr txBox="1"/>
          <p:nvPr/>
        </p:nvSpPr>
        <p:spPr>
          <a:xfrm>
            <a:off x="1041400" y="1981200"/>
            <a:ext cx="15494000" cy="736600"/>
          </a:xfrm>
          <a:prstGeom prst="rect">
            <a:avLst/>
          </a:prstGeom>
          <a:noFill/>
        </p:spPr>
        <p:txBody>
          <a:bodyPr vertOverflow="overflow" vert="horz" wrap="square" rtlCol="0" anchor="t">
            <a:normAutofit/>
          </a:bodyPr>
          <a:lstStyle/>
          <a:p>
            <a:pPr algn="l"/>
            <a:r>
              <a:rPr lang="ko-KR" altLang="en-US" sz="2900" b="1">
                <a:solidFill>
                  <a:srgbClr val="0F1A2E"/>
                </a:solidFill>
                <a:latin typeface="맑은 고딕"/>
                <a:ea typeface="맑은 고딕"/>
              </a:rPr>
              <a:t>유종별 회귀식은 국제가격 </a:t>
            </a:r>
            <a:r>
              <a:rPr lang="en-US" altLang="ko-KR" sz="2900" b="1">
                <a:solidFill>
                  <a:srgbClr val="0F1A2E"/>
                </a:solidFill>
                <a:latin typeface="맑은 고딕"/>
                <a:ea typeface="맑은 고딕"/>
              </a:rPr>
              <a:t>3</a:t>
            </a:r>
            <a:r>
              <a:rPr lang="ko-KR" altLang="en-US" sz="2900" b="1">
                <a:solidFill>
                  <a:srgbClr val="0F1A2E"/>
                </a:solidFill>
                <a:latin typeface="맑은 고딕"/>
                <a:ea typeface="맑은 고딕"/>
              </a:rPr>
              <a:t>개 시점 </a:t>
            </a:r>
            <a:r>
              <a:rPr lang="en-US" altLang="ko-KR" sz="2900" b="1">
                <a:solidFill>
                  <a:srgbClr val="0F1A2E"/>
                </a:solidFill>
                <a:latin typeface="맑은 고딕"/>
                <a:ea typeface="맑은 고딕"/>
              </a:rPr>
              <a:t>+ </a:t>
            </a:r>
            <a:r>
              <a:rPr lang="ko-KR" altLang="en-US" sz="2900" b="1">
                <a:solidFill>
                  <a:srgbClr val="0F1A2E"/>
                </a:solidFill>
                <a:latin typeface="맑은 고딕"/>
                <a:ea typeface="맑은 고딕"/>
              </a:rPr>
              <a:t>같은 주 환율 </a:t>
            </a:r>
            <a:r>
              <a:rPr lang="en-US" altLang="ko-KR" sz="2900" b="1">
                <a:solidFill>
                  <a:srgbClr val="0F1A2E"/>
                </a:solidFill>
                <a:latin typeface="맑은 고딕"/>
                <a:ea typeface="맑은 고딕"/>
              </a:rPr>
              <a:t>+ </a:t>
            </a:r>
            <a:r>
              <a:rPr lang="ko-KR" altLang="en-US" sz="2900" b="1">
                <a:solidFill>
                  <a:srgbClr val="0F1A2E"/>
                </a:solidFill>
                <a:latin typeface="맑은 고딕"/>
                <a:ea typeface="맑은 고딕"/>
              </a:rPr>
              <a:t>잔차 보정입니다</a:t>
            </a:r>
          </a:p>
        </p:txBody>
      </p:sp>
      <p:sp>
        <p:nvSpPr>
          <p:cNvPr id="7" name="TextBox 6">
            <a:extLst>
              <a:ext uri="{FF2B5EF4-FFF2-40B4-BE49-F238E27FC236}">
                <a16:creationId xmlns:a16="http://schemas.microsoft.com/office/drawing/2014/main" id="{093F881C-4D75-493D-BFE4-254276CF275A}"/>
              </a:ext>
            </a:extLst>
          </p:cNvPr>
          <p:cNvSpPr txBox="1"/>
          <p:nvPr/>
        </p:nvSpPr>
        <p:spPr>
          <a:xfrm>
            <a:off x="1092200" y="2819400"/>
            <a:ext cx="14732000" cy="431800"/>
          </a:xfrm>
          <a:prstGeom prst="rect">
            <a:avLst/>
          </a:prstGeom>
          <a:noFill/>
        </p:spPr>
        <p:txBody>
          <a:bodyPr vertOverflow="overflow" vert="horz" wrap="square" rtlCol="0" anchor="t">
            <a:normAutofit/>
          </a:bodyPr>
          <a:lstStyle/>
          <a:p>
            <a:pPr algn="l"/>
            <a:r>
              <a:rPr lang="ko-KR" altLang="en-US" sz="1600">
                <a:solidFill>
                  <a:srgbClr val="7E899B"/>
                </a:solidFill>
                <a:latin typeface="맑은 고딕"/>
                <a:ea typeface="맑은 고딕"/>
              </a:rPr>
              <a:t>세 식의 구조는 같지만 국제가격 변수</a:t>
            </a:r>
            <a:r>
              <a:rPr lang="en-US" altLang="ko-KR" sz="1600">
                <a:solidFill>
                  <a:srgbClr val="7E899B"/>
                </a:solidFill>
                <a:latin typeface="맑은 고딕"/>
                <a:ea typeface="맑은 고딕"/>
              </a:rPr>
              <a:t>, </a:t>
            </a:r>
            <a:r>
              <a:rPr lang="ko-KR" altLang="en-US" sz="1600">
                <a:solidFill>
                  <a:srgbClr val="7E899B"/>
                </a:solidFill>
                <a:latin typeface="맑은 고딕"/>
                <a:ea typeface="맑은 고딕"/>
              </a:rPr>
              <a:t>시차별 반영 비중</a:t>
            </a:r>
            <a:r>
              <a:rPr lang="en-US" altLang="ko-KR" sz="1600">
                <a:solidFill>
                  <a:srgbClr val="7E899B"/>
                </a:solidFill>
                <a:latin typeface="맑은 고딕"/>
                <a:ea typeface="맑은 고딕"/>
              </a:rPr>
              <a:t>, </a:t>
            </a:r>
            <a:r>
              <a:rPr lang="ko-KR" altLang="en-US" sz="1600">
                <a:solidFill>
                  <a:srgbClr val="7E899B"/>
                </a:solidFill>
                <a:latin typeface="맑은 고딕"/>
                <a:ea typeface="맑은 고딕"/>
              </a:rPr>
              <a:t>환율 계수</a:t>
            </a:r>
            <a:r>
              <a:rPr lang="en-US" altLang="ko-KR" sz="1600">
                <a:solidFill>
                  <a:srgbClr val="7E899B"/>
                </a:solidFill>
                <a:latin typeface="맑은 고딕"/>
                <a:ea typeface="맑은 고딕"/>
              </a:rPr>
              <a:t>, </a:t>
            </a:r>
            <a:r>
              <a:rPr lang="ko-KR" altLang="en-US" sz="1600">
                <a:solidFill>
                  <a:srgbClr val="7E899B"/>
                </a:solidFill>
                <a:latin typeface="맑은 고딕"/>
                <a:ea typeface="맑은 고딕"/>
              </a:rPr>
              <a:t>최근 </a:t>
            </a:r>
            <a:r>
              <a:rPr lang="en-US" altLang="ko-KR" sz="1600">
                <a:solidFill>
                  <a:srgbClr val="7E899B"/>
                </a:solidFill>
                <a:latin typeface="맑은 고딕"/>
                <a:ea typeface="맑은 고딕"/>
              </a:rPr>
              <a:t>52</a:t>
            </a:r>
            <a:r>
              <a:rPr lang="ko-KR" altLang="en-US" sz="1600">
                <a:solidFill>
                  <a:srgbClr val="7E899B"/>
                </a:solidFill>
                <a:latin typeface="맑은 고딕"/>
                <a:ea typeface="맑은 고딕"/>
              </a:rPr>
              <a:t>주 평균 잔차는 유종별로 다릅니다</a:t>
            </a:r>
            <a:r>
              <a:rPr lang="en-US" altLang="ko-KR" sz="1600">
                <a:solidFill>
                  <a:srgbClr val="7E899B"/>
                </a:solidFill>
                <a:latin typeface="맑은 고딕"/>
                <a:ea typeface="맑은 고딕"/>
              </a:rPr>
              <a:t>.</a:t>
            </a:r>
            <a:endParaRPr lang="ko-KR" altLang="en-US" sz="1600">
              <a:solidFill>
                <a:srgbClr val="7E899B"/>
              </a:solidFill>
              <a:latin typeface="맑은 고딕"/>
              <a:ea typeface="맑은 고딕"/>
            </a:endParaRPr>
          </a:p>
        </p:txBody>
      </p:sp>
      <p:sp>
        <p:nvSpPr>
          <p:cNvPr id="8" name="직사각형 7">
            <a:extLst>
              <a:ext uri="{FF2B5EF4-FFF2-40B4-BE49-F238E27FC236}">
                <a16:creationId xmlns:a16="http://schemas.microsoft.com/office/drawing/2014/main" id="{83A0C456-3C4A-4559-BC06-EB433308F019}"/>
              </a:ext>
            </a:extLst>
          </p:cNvPr>
          <p:cNvSpPr/>
          <p:nvPr/>
        </p:nvSpPr>
        <p:spPr>
          <a:xfrm>
            <a:off x="914400" y="3733800"/>
            <a:ext cx="15494000" cy="13208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9" name="직사각형 8">
            <a:extLst>
              <a:ext uri="{FF2B5EF4-FFF2-40B4-BE49-F238E27FC236}">
                <a16:creationId xmlns:a16="http://schemas.microsoft.com/office/drawing/2014/main" id="{3EC94FB6-C212-4B9A-83AD-1DB9E6B4F9A0}"/>
              </a:ext>
            </a:extLst>
          </p:cNvPr>
          <p:cNvSpPr/>
          <p:nvPr/>
        </p:nvSpPr>
        <p:spPr>
          <a:xfrm>
            <a:off x="914400" y="3733800"/>
            <a:ext cx="177800" cy="13208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TextBox 9">
            <a:extLst>
              <a:ext uri="{FF2B5EF4-FFF2-40B4-BE49-F238E27FC236}">
                <a16:creationId xmlns:a16="http://schemas.microsoft.com/office/drawing/2014/main" id="{6BDFFB45-AC22-4539-A37A-6FCADF0DC298}"/>
              </a:ext>
            </a:extLst>
          </p:cNvPr>
          <p:cNvSpPr txBox="1"/>
          <p:nvPr/>
        </p:nvSpPr>
        <p:spPr>
          <a:xfrm>
            <a:off x="1371600" y="3962400"/>
            <a:ext cx="1270000" cy="406400"/>
          </a:xfrm>
          <a:prstGeom prst="rect">
            <a:avLst/>
          </a:prstGeom>
          <a:noFill/>
        </p:spPr>
        <p:txBody>
          <a:bodyPr vertOverflow="overflow" vert="horz" wrap="square" rtlCol="0" anchor="t">
            <a:normAutofit lnSpcReduction="10000"/>
          </a:bodyPr>
          <a:lstStyle/>
          <a:p>
            <a:pPr algn="l"/>
            <a:r>
              <a:rPr lang="ko-KR" altLang="en-US" sz="2100" b="1">
                <a:solidFill>
                  <a:srgbClr val="4B73FF"/>
                </a:solidFill>
                <a:latin typeface="맑은 고딕"/>
                <a:ea typeface="맑은 고딕"/>
              </a:rPr>
              <a:t>휘발유</a:t>
            </a:r>
          </a:p>
        </p:txBody>
      </p:sp>
      <p:sp>
        <p:nvSpPr>
          <p:cNvPr id="11" name="TextBox 10">
            <a:extLst>
              <a:ext uri="{FF2B5EF4-FFF2-40B4-BE49-F238E27FC236}">
                <a16:creationId xmlns:a16="http://schemas.microsoft.com/office/drawing/2014/main" id="{D8BAAB36-04CC-42C9-9AE8-1D0FB7CFEF4C}"/>
              </a:ext>
            </a:extLst>
          </p:cNvPr>
          <p:cNvSpPr txBox="1"/>
          <p:nvPr/>
        </p:nvSpPr>
        <p:spPr>
          <a:xfrm>
            <a:off x="1371600" y="4470400"/>
            <a:ext cx="2413000" cy="304800"/>
          </a:xfrm>
          <a:prstGeom prst="rect">
            <a:avLst/>
          </a:prstGeom>
          <a:noFill/>
        </p:spPr>
        <p:txBody>
          <a:bodyPr vertOverflow="overflow" vert="horz" wrap="square" rtlCol="0" anchor="t">
            <a:normAutofit/>
          </a:bodyPr>
          <a:lstStyle/>
          <a:p>
            <a:pPr algn="l"/>
            <a:r>
              <a:rPr lang="ko-KR" altLang="en-US" sz="1200" b="1">
                <a:solidFill>
                  <a:srgbClr val="7E899B"/>
                </a:solidFill>
                <a:latin typeface="맑은 고딕"/>
                <a:ea typeface="맑은 고딕"/>
              </a:rPr>
              <a:t>국제 휘발유 </a:t>
            </a:r>
            <a:r>
              <a:rPr lang="en-US" altLang="ko-KR" sz="1200" b="1">
                <a:solidFill>
                  <a:srgbClr val="7E899B"/>
                </a:solidFill>
                <a:latin typeface="맑은 고딕"/>
                <a:ea typeface="맑은 고딕"/>
              </a:rPr>
              <a:t>92RON </a:t>
            </a:r>
            <a:r>
              <a:rPr lang="ko-KR" altLang="en-US" sz="1200" b="1">
                <a:solidFill>
                  <a:srgbClr val="7E899B"/>
                </a:solidFill>
                <a:latin typeface="맑은 고딕"/>
                <a:ea typeface="맑은 고딕"/>
              </a:rPr>
              <a:t>가격</a:t>
            </a:r>
          </a:p>
        </p:txBody>
      </p:sp>
      <p:sp>
        <p:nvSpPr>
          <p:cNvPr id="12" name="TextBox 11">
            <a:extLst>
              <a:ext uri="{FF2B5EF4-FFF2-40B4-BE49-F238E27FC236}">
                <a16:creationId xmlns:a16="http://schemas.microsoft.com/office/drawing/2014/main" id="{56AAA264-1D43-48CE-AA47-59589F3439E7}"/>
              </a:ext>
            </a:extLst>
          </p:cNvPr>
          <p:cNvSpPr txBox="1"/>
          <p:nvPr/>
        </p:nvSpPr>
        <p:spPr>
          <a:xfrm>
            <a:off x="4089400" y="3962400"/>
            <a:ext cx="7874000" cy="762000"/>
          </a:xfrm>
          <a:prstGeom prst="rect">
            <a:avLst/>
          </a:prstGeom>
          <a:noFill/>
        </p:spPr>
        <p:txBody>
          <a:bodyPr vertOverflow="overflow" vert="horz" wrap="square" rtlCol="0" anchor="t">
            <a:normAutofit/>
          </a:bodyPr>
          <a:lstStyle/>
          <a:p>
            <a:pPr algn="l"/>
            <a:r>
              <a:rPr lang="ko-KR" altLang="en-US" sz="1500" b="1">
                <a:solidFill>
                  <a:srgbClr val="0F1A2E"/>
                </a:solidFill>
                <a:latin typeface="맑은 고딕"/>
                <a:ea typeface="맑은 고딕"/>
              </a:rPr>
              <a:t>휘발유 예측 세전 공급가격 </a:t>
            </a:r>
            <a:r>
              <a:rPr lang="en-US" altLang="ko-KR" sz="1500" b="1">
                <a:solidFill>
                  <a:srgbClr val="0F1A2E"/>
                </a:solidFill>
                <a:latin typeface="맑은 고딕"/>
                <a:ea typeface="맑은 고딕"/>
              </a:rPr>
              <a:t>= </a:t>
            </a:r>
            <a:r>
              <a:rPr lang="ko-KR" altLang="en-US" sz="1500" b="1">
                <a:solidFill>
                  <a:srgbClr val="0F1A2E"/>
                </a:solidFill>
                <a:latin typeface="맑은 고딕"/>
                <a:ea typeface="맑은 고딕"/>
              </a:rPr>
              <a:t>당주 휘발유 국제가격 반영분
＋ </a:t>
            </a:r>
            <a:r>
              <a:rPr lang="en-US" altLang="ko-KR" sz="1500" b="1">
                <a:solidFill>
                  <a:srgbClr val="0F1A2E"/>
                </a:solidFill>
                <a:latin typeface="맑은 고딕"/>
                <a:ea typeface="맑은 고딕"/>
              </a:rPr>
              <a:t>1</a:t>
            </a:r>
            <a:r>
              <a:rPr lang="ko-KR" altLang="en-US" sz="1500" b="1">
                <a:solidFill>
                  <a:srgbClr val="0F1A2E"/>
                </a:solidFill>
                <a:latin typeface="맑은 고딕"/>
                <a:ea typeface="맑은 고딕"/>
              </a:rPr>
              <a:t>주 전 반영분 ＋ </a:t>
            </a:r>
            <a:r>
              <a:rPr lang="en-US" altLang="ko-KR" sz="1500" b="1">
                <a:solidFill>
                  <a:srgbClr val="0F1A2E"/>
                </a:solidFill>
                <a:latin typeface="맑은 고딕"/>
                <a:ea typeface="맑은 고딕"/>
              </a:rPr>
              <a:t>2</a:t>
            </a:r>
            <a:r>
              <a:rPr lang="ko-KR" altLang="en-US" sz="1500" b="1">
                <a:solidFill>
                  <a:srgbClr val="0F1A2E"/>
                </a:solidFill>
                <a:latin typeface="맑은 고딕"/>
                <a:ea typeface="맑은 고딕"/>
              </a:rPr>
              <a:t>주 전 반영분 ＋ 같은 주 환율 영향 ＋ 최근 </a:t>
            </a:r>
            <a:r>
              <a:rPr lang="en-US" altLang="ko-KR" sz="1500" b="1">
                <a:solidFill>
                  <a:srgbClr val="0F1A2E"/>
                </a:solidFill>
                <a:latin typeface="맑은 고딕"/>
                <a:ea typeface="맑은 고딕"/>
              </a:rPr>
              <a:t>52</a:t>
            </a:r>
            <a:r>
              <a:rPr lang="ko-KR" altLang="en-US" sz="1500" b="1">
                <a:solidFill>
                  <a:srgbClr val="0F1A2E"/>
                </a:solidFill>
                <a:latin typeface="맑은 고딕"/>
                <a:ea typeface="맑은 고딕"/>
              </a:rPr>
              <a:t>주 평균 잔차</a:t>
            </a:r>
          </a:p>
        </p:txBody>
      </p:sp>
      <p:sp>
        <p:nvSpPr>
          <p:cNvPr id="13" name="TextBox 12">
            <a:extLst>
              <a:ext uri="{FF2B5EF4-FFF2-40B4-BE49-F238E27FC236}">
                <a16:creationId xmlns:a16="http://schemas.microsoft.com/office/drawing/2014/main" id="{B90E0AF7-FE4F-42FD-9689-EF7CAE6F7E58}"/>
              </a:ext>
            </a:extLst>
          </p:cNvPr>
          <p:cNvSpPr txBox="1"/>
          <p:nvPr/>
        </p:nvSpPr>
        <p:spPr>
          <a:xfrm>
            <a:off x="12369800" y="3987800"/>
            <a:ext cx="3632200" cy="736600"/>
          </a:xfrm>
          <a:prstGeom prst="rect">
            <a:avLst/>
          </a:prstGeom>
          <a:noFill/>
        </p:spPr>
        <p:txBody>
          <a:bodyPr vertOverflow="overflow" vert="horz" wrap="square" rtlCol="0" anchor="t">
            <a:normAutofit/>
          </a:bodyPr>
          <a:lstStyle/>
          <a:p>
            <a:pPr algn="l"/>
            <a:r>
              <a:rPr lang="ko-KR" altLang="en-US" sz="1200">
                <a:solidFill>
                  <a:srgbClr val="7E899B"/>
                </a:solidFill>
                <a:latin typeface="맑은 고딕"/>
                <a:ea typeface="맑은 고딕"/>
              </a:rPr>
              <a:t>국제 휘발유 가격의 시차 반응과 환율 변동</a:t>
            </a:r>
            <a:r>
              <a:rPr lang="en-US" altLang="ko-KR" sz="1200">
                <a:solidFill>
                  <a:srgbClr val="7E899B"/>
                </a:solidFill>
                <a:latin typeface="맑은 고딕"/>
                <a:ea typeface="맑은 고딕"/>
              </a:rPr>
              <a:t>, </a:t>
            </a:r>
            <a:r>
              <a:rPr lang="ko-KR" altLang="en-US" sz="1200">
                <a:solidFill>
                  <a:srgbClr val="7E899B"/>
                </a:solidFill>
                <a:latin typeface="맑은 고딕"/>
                <a:ea typeface="맑은 고딕"/>
              </a:rPr>
              <a:t>최근 국내 가격 수준을 함께 반영</a:t>
            </a:r>
          </a:p>
        </p:txBody>
      </p:sp>
      <p:sp>
        <p:nvSpPr>
          <p:cNvPr id="14" name="직사각형 13">
            <a:extLst>
              <a:ext uri="{FF2B5EF4-FFF2-40B4-BE49-F238E27FC236}">
                <a16:creationId xmlns:a16="http://schemas.microsoft.com/office/drawing/2014/main" id="{78EC0D25-B62E-4C05-BAB4-5FCA4B89AA7C}"/>
              </a:ext>
            </a:extLst>
          </p:cNvPr>
          <p:cNvSpPr/>
          <p:nvPr/>
        </p:nvSpPr>
        <p:spPr>
          <a:xfrm>
            <a:off x="914400" y="5308600"/>
            <a:ext cx="15494000" cy="13208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 name="직사각형 14">
            <a:extLst>
              <a:ext uri="{FF2B5EF4-FFF2-40B4-BE49-F238E27FC236}">
                <a16:creationId xmlns:a16="http://schemas.microsoft.com/office/drawing/2014/main" id="{F1C7DF30-2748-4CDF-9C75-548B4C6D3204}"/>
              </a:ext>
            </a:extLst>
          </p:cNvPr>
          <p:cNvSpPr/>
          <p:nvPr/>
        </p:nvSpPr>
        <p:spPr>
          <a:xfrm>
            <a:off x="914400" y="5308600"/>
            <a:ext cx="177800" cy="13208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 name="TextBox 15">
            <a:extLst>
              <a:ext uri="{FF2B5EF4-FFF2-40B4-BE49-F238E27FC236}">
                <a16:creationId xmlns:a16="http://schemas.microsoft.com/office/drawing/2014/main" id="{D2A511EF-F2EB-417F-95D9-899A2E5E07E2}"/>
              </a:ext>
            </a:extLst>
          </p:cNvPr>
          <p:cNvSpPr txBox="1"/>
          <p:nvPr/>
        </p:nvSpPr>
        <p:spPr>
          <a:xfrm>
            <a:off x="1371600" y="5537200"/>
            <a:ext cx="1270000" cy="406400"/>
          </a:xfrm>
          <a:prstGeom prst="rect">
            <a:avLst/>
          </a:prstGeom>
          <a:noFill/>
        </p:spPr>
        <p:txBody>
          <a:bodyPr vertOverflow="overflow" vert="horz" wrap="square" rtlCol="0" anchor="t">
            <a:normAutofit lnSpcReduction="10000"/>
          </a:bodyPr>
          <a:lstStyle/>
          <a:p>
            <a:pPr algn="l"/>
            <a:r>
              <a:rPr lang="ko-KR" altLang="en-US" sz="2100" b="1">
                <a:solidFill>
                  <a:srgbClr val="0F1A2E"/>
                </a:solidFill>
                <a:latin typeface="맑은 고딕"/>
                <a:ea typeface="맑은 고딕"/>
              </a:rPr>
              <a:t>경유</a:t>
            </a:r>
          </a:p>
        </p:txBody>
      </p:sp>
      <p:sp>
        <p:nvSpPr>
          <p:cNvPr id="17" name="TextBox 16">
            <a:extLst>
              <a:ext uri="{FF2B5EF4-FFF2-40B4-BE49-F238E27FC236}">
                <a16:creationId xmlns:a16="http://schemas.microsoft.com/office/drawing/2014/main" id="{A3A118D6-227E-4BE2-9F6C-41ADE0F8D066}"/>
              </a:ext>
            </a:extLst>
          </p:cNvPr>
          <p:cNvSpPr txBox="1"/>
          <p:nvPr/>
        </p:nvSpPr>
        <p:spPr>
          <a:xfrm>
            <a:off x="1371600" y="6045200"/>
            <a:ext cx="2413000" cy="304800"/>
          </a:xfrm>
          <a:prstGeom prst="rect">
            <a:avLst/>
          </a:prstGeom>
          <a:noFill/>
        </p:spPr>
        <p:txBody>
          <a:bodyPr vertOverflow="overflow" vert="horz" wrap="square" rtlCol="0" anchor="t">
            <a:normAutofit/>
          </a:bodyPr>
          <a:lstStyle/>
          <a:p>
            <a:pPr algn="l"/>
            <a:r>
              <a:rPr lang="ko-KR" altLang="en-US" sz="1200" b="1">
                <a:solidFill>
                  <a:srgbClr val="7E899B"/>
                </a:solidFill>
                <a:latin typeface="맑은 고딕"/>
                <a:ea typeface="맑은 고딕"/>
              </a:rPr>
              <a:t>국제 경유 </a:t>
            </a:r>
            <a:r>
              <a:rPr lang="en-US" altLang="ko-KR" sz="1200" b="1">
                <a:solidFill>
                  <a:srgbClr val="7E899B"/>
                </a:solidFill>
                <a:latin typeface="맑은 고딕"/>
                <a:ea typeface="맑은 고딕"/>
              </a:rPr>
              <a:t>0.001% </a:t>
            </a:r>
            <a:r>
              <a:rPr lang="ko-KR" altLang="en-US" sz="1200" b="1">
                <a:solidFill>
                  <a:srgbClr val="7E899B"/>
                </a:solidFill>
                <a:latin typeface="맑은 고딕"/>
                <a:ea typeface="맑은 고딕"/>
              </a:rPr>
              <a:t>가격</a:t>
            </a:r>
          </a:p>
        </p:txBody>
      </p:sp>
      <p:sp>
        <p:nvSpPr>
          <p:cNvPr id="18" name="TextBox 17">
            <a:extLst>
              <a:ext uri="{FF2B5EF4-FFF2-40B4-BE49-F238E27FC236}">
                <a16:creationId xmlns:a16="http://schemas.microsoft.com/office/drawing/2014/main" id="{0BAE6AE8-5899-4ECF-9CEE-D296BFC8C137}"/>
              </a:ext>
            </a:extLst>
          </p:cNvPr>
          <p:cNvSpPr txBox="1"/>
          <p:nvPr/>
        </p:nvSpPr>
        <p:spPr>
          <a:xfrm>
            <a:off x="4089400" y="5537200"/>
            <a:ext cx="7874000" cy="762000"/>
          </a:xfrm>
          <a:prstGeom prst="rect">
            <a:avLst/>
          </a:prstGeom>
          <a:noFill/>
        </p:spPr>
        <p:txBody>
          <a:bodyPr vertOverflow="overflow" vert="horz" wrap="square" rtlCol="0" anchor="t">
            <a:normAutofit/>
          </a:bodyPr>
          <a:lstStyle/>
          <a:p>
            <a:pPr algn="l"/>
            <a:r>
              <a:rPr lang="ko-KR" altLang="en-US" sz="1500" b="1">
                <a:solidFill>
                  <a:srgbClr val="0F1A2E"/>
                </a:solidFill>
                <a:latin typeface="맑은 고딕"/>
                <a:ea typeface="맑은 고딕"/>
              </a:rPr>
              <a:t>경유 예측 세전 공급가격 </a:t>
            </a:r>
            <a:r>
              <a:rPr lang="en-US" altLang="ko-KR" sz="1500" b="1">
                <a:solidFill>
                  <a:srgbClr val="0F1A2E"/>
                </a:solidFill>
                <a:latin typeface="맑은 고딕"/>
                <a:ea typeface="맑은 고딕"/>
              </a:rPr>
              <a:t>= </a:t>
            </a:r>
            <a:r>
              <a:rPr lang="ko-KR" altLang="en-US" sz="1500" b="1">
                <a:solidFill>
                  <a:srgbClr val="0F1A2E"/>
                </a:solidFill>
                <a:latin typeface="맑은 고딕"/>
                <a:ea typeface="맑은 고딕"/>
              </a:rPr>
              <a:t>당주 경유 국제가격 반영분
＋ </a:t>
            </a:r>
            <a:r>
              <a:rPr lang="en-US" altLang="ko-KR" sz="1500" b="1">
                <a:solidFill>
                  <a:srgbClr val="0F1A2E"/>
                </a:solidFill>
                <a:latin typeface="맑은 고딕"/>
                <a:ea typeface="맑은 고딕"/>
              </a:rPr>
              <a:t>1</a:t>
            </a:r>
            <a:r>
              <a:rPr lang="ko-KR" altLang="en-US" sz="1500" b="1">
                <a:solidFill>
                  <a:srgbClr val="0F1A2E"/>
                </a:solidFill>
                <a:latin typeface="맑은 고딕"/>
                <a:ea typeface="맑은 고딕"/>
              </a:rPr>
              <a:t>주 전 반영분 ＋ </a:t>
            </a:r>
            <a:r>
              <a:rPr lang="en-US" altLang="ko-KR" sz="1500" b="1">
                <a:solidFill>
                  <a:srgbClr val="0F1A2E"/>
                </a:solidFill>
                <a:latin typeface="맑은 고딕"/>
                <a:ea typeface="맑은 고딕"/>
              </a:rPr>
              <a:t>2</a:t>
            </a:r>
            <a:r>
              <a:rPr lang="ko-KR" altLang="en-US" sz="1500" b="1">
                <a:solidFill>
                  <a:srgbClr val="0F1A2E"/>
                </a:solidFill>
                <a:latin typeface="맑은 고딕"/>
                <a:ea typeface="맑은 고딕"/>
              </a:rPr>
              <a:t>주 전 반영분 ＋ 같은 주 환율 영향 ＋ 최근 </a:t>
            </a:r>
            <a:r>
              <a:rPr lang="en-US" altLang="ko-KR" sz="1500" b="1">
                <a:solidFill>
                  <a:srgbClr val="0F1A2E"/>
                </a:solidFill>
                <a:latin typeface="맑은 고딕"/>
                <a:ea typeface="맑은 고딕"/>
              </a:rPr>
              <a:t>52</a:t>
            </a:r>
            <a:r>
              <a:rPr lang="ko-KR" altLang="en-US" sz="1500" b="1">
                <a:solidFill>
                  <a:srgbClr val="0F1A2E"/>
                </a:solidFill>
                <a:latin typeface="맑은 고딕"/>
                <a:ea typeface="맑은 고딕"/>
              </a:rPr>
              <a:t>주 평균 잔차</a:t>
            </a:r>
          </a:p>
        </p:txBody>
      </p:sp>
      <p:sp>
        <p:nvSpPr>
          <p:cNvPr id="19" name="TextBox 18">
            <a:extLst>
              <a:ext uri="{FF2B5EF4-FFF2-40B4-BE49-F238E27FC236}">
                <a16:creationId xmlns:a16="http://schemas.microsoft.com/office/drawing/2014/main" id="{E67E3DFB-3B1D-4C31-AFF0-898E0469DC30}"/>
              </a:ext>
            </a:extLst>
          </p:cNvPr>
          <p:cNvSpPr txBox="1"/>
          <p:nvPr/>
        </p:nvSpPr>
        <p:spPr>
          <a:xfrm>
            <a:off x="12369800" y="5562600"/>
            <a:ext cx="3632200" cy="736600"/>
          </a:xfrm>
          <a:prstGeom prst="rect">
            <a:avLst/>
          </a:prstGeom>
          <a:noFill/>
        </p:spPr>
        <p:txBody>
          <a:bodyPr vertOverflow="overflow" vert="horz" wrap="square" rtlCol="0" anchor="t">
            <a:normAutofit/>
          </a:bodyPr>
          <a:lstStyle/>
          <a:p>
            <a:pPr algn="l"/>
            <a:r>
              <a:rPr lang="ko-KR" altLang="en-US" sz="1200">
                <a:solidFill>
                  <a:srgbClr val="7E899B"/>
                </a:solidFill>
                <a:latin typeface="맑은 고딕"/>
                <a:ea typeface="맑은 고딕"/>
              </a:rPr>
              <a:t>국제 경유 가격의 시차 반응과 환율 변동</a:t>
            </a:r>
            <a:r>
              <a:rPr lang="en-US" altLang="ko-KR" sz="1200">
                <a:solidFill>
                  <a:srgbClr val="7E899B"/>
                </a:solidFill>
                <a:latin typeface="맑은 고딕"/>
                <a:ea typeface="맑은 고딕"/>
              </a:rPr>
              <a:t>, </a:t>
            </a:r>
            <a:r>
              <a:rPr lang="ko-KR" altLang="en-US" sz="1200">
                <a:solidFill>
                  <a:srgbClr val="7E899B"/>
                </a:solidFill>
                <a:latin typeface="맑은 고딕"/>
                <a:ea typeface="맑은 고딕"/>
              </a:rPr>
              <a:t>최근 국내 가격 수준을 함께 반영</a:t>
            </a:r>
          </a:p>
        </p:txBody>
      </p:sp>
      <p:sp>
        <p:nvSpPr>
          <p:cNvPr id="20" name="직사각형 19">
            <a:extLst>
              <a:ext uri="{FF2B5EF4-FFF2-40B4-BE49-F238E27FC236}">
                <a16:creationId xmlns:a16="http://schemas.microsoft.com/office/drawing/2014/main" id="{2156F977-A506-402E-A5A5-FA53AE54837A}"/>
              </a:ext>
            </a:extLst>
          </p:cNvPr>
          <p:cNvSpPr/>
          <p:nvPr/>
        </p:nvSpPr>
        <p:spPr>
          <a:xfrm>
            <a:off x="914400" y="6883400"/>
            <a:ext cx="15494000" cy="13208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1" name="직사각형 20">
            <a:extLst>
              <a:ext uri="{FF2B5EF4-FFF2-40B4-BE49-F238E27FC236}">
                <a16:creationId xmlns:a16="http://schemas.microsoft.com/office/drawing/2014/main" id="{63511EE2-F148-4604-B00B-1F25A7545BA8}"/>
              </a:ext>
            </a:extLst>
          </p:cNvPr>
          <p:cNvSpPr/>
          <p:nvPr/>
        </p:nvSpPr>
        <p:spPr>
          <a:xfrm>
            <a:off x="914400" y="6883400"/>
            <a:ext cx="177800" cy="13208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2" name="TextBox 21">
            <a:extLst>
              <a:ext uri="{FF2B5EF4-FFF2-40B4-BE49-F238E27FC236}">
                <a16:creationId xmlns:a16="http://schemas.microsoft.com/office/drawing/2014/main" id="{61828C8F-3BB5-446E-ADEB-5DE29AA3589C}"/>
              </a:ext>
            </a:extLst>
          </p:cNvPr>
          <p:cNvSpPr txBox="1"/>
          <p:nvPr/>
        </p:nvSpPr>
        <p:spPr>
          <a:xfrm>
            <a:off x="1371600" y="7112000"/>
            <a:ext cx="1270000" cy="406400"/>
          </a:xfrm>
          <a:prstGeom prst="rect">
            <a:avLst/>
          </a:prstGeom>
          <a:noFill/>
        </p:spPr>
        <p:txBody>
          <a:bodyPr vertOverflow="overflow" vert="horz" wrap="square" rtlCol="0" anchor="t">
            <a:normAutofit lnSpcReduction="10000"/>
          </a:bodyPr>
          <a:lstStyle/>
          <a:p>
            <a:pPr algn="l"/>
            <a:r>
              <a:rPr lang="ko-KR" altLang="en-US" sz="2100" b="1">
                <a:solidFill>
                  <a:srgbClr val="35C6E8"/>
                </a:solidFill>
                <a:latin typeface="맑은 고딕"/>
                <a:ea typeface="맑은 고딕"/>
              </a:rPr>
              <a:t>등유</a:t>
            </a:r>
          </a:p>
        </p:txBody>
      </p:sp>
      <p:sp>
        <p:nvSpPr>
          <p:cNvPr id="23" name="TextBox 22">
            <a:extLst>
              <a:ext uri="{FF2B5EF4-FFF2-40B4-BE49-F238E27FC236}">
                <a16:creationId xmlns:a16="http://schemas.microsoft.com/office/drawing/2014/main" id="{0A6476FB-4C3E-47F0-BB37-CC2A18E457CD}"/>
              </a:ext>
            </a:extLst>
          </p:cNvPr>
          <p:cNvSpPr txBox="1"/>
          <p:nvPr/>
        </p:nvSpPr>
        <p:spPr>
          <a:xfrm>
            <a:off x="1371600" y="7620000"/>
            <a:ext cx="2413000" cy="304800"/>
          </a:xfrm>
          <a:prstGeom prst="rect">
            <a:avLst/>
          </a:prstGeom>
          <a:noFill/>
        </p:spPr>
        <p:txBody>
          <a:bodyPr vertOverflow="overflow" vert="horz" wrap="square" rtlCol="0" anchor="t">
            <a:normAutofit/>
          </a:bodyPr>
          <a:lstStyle/>
          <a:p>
            <a:pPr algn="l"/>
            <a:r>
              <a:rPr lang="ko-KR" altLang="en-US" sz="1200" b="1">
                <a:solidFill>
                  <a:srgbClr val="7E899B"/>
                </a:solidFill>
                <a:latin typeface="맑은 고딕"/>
                <a:ea typeface="맑은 고딕"/>
              </a:rPr>
              <a:t>국제 등유 가격</a:t>
            </a:r>
          </a:p>
        </p:txBody>
      </p:sp>
      <p:sp>
        <p:nvSpPr>
          <p:cNvPr id="24" name="TextBox 23">
            <a:extLst>
              <a:ext uri="{FF2B5EF4-FFF2-40B4-BE49-F238E27FC236}">
                <a16:creationId xmlns:a16="http://schemas.microsoft.com/office/drawing/2014/main" id="{76EEEE7E-0858-4F69-A00A-CE4E52457673}"/>
              </a:ext>
            </a:extLst>
          </p:cNvPr>
          <p:cNvSpPr txBox="1"/>
          <p:nvPr/>
        </p:nvSpPr>
        <p:spPr>
          <a:xfrm>
            <a:off x="4089400" y="7112000"/>
            <a:ext cx="7874000" cy="762000"/>
          </a:xfrm>
          <a:prstGeom prst="rect">
            <a:avLst/>
          </a:prstGeom>
          <a:noFill/>
        </p:spPr>
        <p:txBody>
          <a:bodyPr vertOverflow="overflow" vert="horz" wrap="square" rtlCol="0" anchor="t">
            <a:normAutofit/>
          </a:bodyPr>
          <a:lstStyle/>
          <a:p>
            <a:pPr algn="l"/>
            <a:r>
              <a:rPr lang="ko-KR" altLang="en-US" sz="1500" b="1">
                <a:solidFill>
                  <a:srgbClr val="0F1A2E"/>
                </a:solidFill>
                <a:latin typeface="맑은 고딕"/>
                <a:ea typeface="맑은 고딕"/>
              </a:rPr>
              <a:t>등유 예측 세전 공급가격 </a:t>
            </a:r>
            <a:r>
              <a:rPr lang="en-US" altLang="ko-KR" sz="1500" b="1">
                <a:solidFill>
                  <a:srgbClr val="0F1A2E"/>
                </a:solidFill>
                <a:latin typeface="맑은 고딕"/>
                <a:ea typeface="맑은 고딕"/>
              </a:rPr>
              <a:t>= </a:t>
            </a:r>
            <a:r>
              <a:rPr lang="ko-KR" altLang="en-US" sz="1500" b="1">
                <a:solidFill>
                  <a:srgbClr val="0F1A2E"/>
                </a:solidFill>
                <a:latin typeface="맑은 고딕"/>
                <a:ea typeface="맑은 고딕"/>
              </a:rPr>
              <a:t>당주 등유 국제가격 반영분
＋ </a:t>
            </a:r>
            <a:r>
              <a:rPr lang="en-US" altLang="ko-KR" sz="1500" b="1">
                <a:solidFill>
                  <a:srgbClr val="0F1A2E"/>
                </a:solidFill>
                <a:latin typeface="맑은 고딕"/>
                <a:ea typeface="맑은 고딕"/>
              </a:rPr>
              <a:t>1</a:t>
            </a:r>
            <a:r>
              <a:rPr lang="ko-KR" altLang="en-US" sz="1500" b="1">
                <a:solidFill>
                  <a:srgbClr val="0F1A2E"/>
                </a:solidFill>
                <a:latin typeface="맑은 고딕"/>
                <a:ea typeface="맑은 고딕"/>
              </a:rPr>
              <a:t>주 전 반영분 ＋ </a:t>
            </a:r>
            <a:r>
              <a:rPr lang="en-US" altLang="ko-KR" sz="1500" b="1">
                <a:solidFill>
                  <a:srgbClr val="0F1A2E"/>
                </a:solidFill>
                <a:latin typeface="맑은 고딕"/>
                <a:ea typeface="맑은 고딕"/>
              </a:rPr>
              <a:t>2</a:t>
            </a:r>
            <a:r>
              <a:rPr lang="ko-KR" altLang="en-US" sz="1500" b="1">
                <a:solidFill>
                  <a:srgbClr val="0F1A2E"/>
                </a:solidFill>
                <a:latin typeface="맑은 고딕"/>
                <a:ea typeface="맑은 고딕"/>
              </a:rPr>
              <a:t>주 전 반영분 ＋ 같은 주 환율 영향 ＋ 최근 </a:t>
            </a:r>
            <a:r>
              <a:rPr lang="en-US" altLang="ko-KR" sz="1500" b="1">
                <a:solidFill>
                  <a:srgbClr val="0F1A2E"/>
                </a:solidFill>
                <a:latin typeface="맑은 고딕"/>
                <a:ea typeface="맑은 고딕"/>
              </a:rPr>
              <a:t>52</a:t>
            </a:r>
            <a:r>
              <a:rPr lang="ko-KR" altLang="en-US" sz="1500" b="1">
                <a:solidFill>
                  <a:srgbClr val="0F1A2E"/>
                </a:solidFill>
                <a:latin typeface="맑은 고딕"/>
                <a:ea typeface="맑은 고딕"/>
              </a:rPr>
              <a:t>주 평균 잔차</a:t>
            </a:r>
          </a:p>
        </p:txBody>
      </p:sp>
      <p:sp>
        <p:nvSpPr>
          <p:cNvPr id="25" name="TextBox 24">
            <a:extLst>
              <a:ext uri="{FF2B5EF4-FFF2-40B4-BE49-F238E27FC236}">
                <a16:creationId xmlns:a16="http://schemas.microsoft.com/office/drawing/2014/main" id="{C9F4591C-2931-4BB5-AC91-3AD056DE1C20}"/>
              </a:ext>
            </a:extLst>
          </p:cNvPr>
          <p:cNvSpPr txBox="1"/>
          <p:nvPr/>
        </p:nvSpPr>
        <p:spPr>
          <a:xfrm>
            <a:off x="12369800" y="7137400"/>
            <a:ext cx="3632200" cy="736600"/>
          </a:xfrm>
          <a:prstGeom prst="rect">
            <a:avLst/>
          </a:prstGeom>
          <a:noFill/>
        </p:spPr>
        <p:txBody>
          <a:bodyPr vertOverflow="overflow" vert="horz" wrap="square" rtlCol="0" anchor="t">
            <a:normAutofit/>
          </a:bodyPr>
          <a:lstStyle/>
          <a:p>
            <a:pPr algn="l"/>
            <a:r>
              <a:rPr lang="ko-KR" altLang="en-US" sz="1200">
                <a:solidFill>
                  <a:srgbClr val="7E899B"/>
                </a:solidFill>
                <a:latin typeface="맑은 고딕"/>
                <a:ea typeface="맑은 고딕"/>
              </a:rPr>
              <a:t>국제 등유 가격의 시차 반응과 환율 변동</a:t>
            </a:r>
            <a:r>
              <a:rPr lang="en-US" altLang="ko-KR" sz="1200">
                <a:solidFill>
                  <a:srgbClr val="7E899B"/>
                </a:solidFill>
                <a:latin typeface="맑은 고딕"/>
                <a:ea typeface="맑은 고딕"/>
              </a:rPr>
              <a:t>, </a:t>
            </a:r>
            <a:r>
              <a:rPr lang="ko-KR" altLang="en-US" sz="1200">
                <a:solidFill>
                  <a:srgbClr val="7E899B"/>
                </a:solidFill>
                <a:latin typeface="맑은 고딕"/>
                <a:ea typeface="맑은 고딕"/>
              </a:rPr>
              <a:t>최근 국내 가격 수준을 함께 반영</a:t>
            </a:r>
          </a:p>
        </p:txBody>
      </p:sp>
      <p:sp>
        <p:nvSpPr>
          <p:cNvPr id="26" name="직사각형 25">
            <a:extLst>
              <a:ext uri="{FF2B5EF4-FFF2-40B4-BE49-F238E27FC236}">
                <a16:creationId xmlns:a16="http://schemas.microsoft.com/office/drawing/2014/main" id="{5DD8E476-EC25-430C-A32B-34AD1D9203B8}"/>
              </a:ext>
            </a:extLst>
          </p:cNvPr>
          <p:cNvSpPr/>
          <p:nvPr/>
        </p:nvSpPr>
        <p:spPr>
          <a:xfrm>
            <a:off x="914400" y="8483600"/>
            <a:ext cx="15494000" cy="431800"/>
          </a:xfrm>
          <a:prstGeom prst="rect">
            <a:avLst/>
          </a:prstGeom>
          <a:solidFill>
            <a:srgbClr val="EEF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7" name="TextBox 26">
            <a:extLst>
              <a:ext uri="{FF2B5EF4-FFF2-40B4-BE49-F238E27FC236}">
                <a16:creationId xmlns:a16="http://schemas.microsoft.com/office/drawing/2014/main" id="{057E3D9A-8CAC-455D-846E-50AAF01799F2}"/>
              </a:ext>
            </a:extLst>
          </p:cNvPr>
          <p:cNvSpPr txBox="1"/>
          <p:nvPr/>
        </p:nvSpPr>
        <p:spPr>
          <a:xfrm>
            <a:off x="1270000" y="8585200"/>
            <a:ext cx="14732000" cy="254000"/>
          </a:xfrm>
          <a:prstGeom prst="rect">
            <a:avLst/>
          </a:prstGeom>
          <a:noFill/>
        </p:spPr>
        <p:txBody>
          <a:bodyPr vertOverflow="overflow" vert="horz" wrap="square" rtlCol="0" anchor="t">
            <a:normAutofit fontScale="92500" lnSpcReduction="10000"/>
          </a:bodyPr>
          <a:lstStyle/>
          <a:p>
            <a:pPr algn="l"/>
            <a:r>
              <a:rPr lang="ko-KR" altLang="en-US" sz="1200" b="1">
                <a:solidFill>
                  <a:srgbClr val="0F1A2E"/>
                </a:solidFill>
                <a:latin typeface="맑은 고딕"/>
                <a:ea typeface="맑은 고딕"/>
              </a:rPr>
              <a:t>계수 해석  </a:t>
            </a:r>
            <a:r>
              <a:rPr lang="en-US" altLang="ko-KR" sz="1200" b="1">
                <a:solidFill>
                  <a:srgbClr val="0F1A2E"/>
                </a:solidFill>
                <a:latin typeface="맑은 고딕"/>
                <a:ea typeface="맑은 고딕"/>
              </a:rPr>
              <a:t>|  </a:t>
            </a:r>
            <a:r>
              <a:rPr lang="ko-KR" altLang="en-US" sz="1200" b="1">
                <a:solidFill>
                  <a:srgbClr val="0F1A2E"/>
                </a:solidFill>
                <a:latin typeface="맑은 고딕"/>
                <a:ea typeface="맑은 고딕"/>
              </a:rPr>
              <a:t>국제가격 </a:t>
            </a:r>
            <a:r>
              <a:rPr lang="en-US" altLang="ko-KR" sz="1200" b="1">
                <a:solidFill>
                  <a:srgbClr val="0F1A2E"/>
                </a:solidFill>
                <a:latin typeface="맑은 고딕"/>
                <a:ea typeface="맑은 고딕"/>
              </a:rPr>
              <a:t>3</a:t>
            </a:r>
            <a:r>
              <a:rPr lang="ko-KR" altLang="en-US" sz="1200" b="1">
                <a:solidFill>
                  <a:srgbClr val="0F1A2E"/>
                </a:solidFill>
                <a:latin typeface="맑은 고딕"/>
                <a:ea typeface="맑은 고딕"/>
              </a:rPr>
              <a:t>개 시점의 반영 비중 합만 </a:t>
            </a:r>
            <a:r>
              <a:rPr lang="en-US" altLang="ko-KR" sz="1200" b="1">
                <a:solidFill>
                  <a:srgbClr val="0F1A2E"/>
                </a:solidFill>
                <a:latin typeface="맑은 고딕"/>
                <a:ea typeface="맑은 고딕"/>
              </a:rPr>
              <a:t>100%</a:t>
            </a:r>
            <a:r>
              <a:rPr lang="ko-KR" altLang="en-US" sz="1200" b="1">
                <a:solidFill>
                  <a:srgbClr val="0F1A2E"/>
                </a:solidFill>
                <a:latin typeface="맑은 고딕"/>
                <a:ea typeface="맑은 고딕"/>
              </a:rPr>
              <a:t>로 제약하며</a:t>
            </a:r>
            <a:r>
              <a:rPr lang="en-US" altLang="ko-KR" sz="1200" b="1">
                <a:solidFill>
                  <a:srgbClr val="0F1A2E"/>
                </a:solidFill>
                <a:latin typeface="맑은 고딕"/>
                <a:ea typeface="맑은 고딕"/>
              </a:rPr>
              <a:t>, </a:t>
            </a:r>
            <a:r>
              <a:rPr lang="ko-KR" altLang="en-US" sz="1200" b="1">
                <a:solidFill>
                  <a:srgbClr val="0F1A2E"/>
                </a:solidFill>
                <a:latin typeface="맑은 고딕"/>
                <a:ea typeface="맑은 고딕"/>
              </a:rPr>
              <a:t>같은 주 환율 계수는 원래 단위의 독립 효과로 추정합니다</a:t>
            </a:r>
            <a:r>
              <a:rPr lang="en-US" altLang="ko-KR" sz="1200" b="1">
                <a:solidFill>
                  <a:srgbClr val="0F1A2E"/>
                </a:solidFill>
                <a:latin typeface="맑은 고딕"/>
                <a:ea typeface="맑은 고딕"/>
              </a:rPr>
              <a:t>.</a:t>
            </a:r>
            <a:endParaRPr lang="ko-KR" altLang="en-US" sz="1200" b="1">
              <a:solidFill>
                <a:srgbClr val="0F1A2E"/>
              </a:solidFill>
              <a:latin typeface="맑은 고딕"/>
              <a:ea typeface="맑은 고딕"/>
            </a:endParaRPr>
          </a:p>
        </p:txBody>
      </p:sp>
      <p:sp>
        <p:nvSpPr>
          <p:cNvPr id="28" name="TextBox 27">
            <a:extLst>
              <a:ext uri="{FF2B5EF4-FFF2-40B4-BE49-F238E27FC236}">
                <a16:creationId xmlns:a16="http://schemas.microsoft.com/office/drawing/2014/main" id="{2726E212-4FCB-439A-87AD-47DCD0C6D234}"/>
              </a:ext>
            </a:extLst>
          </p:cNvPr>
          <p:cNvSpPr txBox="1"/>
          <p:nvPr/>
        </p:nvSpPr>
        <p:spPr>
          <a:xfrm>
            <a:off x="1066800" y="8991600"/>
            <a:ext cx="14986000" cy="177800"/>
          </a:xfrm>
          <a:prstGeom prst="rect">
            <a:avLst/>
          </a:prstGeom>
          <a:noFill/>
        </p:spPr>
        <p:txBody>
          <a:bodyPr vertOverflow="overflow" vert="horz" wrap="square" rtlCol="0" anchor="t">
            <a:normAutofit fontScale="70000" lnSpcReduction="20000"/>
          </a:bodyPr>
          <a:lstStyle/>
          <a:p>
            <a:pPr algn="l"/>
            <a:r>
              <a:rPr lang="ko-KR" altLang="en-US" sz="1000">
                <a:solidFill>
                  <a:srgbClr val="98A2B3"/>
                </a:solidFill>
                <a:latin typeface="맑은 고딕"/>
                <a:ea typeface="맑은 고딕"/>
              </a:rPr>
              <a:t>중요</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정규화는 변수 크기를 맞추기 위한 계산 절차이며</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회귀 제약은 원래 단위에서 적용해 경제적 의미를 유지합니다</a:t>
            </a:r>
            <a:r>
              <a:rPr lang="en-US" altLang="ko-KR" sz="1000">
                <a:solidFill>
                  <a:srgbClr val="98A2B3"/>
                </a:solidFill>
                <a:latin typeface="맑은 고딕"/>
                <a:ea typeface="맑은 고딕"/>
              </a:rPr>
              <a:t>.</a:t>
            </a:r>
            <a:endParaRPr lang="ko-KR" altLang="en-US" sz="1000">
              <a:solidFill>
                <a:srgbClr val="98A2B3"/>
              </a:solidFill>
              <a:latin typeface="맑은 고딕"/>
              <a:ea typeface="맑은 고딕"/>
            </a:endParaRPr>
          </a:p>
        </p:txBody>
      </p:sp>
    </p:spTree>
    <p:extLst>
      <p:ext uri="{BB962C8B-B14F-4D97-AF65-F5344CB8AC3E}">
        <p14:creationId xmlns:p14="http://schemas.microsoft.com/office/powerpoint/2010/main" val="2490036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B656DD00-0CDC-46EB-BE4C-C1DBC0EA210B}"/>
              </a:ext>
            </a:extLst>
          </p:cNvPr>
          <p:cNvSpPr/>
          <p:nvPr/>
        </p:nvSpPr>
        <p:spPr>
          <a:xfrm>
            <a:off x="1041400" y="914400"/>
            <a:ext cx="939800" cy="25400"/>
          </a:xfrm>
          <a:prstGeom prst="rect">
            <a:avLst/>
          </a:prstGeom>
          <a:solidFill>
            <a:srgbClr val="AAB2B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 name="직사각형 2">
            <a:extLst>
              <a:ext uri="{FF2B5EF4-FFF2-40B4-BE49-F238E27FC236}">
                <a16:creationId xmlns:a16="http://schemas.microsoft.com/office/drawing/2014/main" id="{F0636030-A169-477D-AF46-7B2124DE8D97}"/>
              </a:ext>
            </a:extLst>
          </p:cNvPr>
          <p:cNvSpPr/>
          <p:nvPr/>
        </p:nvSpPr>
        <p:spPr>
          <a:xfrm>
            <a:off x="1981200" y="914400"/>
            <a:ext cx="228600" cy="25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 name="직사각형 3">
            <a:extLst>
              <a:ext uri="{FF2B5EF4-FFF2-40B4-BE49-F238E27FC236}">
                <a16:creationId xmlns:a16="http://schemas.microsoft.com/office/drawing/2014/main" id="{66149512-F730-4903-9DD1-12429ED0D556}"/>
              </a:ext>
            </a:extLst>
          </p:cNvPr>
          <p:cNvSpPr/>
          <p:nvPr/>
        </p:nvSpPr>
        <p:spPr>
          <a:xfrm>
            <a:off x="2209800" y="914400"/>
            <a:ext cx="13017500" cy="25400"/>
          </a:xfrm>
          <a:prstGeom prst="rect">
            <a:avLst/>
          </a:prstGeom>
          <a:solidFill>
            <a:srgbClr val="D5D9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 name="TextBox 4">
            <a:extLst>
              <a:ext uri="{FF2B5EF4-FFF2-40B4-BE49-F238E27FC236}">
                <a16:creationId xmlns:a16="http://schemas.microsoft.com/office/drawing/2014/main" id="{98A5C7D3-4D89-4A96-A5CB-575CA3D7E472}"/>
              </a:ext>
            </a:extLst>
          </p:cNvPr>
          <p:cNvSpPr txBox="1"/>
          <p:nvPr/>
        </p:nvSpPr>
        <p:spPr>
          <a:xfrm>
            <a:off x="1092200" y="1498600"/>
            <a:ext cx="8890000" cy="330200"/>
          </a:xfrm>
          <a:prstGeom prst="rect">
            <a:avLst/>
          </a:prstGeom>
          <a:noFill/>
        </p:spPr>
        <p:txBody>
          <a:bodyPr vertOverflow="overflow" vert="horz" wrap="square" rtlCol="0" anchor="t">
            <a:normAutofit/>
          </a:bodyPr>
          <a:lstStyle/>
          <a:p>
            <a:pPr algn="l"/>
            <a:r>
              <a:rPr lang="en-US" altLang="ko-KR" sz="1400">
                <a:solidFill>
                  <a:srgbClr val="8793A6"/>
                </a:solidFill>
                <a:latin typeface="맑은 고딕"/>
                <a:ea typeface="맑은 고딕"/>
              </a:rPr>
              <a:t>DEEP LEARNING · TIMESFM</a:t>
            </a:r>
            <a:endParaRPr lang="ko-KR" altLang="en-US" sz="1400">
              <a:solidFill>
                <a:srgbClr val="8793A6"/>
              </a:solidFill>
              <a:latin typeface="맑은 고딕"/>
              <a:ea typeface="맑은 고딕"/>
            </a:endParaRPr>
          </a:p>
        </p:txBody>
      </p:sp>
      <p:sp>
        <p:nvSpPr>
          <p:cNvPr id="6" name="TextBox 5">
            <a:extLst>
              <a:ext uri="{FF2B5EF4-FFF2-40B4-BE49-F238E27FC236}">
                <a16:creationId xmlns:a16="http://schemas.microsoft.com/office/drawing/2014/main" id="{11ECFB35-7853-4D74-A2FB-66ABF9FD1B1E}"/>
              </a:ext>
            </a:extLst>
          </p:cNvPr>
          <p:cNvSpPr txBox="1"/>
          <p:nvPr/>
        </p:nvSpPr>
        <p:spPr>
          <a:xfrm>
            <a:off x="1041400" y="1981200"/>
            <a:ext cx="15494000" cy="736600"/>
          </a:xfrm>
          <a:prstGeom prst="rect">
            <a:avLst/>
          </a:prstGeom>
          <a:noFill/>
        </p:spPr>
        <p:txBody>
          <a:bodyPr vertOverflow="overflow" vert="horz" wrap="square" rtlCol="0" anchor="t">
            <a:normAutofit/>
          </a:bodyPr>
          <a:lstStyle/>
          <a:p>
            <a:pPr algn="l"/>
            <a:r>
              <a:rPr lang="en-US" altLang="ko-KR" sz="2900" b="1">
                <a:solidFill>
                  <a:srgbClr val="0F1A2E"/>
                </a:solidFill>
                <a:latin typeface="맑은 고딕"/>
                <a:ea typeface="맑은 고딕"/>
              </a:rPr>
              <a:t>TimesFM</a:t>
            </a:r>
            <a:r>
              <a:rPr lang="ko-KR" altLang="en-US" sz="2900" b="1">
                <a:solidFill>
                  <a:srgbClr val="0F1A2E"/>
                </a:solidFill>
                <a:latin typeface="맑은 고딕"/>
                <a:ea typeface="맑은 고딕"/>
              </a:rPr>
              <a:t>은 같은 입력 데이터에서 복잡한 시계열 패턴을 활용해 공급가격을 예측합니다</a:t>
            </a:r>
          </a:p>
        </p:txBody>
      </p:sp>
      <p:sp>
        <p:nvSpPr>
          <p:cNvPr id="7" name="TextBox 6">
            <a:extLst>
              <a:ext uri="{FF2B5EF4-FFF2-40B4-BE49-F238E27FC236}">
                <a16:creationId xmlns:a16="http://schemas.microsoft.com/office/drawing/2014/main" id="{F23413D4-C5CA-4C20-BA9B-54BA80CFF8EB}"/>
              </a:ext>
            </a:extLst>
          </p:cNvPr>
          <p:cNvSpPr txBox="1"/>
          <p:nvPr/>
        </p:nvSpPr>
        <p:spPr>
          <a:xfrm>
            <a:off x="1092200" y="2819400"/>
            <a:ext cx="14732000" cy="431800"/>
          </a:xfrm>
          <a:prstGeom prst="rect">
            <a:avLst/>
          </a:prstGeom>
          <a:noFill/>
        </p:spPr>
        <p:txBody>
          <a:bodyPr vertOverflow="overflow" vert="horz" wrap="square" rtlCol="0" anchor="t">
            <a:normAutofit/>
          </a:bodyPr>
          <a:lstStyle/>
          <a:p>
            <a:pPr algn="l"/>
            <a:r>
              <a:rPr lang="ko-KR" altLang="en-US" sz="1600">
                <a:solidFill>
                  <a:srgbClr val="7E899B"/>
                </a:solidFill>
                <a:latin typeface="맑은 고딕"/>
                <a:ea typeface="맑은 고딕"/>
              </a:rPr>
              <a:t>회귀분석과 동일한 국제가격</a:t>
            </a:r>
            <a:r>
              <a:rPr lang="en-US" altLang="ko-KR" sz="1600">
                <a:solidFill>
                  <a:srgbClr val="7E899B"/>
                </a:solidFill>
                <a:latin typeface="맑은 고딕"/>
                <a:ea typeface="맑은 고딕"/>
              </a:rPr>
              <a:t>·</a:t>
            </a:r>
            <a:r>
              <a:rPr lang="ko-KR" altLang="en-US" sz="1600">
                <a:solidFill>
                  <a:srgbClr val="7E899B"/>
                </a:solidFill>
                <a:latin typeface="맑은 고딕"/>
                <a:ea typeface="맑은 고딕"/>
              </a:rPr>
              <a:t>환율</a:t>
            </a:r>
            <a:r>
              <a:rPr lang="en-US" altLang="ko-KR" sz="1600">
                <a:solidFill>
                  <a:srgbClr val="7E899B"/>
                </a:solidFill>
                <a:latin typeface="맑은 고딕"/>
                <a:ea typeface="맑은 고딕"/>
              </a:rPr>
              <a:t>·</a:t>
            </a:r>
            <a:r>
              <a:rPr lang="ko-KR" altLang="en-US" sz="1600">
                <a:solidFill>
                  <a:srgbClr val="7E899B"/>
                </a:solidFill>
                <a:latin typeface="맑은 고딕"/>
                <a:ea typeface="맑은 고딕"/>
              </a:rPr>
              <a:t>세전 공급가격을 사용하고</a:t>
            </a:r>
            <a:r>
              <a:rPr lang="en-US" altLang="ko-KR" sz="1600">
                <a:solidFill>
                  <a:srgbClr val="7E899B"/>
                </a:solidFill>
                <a:latin typeface="맑은 고딕"/>
                <a:ea typeface="맑은 고딕"/>
              </a:rPr>
              <a:t>, </a:t>
            </a:r>
            <a:r>
              <a:rPr lang="ko-KR" altLang="en-US" sz="1600">
                <a:solidFill>
                  <a:srgbClr val="7E899B"/>
                </a:solidFill>
                <a:latin typeface="맑은 고딕"/>
                <a:ea typeface="맑은 고딕"/>
              </a:rPr>
              <a:t>동일한 예측 기점과 </a:t>
            </a:r>
            <a:r>
              <a:rPr lang="en-US" altLang="ko-KR" sz="1600">
                <a:solidFill>
                  <a:srgbClr val="7E899B"/>
                </a:solidFill>
                <a:latin typeface="맑은 고딕"/>
                <a:ea typeface="맑은 고딕"/>
              </a:rPr>
              <a:t>32</a:t>
            </a:r>
            <a:r>
              <a:rPr lang="ko-KR" altLang="en-US" sz="1600">
                <a:solidFill>
                  <a:srgbClr val="7E899B"/>
                </a:solidFill>
                <a:latin typeface="맑은 고딕"/>
                <a:ea typeface="맑은 고딕"/>
              </a:rPr>
              <a:t>주 구간에서 성능을 비교합니다</a:t>
            </a:r>
            <a:r>
              <a:rPr lang="en-US" altLang="ko-KR" sz="1600">
                <a:solidFill>
                  <a:srgbClr val="7E899B"/>
                </a:solidFill>
                <a:latin typeface="맑은 고딕"/>
                <a:ea typeface="맑은 고딕"/>
              </a:rPr>
              <a:t>.</a:t>
            </a:r>
            <a:endParaRPr lang="ko-KR" altLang="en-US" sz="1600">
              <a:solidFill>
                <a:srgbClr val="7E899B"/>
              </a:solidFill>
              <a:latin typeface="맑은 고딕"/>
              <a:ea typeface="맑은 고딕"/>
            </a:endParaRPr>
          </a:p>
        </p:txBody>
      </p:sp>
      <p:sp>
        <p:nvSpPr>
          <p:cNvPr id="8" name="직사각형 7">
            <a:extLst>
              <a:ext uri="{FF2B5EF4-FFF2-40B4-BE49-F238E27FC236}">
                <a16:creationId xmlns:a16="http://schemas.microsoft.com/office/drawing/2014/main" id="{7854AB9E-B33E-42C2-B789-E82749565C7D}"/>
              </a:ext>
            </a:extLst>
          </p:cNvPr>
          <p:cNvSpPr/>
          <p:nvPr/>
        </p:nvSpPr>
        <p:spPr>
          <a:xfrm>
            <a:off x="9144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9" name="직사각형 8">
            <a:extLst>
              <a:ext uri="{FF2B5EF4-FFF2-40B4-BE49-F238E27FC236}">
                <a16:creationId xmlns:a16="http://schemas.microsoft.com/office/drawing/2014/main" id="{B99D32DE-B2A9-48CB-9B14-5550CBD3E057}"/>
              </a:ext>
            </a:extLst>
          </p:cNvPr>
          <p:cNvSpPr/>
          <p:nvPr/>
        </p:nvSpPr>
        <p:spPr>
          <a:xfrm>
            <a:off x="914400" y="3810000"/>
            <a:ext cx="127000" cy="33782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TextBox 9">
            <a:extLst>
              <a:ext uri="{FF2B5EF4-FFF2-40B4-BE49-F238E27FC236}">
                <a16:creationId xmlns:a16="http://schemas.microsoft.com/office/drawing/2014/main" id="{09F72874-573F-4714-BBC3-624BD2B1004B}"/>
              </a:ext>
            </a:extLst>
          </p:cNvPr>
          <p:cNvSpPr txBox="1"/>
          <p:nvPr/>
        </p:nvSpPr>
        <p:spPr>
          <a:xfrm>
            <a:off x="1270000" y="4114800"/>
            <a:ext cx="558800" cy="330200"/>
          </a:xfrm>
          <a:prstGeom prst="rect">
            <a:avLst/>
          </a:prstGeom>
          <a:noFill/>
        </p:spPr>
        <p:txBody>
          <a:bodyPr vertOverflow="overflow" vert="horz" wrap="square" rtlCol="0" anchor="t">
            <a:normAutofit/>
          </a:bodyPr>
          <a:lstStyle/>
          <a:p>
            <a:pPr algn="l"/>
            <a:r>
              <a:rPr lang="en-US" altLang="ko-KR" sz="1500" b="1">
                <a:solidFill>
                  <a:srgbClr val="4B73FF"/>
                </a:solidFill>
                <a:latin typeface="맑은 고딕"/>
                <a:ea typeface="맑은 고딕"/>
              </a:rPr>
              <a:t>01</a:t>
            </a:r>
            <a:endParaRPr lang="ko-KR" altLang="en-US" sz="1500" b="1">
              <a:solidFill>
                <a:srgbClr val="4B73FF"/>
              </a:solidFill>
              <a:latin typeface="맑은 고딕"/>
              <a:ea typeface="맑은 고딕"/>
            </a:endParaRPr>
          </a:p>
        </p:txBody>
      </p:sp>
      <p:sp>
        <p:nvSpPr>
          <p:cNvPr id="11" name="TextBox 10">
            <a:extLst>
              <a:ext uri="{FF2B5EF4-FFF2-40B4-BE49-F238E27FC236}">
                <a16:creationId xmlns:a16="http://schemas.microsoft.com/office/drawing/2014/main" id="{06B5D1D4-CBFD-423B-BCEA-1C167DF67667}"/>
              </a:ext>
            </a:extLst>
          </p:cNvPr>
          <p:cNvSpPr txBox="1"/>
          <p:nvPr/>
        </p:nvSpPr>
        <p:spPr>
          <a:xfrm>
            <a:off x="12700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동일 데이터 입력</a:t>
            </a:r>
          </a:p>
        </p:txBody>
      </p:sp>
      <p:sp>
        <p:nvSpPr>
          <p:cNvPr id="12" name="TextBox 11">
            <a:extLst>
              <a:ext uri="{FF2B5EF4-FFF2-40B4-BE49-F238E27FC236}">
                <a16:creationId xmlns:a16="http://schemas.microsoft.com/office/drawing/2014/main" id="{C78E684F-EF20-4BC6-8D55-1630BCF268E6}"/>
              </a:ext>
            </a:extLst>
          </p:cNvPr>
          <p:cNvSpPr txBox="1"/>
          <p:nvPr/>
        </p:nvSpPr>
        <p:spPr>
          <a:xfrm>
            <a:off x="1270000" y="5461000"/>
            <a:ext cx="2108200" cy="1244600"/>
          </a:xfrm>
          <a:prstGeom prst="rect">
            <a:avLst/>
          </a:prstGeom>
          <a:noFill/>
        </p:spPr>
        <p:txBody>
          <a:bodyPr vertOverflow="overflow" vert="horz" wrap="square" rtlCol="0" anchor="t">
            <a:normAutofit lnSpcReduction="10000"/>
          </a:bodyPr>
          <a:lstStyle/>
          <a:p>
            <a:pPr algn="l"/>
            <a:r>
              <a:rPr lang="ko-KR" altLang="en-US" sz="1300">
                <a:solidFill>
                  <a:srgbClr val="7E899B"/>
                </a:solidFill>
                <a:latin typeface="맑은 고딕"/>
                <a:ea typeface="맑은 고딕"/>
              </a:rPr>
              <a:t>회귀와 똑같이 유종별 세전 공급가격</a:t>
            </a:r>
            <a:r>
              <a:rPr lang="en-US" altLang="ko-KR" sz="1300">
                <a:solidFill>
                  <a:srgbClr val="7E899B"/>
                </a:solidFill>
                <a:latin typeface="맑은 고딕"/>
                <a:ea typeface="맑은 고딕"/>
              </a:rPr>
              <a:t>,
</a:t>
            </a:r>
            <a:r>
              <a:rPr lang="ko-KR" altLang="en-US" sz="1300">
                <a:solidFill>
                  <a:srgbClr val="7E899B"/>
                </a:solidFill>
                <a:latin typeface="맑은 고딕"/>
                <a:ea typeface="맑은 고딕"/>
              </a:rPr>
              <a:t>당주</a:t>
            </a:r>
            <a:r>
              <a:rPr lang="en-US" altLang="ko-KR" sz="1300">
                <a:solidFill>
                  <a:srgbClr val="7E899B"/>
                </a:solidFill>
                <a:latin typeface="맑은 고딕"/>
                <a:ea typeface="맑은 고딕"/>
              </a:rPr>
              <a:t>·1</a:t>
            </a:r>
            <a:r>
              <a:rPr lang="ko-KR" altLang="en-US" sz="1300">
                <a:solidFill>
                  <a:srgbClr val="7E899B"/>
                </a:solidFill>
                <a:latin typeface="맑은 고딕"/>
                <a:ea typeface="맑은 고딕"/>
              </a:rPr>
              <a:t>주 전</a:t>
            </a:r>
            <a:r>
              <a:rPr lang="en-US" altLang="ko-KR" sz="1300">
                <a:solidFill>
                  <a:srgbClr val="7E899B"/>
                </a:solidFill>
                <a:latin typeface="맑은 고딕"/>
                <a:ea typeface="맑은 고딕"/>
              </a:rPr>
              <a:t>·2</a:t>
            </a:r>
            <a:r>
              <a:rPr lang="ko-KR" altLang="en-US" sz="1300">
                <a:solidFill>
                  <a:srgbClr val="7E899B"/>
                </a:solidFill>
                <a:latin typeface="맑은 고딕"/>
                <a:ea typeface="맑은 고딕"/>
              </a:rPr>
              <a:t>주 전 국제가격</a:t>
            </a:r>
            <a:r>
              <a:rPr lang="en-US" altLang="ko-KR" sz="1300">
                <a:solidFill>
                  <a:srgbClr val="7E899B"/>
                </a:solidFill>
                <a:latin typeface="맑은 고딕"/>
                <a:ea typeface="맑은 고딕"/>
              </a:rPr>
              <a:t>,
</a:t>
            </a:r>
            <a:r>
              <a:rPr lang="ko-KR" altLang="en-US" sz="1300">
                <a:solidFill>
                  <a:srgbClr val="7E899B"/>
                </a:solidFill>
                <a:latin typeface="맑은 고딕"/>
                <a:ea typeface="맑은 고딕"/>
              </a:rPr>
              <a:t>같은 주 원</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달러 환율을 사용</a:t>
            </a:r>
          </a:p>
        </p:txBody>
      </p:sp>
      <p:sp>
        <p:nvSpPr>
          <p:cNvPr id="13" name="TextBox 12">
            <a:extLst>
              <a:ext uri="{FF2B5EF4-FFF2-40B4-BE49-F238E27FC236}">
                <a16:creationId xmlns:a16="http://schemas.microsoft.com/office/drawing/2014/main" id="{D89DDF38-9C7D-4A26-BBCD-7A2294DCE752}"/>
              </a:ext>
            </a:extLst>
          </p:cNvPr>
          <p:cNvSpPr txBox="1"/>
          <p:nvPr/>
        </p:nvSpPr>
        <p:spPr>
          <a:xfrm>
            <a:off x="37338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14" name="직사각형 13">
            <a:extLst>
              <a:ext uri="{FF2B5EF4-FFF2-40B4-BE49-F238E27FC236}">
                <a16:creationId xmlns:a16="http://schemas.microsoft.com/office/drawing/2014/main" id="{7FB4BD91-5627-4CC2-A89D-4072AEDB062A}"/>
              </a:ext>
            </a:extLst>
          </p:cNvPr>
          <p:cNvSpPr/>
          <p:nvPr/>
        </p:nvSpPr>
        <p:spPr>
          <a:xfrm>
            <a:off x="40640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 name="직사각형 14">
            <a:extLst>
              <a:ext uri="{FF2B5EF4-FFF2-40B4-BE49-F238E27FC236}">
                <a16:creationId xmlns:a16="http://schemas.microsoft.com/office/drawing/2014/main" id="{A692D3DD-78C7-4BE9-84BB-A99F2E42A7EB}"/>
              </a:ext>
            </a:extLst>
          </p:cNvPr>
          <p:cNvSpPr/>
          <p:nvPr/>
        </p:nvSpPr>
        <p:spPr>
          <a:xfrm>
            <a:off x="4064000" y="3810000"/>
            <a:ext cx="127000" cy="33782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 name="TextBox 15">
            <a:extLst>
              <a:ext uri="{FF2B5EF4-FFF2-40B4-BE49-F238E27FC236}">
                <a16:creationId xmlns:a16="http://schemas.microsoft.com/office/drawing/2014/main" id="{FCCB4C47-5F84-4E3A-A57C-BB9D6378814E}"/>
              </a:ext>
            </a:extLst>
          </p:cNvPr>
          <p:cNvSpPr txBox="1"/>
          <p:nvPr/>
        </p:nvSpPr>
        <p:spPr>
          <a:xfrm>
            <a:off x="4419600" y="4114800"/>
            <a:ext cx="558800" cy="330200"/>
          </a:xfrm>
          <a:prstGeom prst="rect">
            <a:avLst/>
          </a:prstGeom>
          <a:noFill/>
        </p:spPr>
        <p:txBody>
          <a:bodyPr vertOverflow="overflow" vert="horz" wrap="square" rtlCol="0" anchor="t">
            <a:normAutofit/>
          </a:bodyPr>
          <a:lstStyle/>
          <a:p>
            <a:pPr algn="l"/>
            <a:r>
              <a:rPr lang="en-US" altLang="ko-KR" sz="1500" b="1">
                <a:solidFill>
                  <a:srgbClr val="22AFCF"/>
                </a:solidFill>
                <a:latin typeface="맑은 고딕"/>
                <a:ea typeface="맑은 고딕"/>
              </a:rPr>
              <a:t>02</a:t>
            </a:r>
            <a:endParaRPr lang="ko-KR" altLang="en-US" sz="1500" b="1">
              <a:solidFill>
                <a:srgbClr val="22AFCF"/>
              </a:solidFill>
              <a:latin typeface="맑은 고딕"/>
              <a:ea typeface="맑은 고딕"/>
            </a:endParaRPr>
          </a:p>
        </p:txBody>
      </p:sp>
      <p:sp>
        <p:nvSpPr>
          <p:cNvPr id="17" name="TextBox 16">
            <a:extLst>
              <a:ext uri="{FF2B5EF4-FFF2-40B4-BE49-F238E27FC236}">
                <a16:creationId xmlns:a16="http://schemas.microsoft.com/office/drawing/2014/main" id="{35C1BACF-C587-470C-9575-5D15C4C79C90}"/>
              </a:ext>
            </a:extLst>
          </p:cNvPr>
          <p:cNvSpPr txBox="1"/>
          <p:nvPr/>
        </p:nvSpPr>
        <p:spPr>
          <a:xfrm>
            <a:off x="44196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시계열 맥락 구성</a:t>
            </a:r>
          </a:p>
        </p:txBody>
      </p:sp>
      <p:sp>
        <p:nvSpPr>
          <p:cNvPr id="18" name="TextBox 17">
            <a:extLst>
              <a:ext uri="{FF2B5EF4-FFF2-40B4-BE49-F238E27FC236}">
                <a16:creationId xmlns:a16="http://schemas.microsoft.com/office/drawing/2014/main" id="{13F90DE3-C9EF-40CE-9777-5526C11D99A3}"/>
              </a:ext>
            </a:extLst>
          </p:cNvPr>
          <p:cNvSpPr txBox="1"/>
          <p:nvPr/>
        </p:nvSpPr>
        <p:spPr>
          <a:xfrm>
            <a:off x="4419600" y="5461000"/>
            <a:ext cx="2108200" cy="1244600"/>
          </a:xfrm>
          <a:prstGeom prst="rect">
            <a:avLst/>
          </a:prstGeom>
          <a:noFill/>
        </p:spPr>
        <p:txBody>
          <a:bodyPr vertOverflow="overflow" vert="horz" wrap="square" rtlCol="0" anchor="t">
            <a:normAutofit lnSpcReduction="10000"/>
          </a:bodyPr>
          <a:lstStyle/>
          <a:p>
            <a:pPr algn="l"/>
            <a:r>
              <a:rPr lang="ko-KR" altLang="en-US" sz="1300">
                <a:solidFill>
                  <a:srgbClr val="7E899B"/>
                </a:solidFill>
                <a:latin typeface="맑은 고딕"/>
                <a:ea typeface="맑은 고딕"/>
              </a:rPr>
              <a:t>예측 기점 이전의 가격 흐름을
시간 순서대로 입력해 최근 추세와
반복되는 변동 패턴을 전달</a:t>
            </a:r>
          </a:p>
        </p:txBody>
      </p:sp>
      <p:sp>
        <p:nvSpPr>
          <p:cNvPr id="19" name="TextBox 18">
            <a:extLst>
              <a:ext uri="{FF2B5EF4-FFF2-40B4-BE49-F238E27FC236}">
                <a16:creationId xmlns:a16="http://schemas.microsoft.com/office/drawing/2014/main" id="{79A08E14-3E96-4BCF-895B-B3ED0251D27B}"/>
              </a:ext>
            </a:extLst>
          </p:cNvPr>
          <p:cNvSpPr txBox="1"/>
          <p:nvPr/>
        </p:nvSpPr>
        <p:spPr>
          <a:xfrm>
            <a:off x="68834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20" name="직사각형 19">
            <a:extLst>
              <a:ext uri="{FF2B5EF4-FFF2-40B4-BE49-F238E27FC236}">
                <a16:creationId xmlns:a16="http://schemas.microsoft.com/office/drawing/2014/main" id="{301D72E1-DA53-42D4-A6CA-F2F1128C5183}"/>
              </a:ext>
            </a:extLst>
          </p:cNvPr>
          <p:cNvSpPr/>
          <p:nvPr/>
        </p:nvSpPr>
        <p:spPr>
          <a:xfrm>
            <a:off x="72136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1" name="직사각형 20">
            <a:extLst>
              <a:ext uri="{FF2B5EF4-FFF2-40B4-BE49-F238E27FC236}">
                <a16:creationId xmlns:a16="http://schemas.microsoft.com/office/drawing/2014/main" id="{8A745AC4-A975-4FAE-BE31-CF41C89DEC52}"/>
              </a:ext>
            </a:extLst>
          </p:cNvPr>
          <p:cNvSpPr/>
          <p:nvPr/>
        </p:nvSpPr>
        <p:spPr>
          <a:xfrm>
            <a:off x="7213600" y="3810000"/>
            <a:ext cx="127000" cy="33782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2" name="TextBox 21">
            <a:extLst>
              <a:ext uri="{FF2B5EF4-FFF2-40B4-BE49-F238E27FC236}">
                <a16:creationId xmlns:a16="http://schemas.microsoft.com/office/drawing/2014/main" id="{A6B5E456-8F32-4D3F-A382-4781E093ADD5}"/>
              </a:ext>
            </a:extLst>
          </p:cNvPr>
          <p:cNvSpPr txBox="1"/>
          <p:nvPr/>
        </p:nvSpPr>
        <p:spPr>
          <a:xfrm>
            <a:off x="7569200" y="4114800"/>
            <a:ext cx="558800" cy="330200"/>
          </a:xfrm>
          <a:prstGeom prst="rect">
            <a:avLst/>
          </a:prstGeom>
          <a:noFill/>
        </p:spPr>
        <p:txBody>
          <a:bodyPr vertOverflow="overflow" vert="horz" wrap="square" rtlCol="0" anchor="t">
            <a:normAutofit/>
          </a:bodyPr>
          <a:lstStyle/>
          <a:p>
            <a:pPr algn="l"/>
            <a:r>
              <a:rPr lang="en-US" altLang="ko-KR" sz="1500" b="1">
                <a:solidFill>
                  <a:srgbClr val="4B73FF"/>
                </a:solidFill>
                <a:latin typeface="맑은 고딕"/>
                <a:ea typeface="맑은 고딕"/>
              </a:rPr>
              <a:t>03</a:t>
            </a:r>
            <a:endParaRPr lang="ko-KR" altLang="en-US" sz="1500" b="1">
              <a:solidFill>
                <a:srgbClr val="4B73FF"/>
              </a:solidFill>
              <a:latin typeface="맑은 고딕"/>
              <a:ea typeface="맑은 고딕"/>
            </a:endParaRPr>
          </a:p>
        </p:txBody>
      </p:sp>
      <p:sp>
        <p:nvSpPr>
          <p:cNvPr id="23" name="TextBox 22">
            <a:extLst>
              <a:ext uri="{FF2B5EF4-FFF2-40B4-BE49-F238E27FC236}">
                <a16:creationId xmlns:a16="http://schemas.microsoft.com/office/drawing/2014/main" id="{D89C4F66-7AE5-401F-92B3-4D6EA25E7B3D}"/>
              </a:ext>
            </a:extLst>
          </p:cNvPr>
          <p:cNvSpPr txBox="1"/>
          <p:nvPr/>
        </p:nvSpPr>
        <p:spPr>
          <a:xfrm>
            <a:off x="7569200" y="4673600"/>
            <a:ext cx="2108200" cy="533400"/>
          </a:xfrm>
          <a:prstGeom prst="rect">
            <a:avLst/>
          </a:prstGeom>
          <a:noFill/>
        </p:spPr>
        <p:txBody>
          <a:bodyPr vertOverflow="overflow" vert="horz" wrap="square" rtlCol="0" anchor="t">
            <a:normAutofit/>
          </a:bodyPr>
          <a:lstStyle/>
          <a:p>
            <a:pPr algn="l"/>
            <a:r>
              <a:rPr lang="en-US" altLang="ko-KR" sz="1600" b="1">
                <a:solidFill>
                  <a:srgbClr val="0F1A2E"/>
                </a:solidFill>
                <a:latin typeface="맑은 고딕"/>
                <a:ea typeface="맑은 고딕"/>
              </a:rPr>
              <a:t>TimesFM </a:t>
            </a:r>
            <a:r>
              <a:rPr lang="ko-KR" altLang="en-US" sz="1600" b="1">
                <a:solidFill>
                  <a:srgbClr val="0F1A2E"/>
                </a:solidFill>
                <a:latin typeface="맑은 고딕"/>
                <a:ea typeface="맑은 고딕"/>
              </a:rPr>
              <a:t>패턴 추론</a:t>
            </a:r>
          </a:p>
        </p:txBody>
      </p:sp>
      <p:sp>
        <p:nvSpPr>
          <p:cNvPr id="24" name="TextBox 23">
            <a:extLst>
              <a:ext uri="{FF2B5EF4-FFF2-40B4-BE49-F238E27FC236}">
                <a16:creationId xmlns:a16="http://schemas.microsoft.com/office/drawing/2014/main" id="{8569E71B-D266-4FDE-8032-5CBA7E05B79A}"/>
              </a:ext>
            </a:extLst>
          </p:cNvPr>
          <p:cNvSpPr txBox="1"/>
          <p:nvPr/>
        </p:nvSpPr>
        <p:spPr>
          <a:xfrm>
            <a:off x="7569200" y="5461000"/>
            <a:ext cx="2108200" cy="1244600"/>
          </a:xfrm>
          <a:prstGeom prst="rect">
            <a:avLst/>
          </a:prstGeom>
          <a:noFill/>
        </p:spPr>
        <p:txBody>
          <a:bodyPr vertOverflow="overflow" vert="horz" wrap="square" rtlCol="0" anchor="t">
            <a:normAutofit lnSpcReduction="10000"/>
          </a:bodyPr>
          <a:lstStyle/>
          <a:p>
            <a:pPr algn="l"/>
            <a:r>
              <a:rPr lang="ko-KR" altLang="en-US" sz="1300">
                <a:solidFill>
                  <a:srgbClr val="7E899B"/>
                </a:solidFill>
                <a:latin typeface="맑은 고딕"/>
                <a:ea typeface="맑은 고딕"/>
              </a:rPr>
              <a:t>사전 학습된 시계열 모델이
선형식으로 제한하지 않고 가격 간
비선형</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장기 패턴을 종합적으로 탐색</a:t>
            </a:r>
          </a:p>
        </p:txBody>
      </p:sp>
      <p:sp>
        <p:nvSpPr>
          <p:cNvPr id="25" name="TextBox 24">
            <a:extLst>
              <a:ext uri="{FF2B5EF4-FFF2-40B4-BE49-F238E27FC236}">
                <a16:creationId xmlns:a16="http://schemas.microsoft.com/office/drawing/2014/main" id="{6A824BDE-32E3-46ED-B208-FE4805FBFFBC}"/>
              </a:ext>
            </a:extLst>
          </p:cNvPr>
          <p:cNvSpPr txBox="1"/>
          <p:nvPr/>
        </p:nvSpPr>
        <p:spPr>
          <a:xfrm>
            <a:off x="100330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26" name="직사각형 25">
            <a:extLst>
              <a:ext uri="{FF2B5EF4-FFF2-40B4-BE49-F238E27FC236}">
                <a16:creationId xmlns:a16="http://schemas.microsoft.com/office/drawing/2014/main" id="{EEB703D5-CBF8-4EAD-855D-C9477F106EE7}"/>
              </a:ext>
            </a:extLst>
          </p:cNvPr>
          <p:cNvSpPr/>
          <p:nvPr/>
        </p:nvSpPr>
        <p:spPr>
          <a:xfrm>
            <a:off x="103632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7" name="직사각형 26">
            <a:extLst>
              <a:ext uri="{FF2B5EF4-FFF2-40B4-BE49-F238E27FC236}">
                <a16:creationId xmlns:a16="http://schemas.microsoft.com/office/drawing/2014/main" id="{C07D9801-B137-4BA0-84E9-874942422F8C}"/>
              </a:ext>
            </a:extLst>
          </p:cNvPr>
          <p:cNvSpPr/>
          <p:nvPr/>
        </p:nvSpPr>
        <p:spPr>
          <a:xfrm>
            <a:off x="10363200" y="3810000"/>
            <a:ext cx="127000" cy="33782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8" name="TextBox 27">
            <a:extLst>
              <a:ext uri="{FF2B5EF4-FFF2-40B4-BE49-F238E27FC236}">
                <a16:creationId xmlns:a16="http://schemas.microsoft.com/office/drawing/2014/main" id="{5035793C-DD2E-4494-BB91-88DCE9EEBF96}"/>
              </a:ext>
            </a:extLst>
          </p:cNvPr>
          <p:cNvSpPr txBox="1"/>
          <p:nvPr/>
        </p:nvSpPr>
        <p:spPr>
          <a:xfrm>
            <a:off x="10718800" y="4114800"/>
            <a:ext cx="558800" cy="330200"/>
          </a:xfrm>
          <a:prstGeom prst="rect">
            <a:avLst/>
          </a:prstGeom>
          <a:noFill/>
        </p:spPr>
        <p:txBody>
          <a:bodyPr vertOverflow="overflow" vert="horz" wrap="square" rtlCol="0" anchor="t">
            <a:normAutofit/>
          </a:bodyPr>
          <a:lstStyle/>
          <a:p>
            <a:pPr algn="l"/>
            <a:r>
              <a:rPr lang="en-US" altLang="ko-KR" sz="1500" b="1">
                <a:solidFill>
                  <a:srgbClr val="22AFCF"/>
                </a:solidFill>
                <a:latin typeface="맑은 고딕"/>
                <a:ea typeface="맑은 고딕"/>
              </a:rPr>
              <a:t>04</a:t>
            </a:r>
            <a:endParaRPr lang="ko-KR" altLang="en-US" sz="1500" b="1">
              <a:solidFill>
                <a:srgbClr val="22AFCF"/>
              </a:solidFill>
              <a:latin typeface="맑은 고딕"/>
              <a:ea typeface="맑은 고딕"/>
            </a:endParaRPr>
          </a:p>
        </p:txBody>
      </p:sp>
      <p:sp>
        <p:nvSpPr>
          <p:cNvPr id="29" name="TextBox 28">
            <a:extLst>
              <a:ext uri="{FF2B5EF4-FFF2-40B4-BE49-F238E27FC236}">
                <a16:creationId xmlns:a16="http://schemas.microsoft.com/office/drawing/2014/main" id="{1C16A608-54FC-46A2-BD95-FA9FD19803D0}"/>
              </a:ext>
            </a:extLst>
          </p:cNvPr>
          <p:cNvSpPr txBox="1"/>
          <p:nvPr/>
        </p:nvSpPr>
        <p:spPr>
          <a:xfrm>
            <a:off x="107188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다음 </a:t>
            </a:r>
            <a:r>
              <a:rPr lang="en-US" altLang="ko-KR" sz="1600" b="1">
                <a:solidFill>
                  <a:srgbClr val="0F1A2E"/>
                </a:solidFill>
                <a:latin typeface="맑은 고딕"/>
                <a:ea typeface="맑은 고딕"/>
              </a:rPr>
              <a:t>32</a:t>
            </a:r>
            <a:r>
              <a:rPr lang="ko-KR" altLang="en-US" sz="1600" b="1">
                <a:solidFill>
                  <a:srgbClr val="0F1A2E"/>
                </a:solidFill>
                <a:latin typeface="맑은 고딕"/>
                <a:ea typeface="맑은 고딕"/>
              </a:rPr>
              <a:t>주 예측</a:t>
            </a:r>
          </a:p>
        </p:txBody>
      </p:sp>
      <p:sp>
        <p:nvSpPr>
          <p:cNvPr id="30" name="TextBox 29">
            <a:extLst>
              <a:ext uri="{FF2B5EF4-FFF2-40B4-BE49-F238E27FC236}">
                <a16:creationId xmlns:a16="http://schemas.microsoft.com/office/drawing/2014/main" id="{71C2F751-8FDB-4E58-A930-6688DC5817F0}"/>
              </a:ext>
            </a:extLst>
          </p:cNvPr>
          <p:cNvSpPr txBox="1"/>
          <p:nvPr/>
        </p:nvSpPr>
        <p:spPr>
          <a:xfrm>
            <a:off x="10718800" y="5461000"/>
            <a:ext cx="2108200" cy="1244600"/>
          </a:xfrm>
          <a:prstGeom prst="rect">
            <a:avLst/>
          </a:prstGeom>
          <a:noFill/>
        </p:spPr>
        <p:txBody>
          <a:bodyPr vertOverflow="overflow" vert="horz" wrap="square" rtlCol="0" anchor="t">
            <a:normAutofit lnSpcReduction="10000"/>
          </a:bodyPr>
          <a:lstStyle/>
          <a:p>
            <a:pPr algn="l"/>
            <a:r>
              <a:rPr lang="ko-KR" altLang="en-US" sz="1300">
                <a:solidFill>
                  <a:srgbClr val="7E899B"/>
                </a:solidFill>
                <a:latin typeface="맑은 고딕"/>
                <a:ea typeface="맑은 고딕"/>
              </a:rPr>
              <a:t>회귀와 동일하게 실제 미래의
국제가격</a:t>
            </a:r>
            <a:r>
              <a:rPr lang="en-US" altLang="ko-KR" sz="1300">
                <a:solidFill>
                  <a:srgbClr val="7E899B"/>
                </a:solidFill>
                <a:latin typeface="맑은 고딕"/>
                <a:ea typeface="맑은 고딕"/>
              </a:rPr>
              <a:t>·</a:t>
            </a:r>
            <a:r>
              <a:rPr lang="ko-KR" altLang="en-US" sz="1300">
                <a:solidFill>
                  <a:srgbClr val="7E899B"/>
                </a:solidFill>
                <a:latin typeface="맑은 고딕"/>
                <a:ea typeface="맑은 고딕"/>
              </a:rPr>
              <a:t>환율 조건을 제공해
</a:t>
            </a:r>
            <a:r>
              <a:rPr lang="en-US" altLang="ko-KR" sz="1300">
                <a:solidFill>
                  <a:srgbClr val="7E899B"/>
                </a:solidFill>
                <a:latin typeface="맑은 고딕"/>
                <a:ea typeface="맑은 고딕"/>
              </a:rPr>
              <a:t>32</a:t>
            </a:r>
            <a:r>
              <a:rPr lang="ko-KR" altLang="en-US" sz="1300">
                <a:solidFill>
                  <a:srgbClr val="7E899B"/>
                </a:solidFill>
                <a:latin typeface="맑은 고딕"/>
                <a:ea typeface="맑은 고딕"/>
              </a:rPr>
              <a:t>주 세전 공급가격을 예측</a:t>
            </a:r>
          </a:p>
        </p:txBody>
      </p:sp>
      <p:sp>
        <p:nvSpPr>
          <p:cNvPr id="31" name="TextBox 30">
            <a:extLst>
              <a:ext uri="{FF2B5EF4-FFF2-40B4-BE49-F238E27FC236}">
                <a16:creationId xmlns:a16="http://schemas.microsoft.com/office/drawing/2014/main" id="{832CFC00-B957-45A9-A9F0-92AA2CD4B6DF}"/>
              </a:ext>
            </a:extLst>
          </p:cNvPr>
          <p:cNvSpPr txBox="1"/>
          <p:nvPr/>
        </p:nvSpPr>
        <p:spPr>
          <a:xfrm>
            <a:off x="13182600" y="5181600"/>
            <a:ext cx="330200" cy="381000"/>
          </a:xfrm>
          <a:prstGeom prst="rect">
            <a:avLst/>
          </a:prstGeom>
          <a:noFill/>
        </p:spPr>
        <p:txBody>
          <a:bodyPr vertOverflow="overflow" vert="horz" wrap="square" rtlCol="0" anchor="t">
            <a:normAutofit/>
          </a:bodyPr>
          <a:lstStyle/>
          <a:p>
            <a:pPr algn="l"/>
            <a:r>
              <a:rPr lang="ko-KR" altLang="en-US" b="1">
                <a:solidFill>
                  <a:srgbClr val="4B73FF"/>
                </a:solidFill>
                <a:latin typeface="맑은 고딕"/>
                <a:ea typeface="맑은 고딕"/>
              </a:rPr>
              <a:t>→</a:t>
            </a:r>
          </a:p>
        </p:txBody>
      </p:sp>
      <p:sp>
        <p:nvSpPr>
          <p:cNvPr id="32" name="직사각형 31">
            <a:extLst>
              <a:ext uri="{FF2B5EF4-FFF2-40B4-BE49-F238E27FC236}">
                <a16:creationId xmlns:a16="http://schemas.microsoft.com/office/drawing/2014/main" id="{9330AC91-C147-4C48-9778-A7327720E0FA}"/>
              </a:ext>
            </a:extLst>
          </p:cNvPr>
          <p:cNvSpPr/>
          <p:nvPr/>
        </p:nvSpPr>
        <p:spPr>
          <a:xfrm>
            <a:off x="13512800" y="3810000"/>
            <a:ext cx="2794000" cy="33782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3" name="직사각형 32">
            <a:extLst>
              <a:ext uri="{FF2B5EF4-FFF2-40B4-BE49-F238E27FC236}">
                <a16:creationId xmlns:a16="http://schemas.microsoft.com/office/drawing/2014/main" id="{50B1286D-EA95-4EDB-B500-0AA187717C8F}"/>
              </a:ext>
            </a:extLst>
          </p:cNvPr>
          <p:cNvSpPr/>
          <p:nvPr/>
        </p:nvSpPr>
        <p:spPr>
          <a:xfrm>
            <a:off x="13512800" y="3810000"/>
            <a:ext cx="127000" cy="33782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4" name="TextBox 33">
            <a:extLst>
              <a:ext uri="{FF2B5EF4-FFF2-40B4-BE49-F238E27FC236}">
                <a16:creationId xmlns:a16="http://schemas.microsoft.com/office/drawing/2014/main" id="{C3ACDC10-0C5F-43D8-9D46-EF2269F904EC}"/>
              </a:ext>
            </a:extLst>
          </p:cNvPr>
          <p:cNvSpPr txBox="1"/>
          <p:nvPr/>
        </p:nvSpPr>
        <p:spPr>
          <a:xfrm>
            <a:off x="13868400" y="4114800"/>
            <a:ext cx="558800" cy="330200"/>
          </a:xfrm>
          <a:prstGeom prst="rect">
            <a:avLst/>
          </a:prstGeom>
          <a:noFill/>
        </p:spPr>
        <p:txBody>
          <a:bodyPr vertOverflow="overflow" vert="horz" wrap="square" rtlCol="0" anchor="t">
            <a:normAutofit/>
          </a:bodyPr>
          <a:lstStyle/>
          <a:p>
            <a:pPr algn="l"/>
            <a:r>
              <a:rPr lang="en-US" altLang="ko-KR" sz="1500" b="1">
                <a:solidFill>
                  <a:srgbClr val="4B73FF"/>
                </a:solidFill>
                <a:latin typeface="맑은 고딕"/>
                <a:ea typeface="맑은 고딕"/>
              </a:rPr>
              <a:t>05</a:t>
            </a:r>
            <a:endParaRPr lang="ko-KR" altLang="en-US" sz="1500" b="1">
              <a:solidFill>
                <a:srgbClr val="4B73FF"/>
              </a:solidFill>
              <a:latin typeface="맑은 고딕"/>
              <a:ea typeface="맑은 고딕"/>
            </a:endParaRPr>
          </a:p>
        </p:txBody>
      </p:sp>
      <p:sp>
        <p:nvSpPr>
          <p:cNvPr id="35" name="TextBox 34">
            <a:extLst>
              <a:ext uri="{FF2B5EF4-FFF2-40B4-BE49-F238E27FC236}">
                <a16:creationId xmlns:a16="http://schemas.microsoft.com/office/drawing/2014/main" id="{BBD8EC0D-DDB0-43DE-9808-8A17A17B4B0E}"/>
              </a:ext>
            </a:extLst>
          </p:cNvPr>
          <p:cNvSpPr txBox="1"/>
          <p:nvPr/>
        </p:nvSpPr>
        <p:spPr>
          <a:xfrm>
            <a:off x="13868400" y="4673600"/>
            <a:ext cx="2108200" cy="533400"/>
          </a:xfrm>
          <a:prstGeom prst="rect">
            <a:avLst/>
          </a:prstGeom>
          <a:noFill/>
        </p:spPr>
        <p:txBody>
          <a:bodyPr vertOverflow="overflow" vert="horz" wrap="square" rtlCol="0" anchor="t">
            <a:normAutofit/>
          </a:bodyPr>
          <a:lstStyle/>
          <a:p>
            <a:pPr algn="l"/>
            <a:r>
              <a:rPr lang="ko-KR" altLang="en-US" sz="1600" b="1">
                <a:solidFill>
                  <a:srgbClr val="0F1A2E"/>
                </a:solidFill>
                <a:latin typeface="맑은 고딕"/>
                <a:ea typeface="맑은 고딕"/>
              </a:rPr>
              <a:t>같은 조건으로 비교</a:t>
            </a:r>
          </a:p>
        </p:txBody>
      </p:sp>
      <p:sp>
        <p:nvSpPr>
          <p:cNvPr id="36" name="TextBox 35">
            <a:extLst>
              <a:ext uri="{FF2B5EF4-FFF2-40B4-BE49-F238E27FC236}">
                <a16:creationId xmlns:a16="http://schemas.microsoft.com/office/drawing/2014/main" id="{EC791279-798C-4A7D-AFCF-5ED6DF03DB3D}"/>
              </a:ext>
            </a:extLst>
          </p:cNvPr>
          <p:cNvSpPr txBox="1"/>
          <p:nvPr/>
        </p:nvSpPr>
        <p:spPr>
          <a:xfrm>
            <a:off x="13868400" y="5461000"/>
            <a:ext cx="2108200" cy="1244600"/>
          </a:xfrm>
          <a:prstGeom prst="rect">
            <a:avLst/>
          </a:prstGeom>
          <a:noFill/>
        </p:spPr>
        <p:txBody>
          <a:bodyPr vertOverflow="overflow" vert="horz" wrap="square" rtlCol="0" anchor="t">
            <a:normAutofit/>
          </a:bodyPr>
          <a:lstStyle/>
          <a:p>
            <a:pPr algn="l"/>
            <a:r>
              <a:rPr lang="en-US" altLang="ko-KR" sz="1300">
                <a:solidFill>
                  <a:srgbClr val="7E899B"/>
                </a:solidFill>
                <a:latin typeface="맑은 고딕"/>
                <a:ea typeface="맑은 고딕"/>
              </a:rPr>
              <a:t>22</a:t>
            </a:r>
            <a:r>
              <a:rPr lang="ko-KR" altLang="en-US" sz="1300">
                <a:solidFill>
                  <a:srgbClr val="7E899B"/>
                </a:solidFill>
                <a:latin typeface="맑은 고딕"/>
                <a:ea typeface="맑은 고딕"/>
              </a:rPr>
              <a:t>개 예측 기점에서 </a:t>
            </a:r>
            <a:r>
              <a:rPr lang="en-US" altLang="ko-KR" sz="1300">
                <a:solidFill>
                  <a:srgbClr val="7E899B"/>
                </a:solidFill>
                <a:latin typeface="맑은 고딕"/>
                <a:ea typeface="맑은 고딕"/>
              </a:rPr>
              <a:t>MAE·RMSE</a:t>
            </a:r>
            <a:r>
              <a:rPr lang="ko-KR" altLang="en-US" sz="1300">
                <a:solidFill>
                  <a:srgbClr val="7E899B"/>
                </a:solidFill>
                <a:latin typeface="맑은 고딕"/>
                <a:ea typeface="맑은 고딕"/>
              </a:rPr>
              <a:t>를
계산하고 회귀분석 결과와 비교해
예측력과 강건성을 점검</a:t>
            </a:r>
          </a:p>
        </p:txBody>
      </p:sp>
      <p:sp>
        <p:nvSpPr>
          <p:cNvPr id="37" name="직사각형 36">
            <a:extLst>
              <a:ext uri="{FF2B5EF4-FFF2-40B4-BE49-F238E27FC236}">
                <a16:creationId xmlns:a16="http://schemas.microsoft.com/office/drawing/2014/main" id="{AA1C97D7-71E9-449A-B117-D2A93FBC10E9}"/>
              </a:ext>
            </a:extLst>
          </p:cNvPr>
          <p:cNvSpPr/>
          <p:nvPr/>
        </p:nvSpPr>
        <p:spPr>
          <a:xfrm>
            <a:off x="914400" y="7493000"/>
            <a:ext cx="15392400" cy="11684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8" name="TextBox 37">
            <a:extLst>
              <a:ext uri="{FF2B5EF4-FFF2-40B4-BE49-F238E27FC236}">
                <a16:creationId xmlns:a16="http://schemas.microsoft.com/office/drawing/2014/main" id="{E27D307F-1860-4AB5-B990-773DF422EB05}"/>
              </a:ext>
            </a:extLst>
          </p:cNvPr>
          <p:cNvSpPr txBox="1"/>
          <p:nvPr/>
        </p:nvSpPr>
        <p:spPr>
          <a:xfrm>
            <a:off x="1295400" y="7772400"/>
            <a:ext cx="3175000" cy="330200"/>
          </a:xfrm>
          <a:prstGeom prst="rect">
            <a:avLst/>
          </a:prstGeom>
          <a:noFill/>
        </p:spPr>
        <p:txBody>
          <a:bodyPr vertOverflow="overflow" vert="horz" wrap="square" rtlCol="0" anchor="t">
            <a:normAutofit lnSpcReduction="10000"/>
          </a:bodyPr>
          <a:lstStyle/>
          <a:p>
            <a:pPr algn="l"/>
            <a:r>
              <a:rPr lang="ko-KR" altLang="en-US" sz="1700" b="1">
                <a:solidFill>
                  <a:srgbClr val="35C6E8"/>
                </a:solidFill>
                <a:latin typeface="맑은 고딕"/>
                <a:ea typeface="맑은 고딕"/>
              </a:rPr>
              <a:t>딥러닝을 함께 쓰는 이유</a:t>
            </a:r>
          </a:p>
        </p:txBody>
      </p:sp>
      <p:sp>
        <p:nvSpPr>
          <p:cNvPr id="39" name="TextBox 38">
            <a:extLst>
              <a:ext uri="{FF2B5EF4-FFF2-40B4-BE49-F238E27FC236}">
                <a16:creationId xmlns:a16="http://schemas.microsoft.com/office/drawing/2014/main" id="{DA0F5F12-4155-4289-A6FB-8063B7956D90}"/>
              </a:ext>
            </a:extLst>
          </p:cNvPr>
          <p:cNvSpPr txBox="1"/>
          <p:nvPr/>
        </p:nvSpPr>
        <p:spPr>
          <a:xfrm>
            <a:off x="4699000" y="7721600"/>
            <a:ext cx="11049000" cy="685800"/>
          </a:xfrm>
          <a:prstGeom prst="rect">
            <a:avLst/>
          </a:prstGeom>
          <a:noFill/>
        </p:spPr>
        <p:txBody>
          <a:bodyPr vertOverflow="overflow" vert="horz" wrap="square" rtlCol="0" anchor="t">
            <a:normAutofit/>
          </a:bodyPr>
          <a:lstStyle/>
          <a:p>
            <a:pPr algn="l"/>
            <a:r>
              <a:rPr lang="ko-KR" altLang="en-US" sz="1400">
                <a:solidFill>
                  <a:srgbClr val="FFFFFF"/>
                </a:solidFill>
                <a:latin typeface="맑은 고딕"/>
                <a:ea typeface="맑은 고딕"/>
              </a:rPr>
              <a:t>회귀분석이 설명하기 어려운 비선형 반응과 장기 시계열 패턴까지 포착할 수 있는지 확인하기 위해서입니다</a:t>
            </a:r>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다만 계수의 경제적 의미를 직접 설명하기 어려워</a:t>
            </a:r>
            <a:r>
              <a:rPr lang="en-US" altLang="ko-KR" sz="1400">
                <a:solidFill>
                  <a:srgbClr val="FFFFFF"/>
                </a:solidFill>
                <a:latin typeface="맑은 고딕"/>
                <a:ea typeface="맑은 고딕"/>
              </a:rPr>
              <a:t>, </a:t>
            </a:r>
            <a:r>
              <a:rPr lang="ko-KR" altLang="en-US" sz="1400">
                <a:solidFill>
                  <a:srgbClr val="FFFFFF"/>
                </a:solidFill>
                <a:latin typeface="맑은 고딕"/>
                <a:ea typeface="맑은 고딕"/>
              </a:rPr>
              <a:t>정책</a:t>
            </a:r>
            <a:r>
              <a:rPr lang="en-US" altLang="ko-KR" sz="1400">
                <a:solidFill>
                  <a:srgbClr val="FFFFFF"/>
                </a:solidFill>
                <a:latin typeface="맑은 고딕"/>
                <a:ea typeface="맑은 고딕"/>
              </a:rPr>
              <a:t>·</a:t>
            </a:r>
            <a:r>
              <a:rPr lang="ko-KR" altLang="en-US" sz="1400">
                <a:solidFill>
                  <a:srgbClr val="FFFFFF"/>
                </a:solidFill>
                <a:latin typeface="맑은 고딕"/>
                <a:ea typeface="맑은 고딕"/>
              </a:rPr>
              <a:t>재정 계산은 회귀를 주모형으로 사용하고 </a:t>
            </a:r>
            <a:r>
              <a:rPr lang="en-US" altLang="ko-KR" sz="1400">
                <a:solidFill>
                  <a:srgbClr val="FFFFFF"/>
                </a:solidFill>
                <a:latin typeface="맑은 고딕"/>
                <a:ea typeface="맑은 고딕"/>
              </a:rPr>
              <a:t>TimesFM</a:t>
            </a:r>
            <a:r>
              <a:rPr lang="ko-KR" altLang="en-US" sz="1400">
                <a:solidFill>
                  <a:srgbClr val="FFFFFF"/>
                </a:solidFill>
                <a:latin typeface="맑은 고딕"/>
                <a:ea typeface="맑은 고딕"/>
              </a:rPr>
              <a:t>은 비교 모형으로 활용합니다</a:t>
            </a:r>
            <a:r>
              <a:rPr lang="en-US" altLang="ko-KR" sz="1400">
                <a:solidFill>
                  <a:srgbClr val="FFFFFF"/>
                </a:solidFill>
                <a:latin typeface="맑은 고딕"/>
                <a:ea typeface="맑은 고딕"/>
              </a:rPr>
              <a:t>.</a:t>
            </a:r>
            <a:endParaRPr lang="ko-KR" altLang="en-US" sz="1400">
              <a:solidFill>
                <a:srgbClr val="FFFFFF"/>
              </a:solidFill>
              <a:latin typeface="맑은 고딕"/>
              <a:ea typeface="맑은 고딕"/>
            </a:endParaRPr>
          </a:p>
        </p:txBody>
      </p:sp>
      <p:sp>
        <p:nvSpPr>
          <p:cNvPr id="40" name="TextBox 39">
            <a:extLst>
              <a:ext uri="{FF2B5EF4-FFF2-40B4-BE49-F238E27FC236}">
                <a16:creationId xmlns:a16="http://schemas.microsoft.com/office/drawing/2014/main" id="{DBA77714-0500-4A6C-BDE9-88F5F541F467}"/>
              </a:ext>
            </a:extLst>
          </p:cNvPr>
          <p:cNvSpPr txBox="1"/>
          <p:nvPr/>
        </p:nvSpPr>
        <p:spPr>
          <a:xfrm>
            <a:off x="1066800" y="8940800"/>
            <a:ext cx="14986000" cy="203200"/>
          </a:xfrm>
          <a:prstGeom prst="rect">
            <a:avLst/>
          </a:prstGeom>
          <a:noFill/>
        </p:spPr>
        <p:txBody>
          <a:bodyPr vertOverflow="overflow" vert="horz" wrap="square" rtlCol="0" anchor="t">
            <a:normAutofit fontScale="92500" lnSpcReduction="20000"/>
          </a:bodyPr>
          <a:lstStyle/>
          <a:p>
            <a:pPr algn="l"/>
            <a:r>
              <a:rPr lang="ko-KR" altLang="en-US" sz="1000">
                <a:solidFill>
                  <a:srgbClr val="98A2B3"/>
                </a:solidFill>
                <a:latin typeface="맑은 고딕"/>
                <a:ea typeface="맑은 고딕"/>
              </a:rPr>
              <a:t>비교 원칙  </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두 모델은 동일한 정규화 입력 데이터</a:t>
            </a:r>
            <a:r>
              <a:rPr lang="en-US" altLang="ko-KR" sz="1000">
                <a:solidFill>
                  <a:srgbClr val="98A2B3"/>
                </a:solidFill>
                <a:latin typeface="맑은 고딕"/>
                <a:ea typeface="맑은 고딕"/>
              </a:rPr>
              <a:t>·</a:t>
            </a:r>
            <a:r>
              <a:rPr lang="ko-KR" altLang="en-US" sz="1000">
                <a:solidFill>
                  <a:srgbClr val="98A2B3"/>
                </a:solidFill>
                <a:latin typeface="맑은 고딕"/>
                <a:ea typeface="맑은 고딕"/>
              </a:rPr>
              <a:t>예측 기점</a:t>
            </a:r>
            <a:r>
              <a:rPr lang="en-US" altLang="ko-KR" sz="1000">
                <a:solidFill>
                  <a:srgbClr val="98A2B3"/>
                </a:solidFill>
                <a:latin typeface="맑은 고딕"/>
                <a:ea typeface="맑은 고딕"/>
              </a:rPr>
              <a:t>·32</a:t>
            </a:r>
            <a:r>
              <a:rPr lang="ko-KR" altLang="en-US" sz="1000">
                <a:solidFill>
                  <a:srgbClr val="98A2B3"/>
                </a:solidFill>
                <a:latin typeface="맑은 고딕"/>
                <a:ea typeface="맑은 고딕"/>
              </a:rPr>
              <a:t>주 예측 구간을 사용하며</a:t>
            </a:r>
            <a:r>
              <a:rPr lang="en-US" altLang="ko-KR" sz="1000">
                <a:solidFill>
                  <a:srgbClr val="98A2B3"/>
                </a:solidFill>
                <a:latin typeface="맑은 고딕"/>
                <a:ea typeface="맑은 고딕"/>
              </a:rPr>
              <a:t>, </a:t>
            </a:r>
            <a:r>
              <a:rPr lang="ko-KR" altLang="en-US" sz="1000">
                <a:solidFill>
                  <a:srgbClr val="98A2B3"/>
                </a:solidFill>
                <a:latin typeface="맑은 고딕"/>
                <a:ea typeface="맑은 고딕"/>
              </a:rPr>
              <a:t>모델 구조만 다르게 비교</a:t>
            </a:r>
          </a:p>
        </p:txBody>
      </p:sp>
    </p:spTree>
    <p:extLst>
      <p:ext uri="{BB962C8B-B14F-4D97-AF65-F5344CB8AC3E}">
        <p14:creationId xmlns:p14="http://schemas.microsoft.com/office/powerpoint/2010/main" val="2897735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The image displays a table with various statistical metrics related to regression analysis, showing a slight decrease in error measures (MAE, MSE, RMSE, MAPE, sMAPE, WAPE) and a high Rￂﾲ value indicating a good fit.&#10;&#10;AI 생성 콘텐츠는 정확하지 않을 수 있습니다.">
            <a:extLst>
              <a:ext uri="{FF2B5EF4-FFF2-40B4-BE49-F238E27FC236}">
                <a16:creationId xmlns:a16="http://schemas.microsoft.com/office/drawing/2014/main" id="{FA629808-F1C1-236E-A4A0-B6A677711110}"/>
              </a:ext>
            </a:extLst>
          </p:cNvPr>
          <p:cNvPicPr>
            <a:picLocks noChangeAspect="1"/>
          </p:cNvPicPr>
          <p:nvPr/>
        </p:nvPicPr>
        <p:blipFill>
          <a:blip r:embed="rId2"/>
          <a:stretch>
            <a:fillRect/>
          </a:stretch>
        </p:blipFill>
        <p:spPr>
          <a:xfrm>
            <a:off x="115040" y="723900"/>
            <a:ext cx="17902248" cy="8762999"/>
          </a:xfrm>
          <a:prstGeom prst="rect">
            <a:avLst/>
          </a:prstGeom>
        </p:spPr>
      </p:pic>
    </p:spTree>
    <p:extLst>
      <p:ext uri="{BB962C8B-B14F-4D97-AF65-F5344CB8AC3E}">
        <p14:creationId xmlns:p14="http://schemas.microsoft.com/office/powerpoint/2010/main" val="800535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The image displays a table comparing various metrics, such as MAE, MSE, RMSE, MAPE_pct, and WAPE_pct, indicating slight improvements in prediction accuracy and a decrease in prediction errors for a model, with some metrics showing negligible differences.&#10;&#10;AI 생성 콘텐츠는 정확하지 않을 수 있습니다.">
            <a:extLst>
              <a:ext uri="{FF2B5EF4-FFF2-40B4-BE49-F238E27FC236}">
                <a16:creationId xmlns:a16="http://schemas.microsoft.com/office/drawing/2014/main" id="{E6279BC1-FA52-D6E9-7B75-E677D2ACC22D}"/>
              </a:ext>
            </a:extLst>
          </p:cNvPr>
          <p:cNvPicPr>
            <a:picLocks noChangeAspect="1"/>
          </p:cNvPicPr>
          <p:nvPr/>
        </p:nvPicPr>
        <p:blipFill>
          <a:blip r:embed="rId2"/>
          <a:stretch>
            <a:fillRect/>
          </a:stretch>
        </p:blipFill>
        <p:spPr>
          <a:xfrm>
            <a:off x="288758" y="419100"/>
            <a:ext cx="17710483" cy="8915399"/>
          </a:xfrm>
          <a:prstGeom prst="rect">
            <a:avLst/>
          </a:prstGeom>
        </p:spPr>
      </p:pic>
    </p:spTree>
    <p:extLst>
      <p:ext uri="{BB962C8B-B14F-4D97-AF65-F5344CB8AC3E}">
        <p14:creationId xmlns:p14="http://schemas.microsoft.com/office/powerpoint/2010/main" val="1854736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The image is a table presenting various statistical metrics for fuel consumption prediction, including mean absolute error (MAE), mean squared error (MSE), root mean square error (RMSE), mean absolute percentage error (MAPE), symmetric mean absolute percentage error (sMAPE), weighted absolute percentage error (WAPE), and coefficient of determination (R2). The table shows improvements in error metrics and a high R2 value, indicating a high-quality regression model.&#10;&#10;AI 생성 콘텐츠는 정확하지 않을 수 있습니다.">
            <a:extLst>
              <a:ext uri="{FF2B5EF4-FFF2-40B4-BE49-F238E27FC236}">
                <a16:creationId xmlns:a16="http://schemas.microsoft.com/office/drawing/2014/main" id="{BB78AFDB-2EFD-D825-EACC-E0B5544DD8D6}"/>
              </a:ext>
            </a:extLst>
          </p:cNvPr>
          <p:cNvPicPr>
            <a:picLocks noChangeAspect="1"/>
          </p:cNvPicPr>
          <p:nvPr/>
        </p:nvPicPr>
        <p:blipFill>
          <a:blip r:embed="rId2"/>
          <a:stretch>
            <a:fillRect/>
          </a:stretch>
        </p:blipFill>
        <p:spPr>
          <a:xfrm>
            <a:off x="384933" y="723900"/>
            <a:ext cx="17518134" cy="8839199"/>
          </a:xfrm>
          <a:prstGeom prst="rect">
            <a:avLst/>
          </a:prstGeom>
        </p:spPr>
      </p:pic>
    </p:spTree>
    <p:extLst>
      <p:ext uri="{BB962C8B-B14F-4D97-AF65-F5344CB8AC3E}">
        <p14:creationId xmlns:p14="http://schemas.microsoft.com/office/powerpoint/2010/main" val="3962358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279B6BEF-3F2B-4A96-8B21-A35997A69175}"/>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직사각형 9">
            <a:extLst>
              <a:ext uri="{FF2B5EF4-FFF2-40B4-BE49-F238E27FC236}">
                <a16:creationId xmlns:a16="http://schemas.microsoft.com/office/drawing/2014/main" id="{A5822447-711F-4F70-A384-C51669F472E2}"/>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1" name="직사각형 10">
            <a:extLst>
              <a:ext uri="{FF2B5EF4-FFF2-40B4-BE49-F238E27FC236}">
                <a16:creationId xmlns:a16="http://schemas.microsoft.com/office/drawing/2014/main" id="{EB684F7B-A027-4B1F-88DF-AFB03DF42E87}"/>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2" name="직사각형 11">
            <a:extLst>
              <a:ext uri="{FF2B5EF4-FFF2-40B4-BE49-F238E27FC236}">
                <a16:creationId xmlns:a16="http://schemas.microsoft.com/office/drawing/2014/main" id="{E2AB698C-71A0-413B-8424-5ADCCFE4FB69}"/>
              </a:ext>
            </a:extLst>
          </p:cNvPr>
          <p:cNvSpPr/>
          <p:nvPr/>
        </p:nvSpPr>
        <p:spPr>
          <a:xfrm>
            <a:off x="12255500" y="1549400"/>
            <a:ext cx="6032500" cy="8737600"/>
          </a:xfrm>
          <a:prstGeom prst="rect">
            <a:avLst/>
          </a:prstGeom>
          <a:solidFill>
            <a:srgbClr val="10182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3" name="직사각형 12">
            <a:extLst>
              <a:ext uri="{FF2B5EF4-FFF2-40B4-BE49-F238E27FC236}">
                <a16:creationId xmlns:a16="http://schemas.microsoft.com/office/drawing/2014/main" id="{8855D3D9-D1C8-480C-A533-6FAD5069926A}"/>
              </a:ext>
            </a:extLst>
          </p:cNvPr>
          <p:cNvSpPr/>
          <p:nvPr/>
        </p:nvSpPr>
        <p:spPr>
          <a:xfrm>
            <a:off x="12255500" y="1549400"/>
            <a:ext cx="152400" cy="87376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4" name="직사각형 13">
            <a:extLst>
              <a:ext uri="{FF2B5EF4-FFF2-40B4-BE49-F238E27FC236}">
                <a16:creationId xmlns:a16="http://schemas.microsoft.com/office/drawing/2014/main" id="{ADDC5371-3E38-4D5F-9A8D-824E8C6CE8C0}"/>
              </a:ext>
            </a:extLst>
          </p:cNvPr>
          <p:cNvSpPr/>
          <p:nvPr/>
        </p:nvSpPr>
        <p:spPr>
          <a:xfrm>
            <a:off x="14414500" y="2984500"/>
            <a:ext cx="2667000" cy="101600"/>
          </a:xfrm>
          <a:prstGeom prst="rect">
            <a:avLst/>
          </a:prstGeom>
          <a:solidFill>
            <a:srgbClr val="39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5" name="직사각형 14">
            <a:extLst>
              <a:ext uri="{FF2B5EF4-FFF2-40B4-BE49-F238E27FC236}">
                <a16:creationId xmlns:a16="http://schemas.microsoft.com/office/drawing/2014/main" id="{643D4F6B-6B35-4D5B-8B7A-0CA23C3E6C89}"/>
              </a:ext>
            </a:extLst>
          </p:cNvPr>
          <p:cNvSpPr/>
          <p:nvPr/>
        </p:nvSpPr>
        <p:spPr>
          <a:xfrm>
            <a:off x="13843000" y="3619500"/>
            <a:ext cx="3238500" cy="1016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6" name="직사각형 15">
            <a:extLst>
              <a:ext uri="{FF2B5EF4-FFF2-40B4-BE49-F238E27FC236}">
                <a16:creationId xmlns:a16="http://schemas.microsoft.com/office/drawing/2014/main" id="{312686F6-8E49-4013-928E-7554BB6B570E}"/>
              </a:ext>
            </a:extLst>
          </p:cNvPr>
          <p:cNvSpPr/>
          <p:nvPr/>
        </p:nvSpPr>
        <p:spPr>
          <a:xfrm>
            <a:off x="14986000" y="4254500"/>
            <a:ext cx="2095500" cy="101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7" name="TextBox 16">
            <a:extLst>
              <a:ext uri="{FF2B5EF4-FFF2-40B4-BE49-F238E27FC236}">
                <a16:creationId xmlns:a16="http://schemas.microsoft.com/office/drawing/2014/main" id="{493BDC76-3481-422E-AF13-DACA197476DF}"/>
              </a:ext>
            </a:extLst>
          </p:cNvPr>
          <p:cNvSpPr txBox="1"/>
          <p:nvPr/>
        </p:nvSpPr>
        <p:spPr>
          <a:xfrm>
            <a:off x="1397000" y="2667000"/>
            <a:ext cx="8890000" cy="431800"/>
          </a:xfrm>
          <a:prstGeom prst="rect">
            <a:avLst/>
          </a:prstGeom>
          <a:noFill/>
        </p:spPr>
        <p:txBody>
          <a:bodyPr vertOverflow="overflow" vert="horz" wrap="square" rtlCol="0" anchor="t">
            <a:normAutofit/>
          </a:bodyPr>
          <a:lstStyle/>
          <a:p>
            <a:pPr algn="l"/>
            <a:r>
              <a:rPr lang="en-US" altLang="ko-KR" sz="1500">
                <a:solidFill>
                  <a:srgbClr val="8A8F98"/>
                </a:solidFill>
                <a:latin typeface="맑은 고딕"/>
                <a:ea typeface="맑은 고딕"/>
              </a:rPr>
              <a:t>FISCAL · CPI · DECISION  |  분석 2~4단계</a:t>
            </a:r>
            <a:endParaRPr lang="ko-KR" altLang="en-US" sz="1500">
              <a:solidFill>
                <a:srgbClr val="8A8F98"/>
              </a:solidFill>
              <a:latin typeface="맑은 고딕"/>
              <a:ea typeface="맑은 고딕"/>
            </a:endParaRPr>
          </a:p>
        </p:txBody>
      </p:sp>
      <p:sp>
        <p:nvSpPr>
          <p:cNvPr id="18" name="TextBox 17">
            <a:extLst>
              <a:ext uri="{FF2B5EF4-FFF2-40B4-BE49-F238E27FC236}">
                <a16:creationId xmlns:a16="http://schemas.microsoft.com/office/drawing/2014/main" id="{4E0C72C1-5100-4D79-8443-15E9CE6B22B0}"/>
              </a:ext>
            </a:extLst>
          </p:cNvPr>
          <p:cNvSpPr txBox="1"/>
          <p:nvPr/>
        </p:nvSpPr>
        <p:spPr>
          <a:xfrm>
            <a:off x="1333500" y="3302000"/>
            <a:ext cx="9652000" cy="2286000"/>
          </a:xfrm>
          <a:prstGeom prst="rect">
            <a:avLst/>
          </a:prstGeom>
          <a:noFill/>
        </p:spPr>
        <p:txBody>
          <a:bodyPr vertOverflow="overflow" vert="horz" wrap="square" rtlCol="0" anchor="t">
            <a:normAutofit/>
          </a:bodyPr>
          <a:lstStyle/>
          <a:p>
            <a:pPr algn="l"/>
            <a:r>
              <a:rPr lang="ko-KR" altLang="en-US" sz="4000" b="1">
                <a:solidFill>
                  <a:srgbClr val="101828"/>
                </a:solidFill>
                <a:latin typeface="맑은 고딕"/>
                <a:ea typeface="맑은 고딕"/>
              </a:rPr>
              <a:t>11차 석유 최고가격</a:t>
            </a:r>
          </a:p>
          <a:p>
            <a:pPr algn="l"/>
            <a:r>
              <a:rPr lang="ko-KR" altLang="en-US" sz="4000" b="1">
                <a:solidFill>
                  <a:srgbClr val="101828"/>
                </a:solidFill>
                <a:latin typeface="맑은 고딕"/>
                <a:ea typeface="맑은 고딕"/>
              </a:rPr>
              <a:t>권고안</a:t>
            </a:r>
          </a:p>
        </p:txBody>
      </p:sp>
      <p:sp>
        <p:nvSpPr>
          <p:cNvPr id="19" name="직사각형 18">
            <a:extLst>
              <a:ext uri="{FF2B5EF4-FFF2-40B4-BE49-F238E27FC236}">
                <a16:creationId xmlns:a16="http://schemas.microsoft.com/office/drawing/2014/main" id="{965C02CF-8DB9-4B89-A1AB-7079F4F42629}"/>
              </a:ext>
            </a:extLst>
          </p:cNvPr>
          <p:cNvSpPr/>
          <p:nvPr/>
        </p:nvSpPr>
        <p:spPr>
          <a:xfrm>
            <a:off x="1397000" y="5905500"/>
            <a:ext cx="1587500" cy="889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0" name="TextBox 19">
            <a:extLst>
              <a:ext uri="{FF2B5EF4-FFF2-40B4-BE49-F238E27FC236}">
                <a16:creationId xmlns:a16="http://schemas.microsoft.com/office/drawing/2014/main" id="{4ADEABE2-FFEE-45D5-A79F-8D6ABB8D5278}"/>
              </a:ext>
            </a:extLst>
          </p:cNvPr>
          <p:cNvSpPr txBox="1"/>
          <p:nvPr/>
        </p:nvSpPr>
        <p:spPr>
          <a:xfrm>
            <a:off x="1397000" y="6350000"/>
            <a:ext cx="9017000" cy="1041400"/>
          </a:xfrm>
          <a:prstGeom prst="rect">
            <a:avLst/>
          </a:prstGeom>
          <a:noFill/>
        </p:spPr>
        <p:txBody>
          <a:bodyPr vertOverflow="overflow" vert="horz" wrap="square" rtlCol="0" anchor="t">
            <a:normAutofit/>
          </a:bodyPr>
          <a:lstStyle/>
          <a:p>
            <a:pPr algn="l"/>
            <a:r>
              <a:rPr lang="ko-KR" altLang="en-US" sz="2100" b="1">
                <a:solidFill>
                  <a:srgbClr val="101828"/>
                </a:solidFill>
                <a:latin typeface="맑은 고딕"/>
                <a:ea typeface="맑은 고딕"/>
              </a:rPr>
              <a:t>휘발유 +30원 · 경유 +90원 · 등유 +120원</a:t>
            </a:r>
          </a:p>
          <a:p>
            <a:pPr algn="l"/>
            <a:r>
              <a:rPr lang="ko-KR" altLang="en-US" sz="2100" b="1">
                <a:solidFill>
                  <a:srgbClr val="101828"/>
                </a:solidFill>
                <a:latin typeface="맑은 고딕"/>
                <a:ea typeface="맑은 고딕"/>
              </a:rPr>
              <a:t>정부 재정 부담과 물가를 함께 따진 조정 폭</a:t>
            </a:r>
          </a:p>
        </p:txBody>
      </p:sp>
      <p:sp>
        <p:nvSpPr>
          <p:cNvPr id="21" name="TextBox 20">
            <a:extLst>
              <a:ext uri="{FF2B5EF4-FFF2-40B4-BE49-F238E27FC236}">
                <a16:creationId xmlns:a16="http://schemas.microsoft.com/office/drawing/2014/main" id="{667700BC-07BC-4AD5-8032-C9AAEA741779}"/>
              </a:ext>
            </a:extLst>
          </p:cNvPr>
          <p:cNvSpPr txBox="1"/>
          <p:nvPr/>
        </p:nvSpPr>
        <p:spPr>
          <a:xfrm>
            <a:off x="1397000" y="7810500"/>
            <a:ext cx="9144000" cy="431800"/>
          </a:xfrm>
          <a:prstGeom prst="rect">
            <a:avLst/>
          </a:prstGeom>
          <a:noFill/>
        </p:spPr>
        <p:txBody>
          <a:bodyPr vertOverflow="overflow" vert="horz" wrap="square" rtlCol="0" anchor="t">
            <a:normAutofit/>
          </a:bodyPr>
          <a:lstStyle/>
          <a:p>
            <a:pPr algn="l"/>
            <a:r>
              <a:rPr lang="ko-KR" altLang="en-US" sz="1500">
                <a:solidFill>
                  <a:srgbClr val="8A8F98"/>
                </a:solidFill>
                <a:latin typeface="맑은 고딕"/>
                <a:ea typeface="맑은 고딕"/>
              </a:rPr>
              <a:t>재정 부담 계산 · 물가 영향 계산 · 결정 최적화</a:t>
            </a:r>
          </a:p>
        </p:txBody>
      </p:sp>
      <p:sp>
        <p:nvSpPr>
          <p:cNvPr id="22" name="TextBox 21">
            <a:extLst>
              <a:ext uri="{FF2B5EF4-FFF2-40B4-BE49-F238E27FC236}">
                <a16:creationId xmlns:a16="http://schemas.microsoft.com/office/drawing/2014/main" id="{9ACF2F6E-A85E-4327-A02F-0E1A8052E57C}"/>
              </a:ext>
            </a:extLst>
          </p:cNvPr>
          <p:cNvSpPr txBox="1"/>
          <p:nvPr/>
        </p:nvSpPr>
        <p:spPr>
          <a:xfrm>
            <a:off x="1397000" y="8763000"/>
            <a:ext cx="3810000" cy="381000"/>
          </a:xfrm>
          <a:prstGeom prst="rect">
            <a:avLst/>
          </a:prstGeom>
          <a:noFill/>
        </p:spPr>
        <p:txBody>
          <a:bodyPr vertOverflow="overflow" vert="horz" wrap="square" rtlCol="0" anchor="t">
            <a:normAutofit/>
          </a:bodyPr>
          <a:lstStyle/>
          <a:p>
            <a:pPr algn="l"/>
            <a:r>
              <a:rPr lang="ko-KR" altLang="en-US" sz="1500" b="1">
                <a:solidFill>
                  <a:srgbClr val="4775FF"/>
                </a:solidFill>
                <a:latin typeface="맑은 고딕"/>
                <a:ea typeface="맑은 고딕"/>
              </a:rPr>
              <a:t>경제학과</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44D61F66-E033-42E3-8303-9F76A3B3322F}"/>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직사각형 9">
            <a:extLst>
              <a:ext uri="{FF2B5EF4-FFF2-40B4-BE49-F238E27FC236}">
                <a16:creationId xmlns:a16="http://schemas.microsoft.com/office/drawing/2014/main" id="{1E5BE171-49A1-4E91-938E-4F16D5B5DA85}"/>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1" name="직사각형 10">
            <a:extLst>
              <a:ext uri="{FF2B5EF4-FFF2-40B4-BE49-F238E27FC236}">
                <a16:creationId xmlns:a16="http://schemas.microsoft.com/office/drawing/2014/main" id="{9511D941-D737-4DA1-AE44-D856FE284A34}"/>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2" name="TextBox 11">
            <a:extLst>
              <a:ext uri="{FF2B5EF4-FFF2-40B4-BE49-F238E27FC236}">
                <a16:creationId xmlns:a16="http://schemas.microsoft.com/office/drawing/2014/main" id="{9AF3FDB0-EC29-4D92-B172-4C0EDF96B2DE}"/>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CALCULATION FLOW</a:t>
            </a:r>
            <a:endParaRPr lang="ko-KR" altLang="en-US" sz="1200">
              <a:solidFill>
                <a:srgbClr val="8793A6"/>
              </a:solidFill>
              <a:latin typeface="맑은 고딕"/>
              <a:ea typeface="맑은 고딕"/>
            </a:endParaRPr>
          </a:p>
        </p:txBody>
      </p:sp>
      <p:sp>
        <p:nvSpPr>
          <p:cNvPr id="13" name="TextBox 12">
            <a:extLst>
              <a:ext uri="{FF2B5EF4-FFF2-40B4-BE49-F238E27FC236}">
                <a16:creationId xmlns:a16="http://schemas.microsoft.com/office/drawing/2014/main" id="{5F08ACC4-6C7E-4B19-B410-67AE25706894}"/>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회귀 결과에서 재정 부담, 물가 영향, 11차 권고를 차례로 계산합니다</a:t>
            </a:r>
          </a:p>
        </p:txBody>
      </p:sp>
      <p:sp>
        <p:nvSpPr>
          <p:cNvPr id="14" name="TextBox 13">
            <a:extLst>
              <a:ext uri="{FF2B5EF4-FFF2-40B4-BE49-F238E27FC236}">
                <a16:creationId xmlns:a16="http://schemas.microsoft.com/office/drawing/2014/main" id="{5D16BACA-814E-4ABF-8587-CBAFFD437479}"/>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앞 단계의 결과가 다음 단계의 입력이 됩니다. 2~4단계 코드는 policy/ 폴더에 있습니다.</a:t>
            </a:r>
          </a:p>
        </p:txBody>
      </p:sp>
      <p:sp>
        <p:nvSpPr>
          <p:cNvPr id="2" name="직사각형 1">
            <a:extLst>
              <a:ext uri="{FF2B5EF4-FFF2-40B4-BE49-F238E27FC236}">
                <a16:creationId xmlns:a16="http://schemas.microsoft.com/office/drawing/2014/main" id="{BD0B55F5-76C4-4A1C-B2EF-519262A1D2F3}"/>
              </a:ext>
            </a:extLst>
          </p:cNvPr>
          <p:cNvSpPr/>
          <p:nvPr/>
        </p:nvSpPr>
        <p:spPr>
          <a:xfrm>
            <a:off x="1041400" y="3937000"/>
            <a:ext cx="3492500" cy="3810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 name="직사각형 2">
            <a:extLst>
              <a:ext uri="{FF2B5EF4-FFF2-40B4-BE49-F238E27FC236}">
                <a16:creationId xmlns:a16="http://schemas.microsoft.com/office/drawing/2014/main" id="{6827C4C4-9E66-43E8-A314-AECE855783E6}"/>
              </a:ext>
            </a:extLst>
          </p:cNvPr>
          <p:cNvSpPr/>
          <p:nvPr/>
        </p:nvSpPr>
        <p:spPr>
          <a:xfrm>
            <a:off x="1041400" y="3937000"/>
            <a:ext cx="3492500" cy="6858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 name="TextBox 3">
            <a:extLst>
              <a:ext uri="{FF2B5EF4-FFF2-40B4-BE49-F238E27FC236}">
                <a16:creationId xmlns:a16="http://schemas.microsoft.com/office/drawing/2014/main" id="{7DB60768-5E3C-42D1-BCB1-975F3986AE54}"/>
              </a:ext>
            </a:extLst>
          </p:cNvPr>
          <p:cNvSpPr txBox="1"/>
          <p:nvPr/>
        </p:nvSpPr>
        <p:spPr>
          <a:xfrm>
            <a:off x="1346200" y="4140200"/>
            <a:ext cx="635000" cy="304800"/>
          </a:xfrm>
          <a:prstGeom prst="rect">
            <a:avLst/>
          </a:prstGeom>
          <a:noFill/>
        </p:spPr>
        <p:txBody>
          <a:bodyPr vertOverflow="overflow" vert="horz" wrap="square" rtlCol="0" anchor="t">
            <a:normAutofit/>
          </a:bodyPr>
          <a:lstStyle/>
          <a:p>
            <a:pPr algn="l"/>
            <a:r>
              <a:rPr lang="en-US" altLang="ko-KR" sz="1300" b="1">
                <a:solidFill>
                  <a:srgbClr val="FFFFFF"/>
                </a:solidFill>
                <a:latin typeface="맑은 고딕"/>
                <a:ea typeface="맑은 고딕"/>
              </a:rPr>
              <a:t>01</a:t>
            </a:r>
            <a:endParaRPr lang="ko-KR" altLang="en-US" sz="1300" b="1">
              <a:solidFill>
                <a:srgbClr val="FFFFFF"/>
              </a:solidFill>
              <a:latin typeface="맑은 고딕"/>
              <a:ea typeface="맑은 고딕"/>
            </a:endParaRPr>
          </a:p>
        </p:txBody>
      </p:sp>
      <p:sp>
        <p:nvSpPr>
          <p:cNvPr id="5" name="TextBox 4">
            <a:extLst>
              <a:ext uri="{FF2B5EF4-FFF2-40B4-BE49-F238E27FC236}">
                <a16:creationId xmlns:a16="http://schemas.microsoft.com/office/drawing/2014/main" id="{67944031-B91F-407B-83BE-D9857A7064A2}"/>
              </a:ext>
            </a:extLst>
          </p:cNvPr>
          <p:cNvSpPr txBox="1"/>
          <p:nvPr/>
        </p:nvSpPr>
        <p:spPr>
          <a:xfrm>
            <a:off x="1346200" y="4927600"/>
            <a:ext cx="2857500" cy="457200"/>
          </a:xfrm>
          <a:prstGeom prst="rect">
            <a:avLst/>
          </a:prstGeom>
          <a:noFill/>
        </p:spPr>
        <p:txBody>
          <a:bodyPr vertOverflow="overflow" vert="horz" wrap="square" rtlCol="0" anchor="t">
            <a:normAutofit/>
          </a:bodyPr>
          <a:lstStyle/>
          <a:p>
            <a:pPr algn="l"/>
            <a:r>
              <a:rPr lang="ko-KR" altLang="en-US" sz="1700" b="1">
                <a:solidFill>
                  <a:srgbClr val="0F1A2E"/>
                </a:solidFill>
                <a:latin typeface="맑은 고딕"/>
                <a:ea typeface="맑은 고딕"/>
              </a:rPr>
              <a:t>정부 지원금액</a:t>
            </a:r>
          </a:p>
        </p:txBody>
      </p:sp>
      <p:sp>
        <p:nvSpPr>
          <p:cNvPr id="6" name="TextBox 5">
            <a:extLst>
              <a:ext uri="{FF2B5EF4-FFF2-40B4-BE49-F238E27FC236}">
                <a16:creationId xmlns:a16="http://schemas.microsoft.com/office/drawing/2014/main" id="{C7D51CC6-77C0-47C7-8202-415BA90F358C}"/>
              </a:ext>
            </a:extLst>
          </p:cNvPr>
          <p:cNvSpPr txBox="1"/>
          <p:nvPr/>
        </p:nvSpPr>
        <p:spPr>
          <a:xfrm>
            <a:off x="1346200" y="5613400"/>
            <a:ext cx="2857500" cy="8636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상한제가 없었다면 가격</a:t>
            </a:r>
            <a:endParaRPr lang="ko-KR" altLang="en-US" sz="1400" b="1">
              <a:solidFill>
                <a:srgbClr val="4B73FF"/>
              </a:solidFill>
              <a:latin typeface="맑은 고딕"/>
              <a:ea typeface="맑은 고딕"/>
            </a:endParaRPr>
          </a:p>
          <a:p>
            <a:pPr algn="l"/>
            <a:r>
              <a:rPr lang="en-US" altLang="ko-KR" sz="1400" b="1">
                <a:solidFill>
                  <a:srgbClr val="4B73FF"/>
                </a:solidFill>
                <a:latin typeface="맑은 고딕"/>
                <a:ea typeface="맑은 고딕"/>
              </a:rPr>
              <a:t>− 최고가격</a:t>
            </a:r>
            <a:endParaRPr lang="ko-KR" altLang="en-US" sz="1400" b="1">
              <a:solidFill>
                <a:srgbClr val="4B73FF"/>
              </a:solidFill>
              <a:latin typeface="맑은 고딕"/>
              <a:ea typeface="맑은 고딕"/>
            </a:endParaRPr>
          </a:p>
        </p:txBody>
      </p:sp>
      <p:sp>
        <p:nvSpPr>
          <p:cNvPr id="8" name="TextBox 7">
            <a:extLst>
              <a:ext uri="{FF2B5EF4-FFF2-40B4-BE49-F238E27FC236}">
                <a16:creationId xmlns:a16="http://schemas.microsoft.com/office/drawing/2014/main" id="{74BBE420-0415-46B2-A516-97F28826B393}"/>
              </a:ext>
            </a:extLst>
          </p:cNvPr>
          <p:cNvSpPr txBox="1"/>
          <p:nvPr/>
        </p:nvSpPr>
        <p:spPr>
          <a:xfrm>
            <a:off x="4622800" y="5562600"/>
            <a:ext cx="355600" cy="482600"/>
          </a:xfrm>
          <a:prstGeom prst="rect">
            <a:avLst/>
          </a:prstGeom>
          <a:noFill/>
        </p:spPr>
        <p:txBody>
          <a:bodyPr vertOverflow="overflow" vert="horz" wrap="square" rtlCol="0" anchor="t">
            <a:normAutofit/>
          </a:bodyPr>
          <a:lstStyle/>
          <a:p>
            <a:pPr algn="l"/>
            <a:r>
              <a:rPr lang="ko-KR" altLang="en-US" sz="2400" b="1">
                <a:solidFill>
                  <a:srgbClr val="4B73FF"/>
                </a:solidFill>
                <a:latin typeface="맑은 고딕"/>
                <a:ea typeface="맑은 고딕"/>
              </a:rPr>
              <a:t>→</a:t>
            </a:r>
          </a:p>
        </p:txBody>
      </p:sp>
      <p:sp>
        <p:nvSpPr>
          <p:cNvPr id="25" name="직사각형 24">
            <a:extLst>
              <a:ext uri="{FF2B5EF4-FFF2-40B4-BE49-F238E27FC236}">
                <a16:creationId xmlns:a16="http://schemas.microsoft.com/office/drawing/2014/main" id="{0C2D22FE-CAEF-456B-84DD-60627A37DAA4}"/>
              </a:ext>
            </a:extLst>
          </p:cNvPr>
          <p:cNvSpPr/>
          <p:nvPr/>
        </p:nvSpPr>
        <p:spPr>
          <a:xfrm>
            <a:off x="5041900" y="3937000"/>
            <a:ext cx="3492500" cy="3810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6" name="직사각형 25">
            <a:extLst>
              <a:ext uri="{FF2B5EF4-FFF2-40B4-BE49-F238E27FC236}">
                <a16:creationId xmlns:a16="http://schemas.microsoft.com/office/drawing/2014/main" id="{1BA4F4D3-A10C-4C7F-956A-A39A635A20F0}"/>
              </a:ext>
            </a:extLst>
          </p:cNvPr>
          <p:cNvSpPr/>
          <p:nvPr/>
        </p:nvSpPr>
        <p:spPr>
          <a:xfrm>
            <a:off x="5041900" y="3937000"/>
            <a:ext cx="3492500" cy="6858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7" name="TextBox 26">
            <a:extLst>
              <a:ext uri="{FF2B5EF4-FFF2-40B4-BE49-F238E27FC236}">
                <a16:creationId xmlns:a16="http://schemas.microsoft.com/office/drawing/2014/main" id="{93C3C7DC-38F8-4C04-AA03-BD200F5D4669}"/>
              </a:ext>
            </a:extLst>
          </p:cNvPr>
          <p:cNvSpPr txBox="1"/>
          <p:nvPr/>
        </p:nvSpPr>
        <p:spPr>
          <a:xfrm>
            <a:off x="5346700" y="4140200"/>
            <a:ext cx="635000" cy="304800"/>
          </a:xfrm>
          <a:prstGeom prst="rect">
            <a:avLst/>
          </a:prstGeom>
          <a:noFill/>
        </p:spPr>
        <p:txBody>
          <a:bodyPr vertOverflow="overflow" vert="horz" wrap="square" rtlCol="0" anchor="t">
            <a:normAutofit/>
          </a:bodyPr>
          <a:lstStyle/>
          <a:p>
            <a:pPr algn="l"/>
            <a:r>
              <a:rPr lang="en-US" altLang="ko-KR" sz="1300" b="1">
                <a:solidFill>
                  <a:srgbClr val="FFFFFF"/>
                </a:solidFill>
                <a:latin typeface="맑은 고딕"/>
                <a:ea typeface="맑은 고딕"/>
              </a:rPr>
              <a:t>02</a:t>
            </a:r>
            <a:endParaRPr lang="ko-KR" altLang="en-US" sz="1300" b="1">
              <a:solidFill>
                <a:srgbClr val="FFFFFF"/>
              </a:solidFill>
              <a:latin typeface="맑은 고딕"/>
              <a:ea typeface="맑은 고딕"/>
            </a:endParaRPr>
          </a:p>
        </p:txBody>
      </p:sp>
      <p:sp>
        <p:nvSpPr>
          <p:cNvPr id="28" name="TextBox 27">
            <a:extLst>
              <a:ext uri="{FF2B5EF4-FFF2-40B4-BE49-F238E27FC236}">
                <a16:creationId xmlns:a16="http://schemas.microsoft.com/office/drawing/2014/main" id="{762C3793-C2C3-47D2-9833-53F4492FCB02}"/>
              </a:ext>
            </a:extLst>
          </p:cNvPr>
          <p:cNvSpPr txBox="1"/>
          <p:nvPr/>
        </p:nvSpPr>
        <p:spPr>
          <a:xfrm>
            <a:off x="5346700" y="4927600"/>
            <a:ext cx="2857500" cy="457200"/>
          </a:xfrm>
          <a:prstGeom prst="rect">
            <a:avLst/>
          </a:prstGeom>
          <a:noFill/>
        </p:spPr>
        <p:txBody>
          <a:bodyPr vertOverflow="overflow" vert="horz" wrap="square" rtlCol="0" anchor="t">
            <a:normAutofit/>
          </a:bodyPr>
          <a:lstStyle/>
          <a:p>
            <a:pPr algn="l"/>
            <a:r>
              <a:rPr lang="ko-KR" altLang="en-US" sz="1700" b="1">
                <a:solidFill>
                  <a:srgbClr val="0F1A2E"/>
                </a:solidFill>
                <a:latin typeface="맑은 고딕"/>
                <a:ea typeface="맑은 고딕"/>
              </a:rPr>
              <a:t>정부 재정 부담</a:t>
            </a:r>
          </a:p>
        </p:txBody>
      </p:sp>
      <p:sp>
        <p:nvSpPr>
          <p:cNvPr id="29" name="TextBox 28">
            <a:extLst>
              <a:ext uri="{FF2B5EF4-FFF2-40B4-BE49-F238E27FC236}">
                <a16:creationId xmlns:a16="http://schemas.microsoft.com/office/drawing/2014/main" id="{7923153B-4F5F-4187-BEB6-4BF2F022BD70}"/>
              </a:ext>
            </a:extLst>
          </p:cNvPr>
          <p:cNvSpPr txBox="1"/>
          <p:nvPr/>
        </p:nvSpPr>
        <p:spPr>
          <a:xfrm>
            <a:off x="5346700" y="5613400"/>
            <a:ext cx="2857500" cy="8636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지원금액 × 하루 판매량</a:t>
            </a:r>
          </a:p>
          <a:p>
            <a:pPr algn="l"/>
            <a:r>
              <a:rPr lang="en-US" altLang="ko-KR" sz="1400" b="1">
                <a:solidFill>
                  <a:srgbClr val="4B73FF"/>
                </a:solidFill>
                <a:latin typeface="맑은 고딕"/>
                <a:ea typeface="맑은 고딕"/>
              </a:rPr>
              <a:t>× 일수</a:t>
            </a:r>
          </a:p>
        </p:txBody>
      </p:sp>
      <p:sp>
        <p:nvSpPr>
          <p:cNvPr id="31" name="TextBox 30">
            <a:extLst>
              <a:ext uri="{FF2B5EF4-FFF2-40B4-BE49-F238E27FC236}">
                <a16:creationId xmlns:a16="http://schemas.microsoft.com/office/drawing/2014/main" id="{2B2DD2D4-EB12-4F28-A723-594163B50E00}"/>
              </a:ext>
            </a:extLst>
          </p:cNvPr>
          <p:cNvSpPr txBox="1"/>
          <p:nvPr/>
        </p:nvSpPr>
        <p:spPr>
          <a:xfrm>
            <a:off x="8623300" y="5562600"/>
            <a:ext cx="355600" cy="482600"/>
          </a:xfrm>
          <a:prstGeom prst="rect">
            <a:avLst/>
          </a:prstGeom>
          <a:noFill/>
        </p:spPr>
        <p:txBody>
          <a:bodyPr vertOverflow="overflow" vert="horz" wrap="square" rtlCol="0" anchor="t">
            <a:normAutofit/>
          </a:bodyPr>
          <a:lstStyle/>
          <a:p>
            <a:pPr algn="l"/>
            <a:r>
              <a:rPr lang="ko-KR" altLang="en-US" sz="2400" b="1">
                <a:solidFill>
                  <a:srgbClr val="4B73FF"/>
                </a:solidFill>
                <a:latin typeface="맑은 고딕"/>
                <a:ea typeface="맑은 고딕"/>
              </a:rPr>
              <a:t>→</a:t>
            </a:r>
          </a:p>
        </p:txBody>
      </p:sp>
      <p:sp>
        <p:nvSpPr>
          <p:cNvPr id="32" name="직사각형 31">
            <a:extLst>
              <a:ext uri="{FF2B5EF4-FFF2-40B4-BE49-F238E27FC236}">
                <a16:creationId xmlns:a16="http://schemas.microsoft.com/office/drawing/2014/main" id="{48D50B4F-332C-4362-ACD8-8D5DDA27F1AA}"/>
              </a:ext>
            </a:extLst>
          </p:cNvPr>
          <p:cNvSpPr/>
          <p:nvPr/>
        </p:nvSpPr>
        <p:spPr>
          <a:xfrm>
            <a:off x="9042400" y="3937000"/>
            <a:ext cx="3492500" cy="3810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3" name="직사각형 32">
            <a:extLst>
              <a:ext uri="{FF2B5EF4-FFF2-40B4-BE49-F238E27FC236}">
                <a16:creationId xmlns:a16="http://schemas.microsoft.com/office/drawing/2014/main" id="{7B156B3D-EE40-41D3-A741-E2227C39E940}"/>
              </a:ext>
            </a:extLst>
          </p:cNvPr>
          <p:cNvSpPr/>
          <p:nvPr/>
        </p:nvSpPr>
        <p:spPr>
          <a:xfrm>
            <a:off x="9042400" y="3937000"/>
            <a:ext cx="3492500" cy="6858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4" name="TextBox 33">
            <a:extLst>
              <a:ext uri="{FF2B5EF4-FFF2-40B4-BE49-F238E27FC236}">
                <a16:creationId xmlns:a16="http://schemas.microsoft.com/office/drawing/2014/main" id="{CBD98744-8D82-4D5D-8FFA-84829DECAA48}"/>
              </a:ext>
            </a:extLst>
          </p:cNvPr>
          <p:cNvSpPr txBox="1"/>
          <p:nvPr/>
        </p:nvSpPr>
        <p:spPr>
          <a:xfrm>
            <a:off x="9347200" y="4140200"/>
            <a:ext cx="635000" cy="304800"/>
          </a:xfrm>
          <a:prstGeom prst="rect">
            <a:avLst/>
          </a:prstGeom>
          <a:noFill/>
        </p:spPr>
        <p:txBody>
          <a:bodyPr vertOverflow="overflow" vert="horz" wrap="square" rtlCol="0" anchor="t">
            <a:normAutofit/>
          </a:bodyPr>
          <a:lstStyle/>
          <a:p>
            <a:pPr algn="l"/>
            <a:r>
              <a:rPr lang="en-US" altLang="ko-KR" sz="1300" b="1">
                <a:solidFill>
                  <a:srgbClr val="FFFFFF"/>
                </a:solidFill>
                <a:latin typeface="맑은 고딕"/>
                <a:ea typeface="맑은 고딕"/>
              </a:rPr>
              <a:t>03</a:t>
            </a:r>
            <a:endParaRPr lang="ko-KR" altLang="en-US" sz="1300" b="1">
              <a:solidFill>
                <a:srgbClr val="FFFFFF"/>
              </a:solidFill>
              <a:latin typeface="맑은 고딕"/>
              <a:ea typeface="맑은 고딕"/>
            </a:endParaRPr>
          </a:p>
        </p:txBody>
      </p:sp>
      <p:sp>
        <p:nvSpPr>
          <p:cNvPr id="35" name="TextBox 34">
            <a:extLst>
              <a:ext uri="{FF2B5EF4-FFF2-40B4-BE49-F238E27FC236}">
                <a16:creationId xmlns:a16="http://schemas.microsoft.com/office/drawing/2014/main" id="{FF3AAD43-EE6F-4F17-B950-2CC9134D1AC7}"/>
              </a:ext>
            </a:extLst>
          </p:cNvPr>
          <p:cNvSpPr txBox="1"/>
          <p:nvPr/>
        </p:nvSpPr>
        <p:spPr>
          <a:xfrm>
            <a:off x="9347200" y="4927600"/>
            <a:ext cx="2857500" cy="457200"/>
          </a:xfrm>
          <a:prstGeom prst="rect">
            <a:avLst/>
          </a:prstGeom>
          <a:noFill/>
        </p:spPr>
        <p:txBody>
          <a:bodyPr vertOverflow="overflow" vert="horz" wrap="square" rtlCol="0" anchor="t">
            <a:normAutofit/>
          </a:bodyPr>
          <a:lstStyle/>
          <a:p>
            <a:pPr algn="l"/>
            <a:r>
              <a:rPr lang="ko-KR" altLang="en-US" sz="1700" b="1">
                <a:solidFill>
                  <a:srgbClr val="0F1A2E"/>
                </a:solidFill>
                <a:latin typeface="맑은 고딕"/>
                <a:ea typeface="맑은 고딕"/>
              </a:rPr>
              <a:t>물가 영향</a:t>
            </a:r>
          </a:p>
        </p:txBody>
      </p:sp>
      <p:sp>
        <p:nvSpPr>
          <p:cNvPr id="36" name="TextBox 35">
            <a:extLst>
              <a:ext uri="{FF2B5EF4-FFF2-40B4-BE49-F238E27FC236}">
                <a16:creationId xmlns:a16="http://schemas.microsoft.com/office/drawing/2014/main" id="{FF3D65A5-45B3-4CE5-9BC8-E2EC938C9663}"/>
              </a:ext>
            </a:extLst>
          </p:cNvPr>
          <p:cNvSpPr txBox="1"/>
          <p:nvPr/>
        </p:nvSpPr>
        <p:spPr>
          <a:xfrm>
            <a:off x="9347200" y="5613400"/>
            <a:ext cx="2857500" cy="8636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상한 인상 × 반영률</a:t>
            </a:r>
          </a:p>
          <a:p>
            <a:pPr algn="l"/>
            <a:r>
              <a:rPr lang="en-US" altLang="ko-KR" sz="1400" b="1">
                <a:solidFill>
                  <a:srgbClr val="4B73FF"/>
                </a:solidFill>
                <a:latin typeface="맑은 고딕"/>
                <a:ea typeface="맑은 고딕"/>
              </a:rPr>
              <a:t>× 물가 가중치</a:t>
            </a:r>
          </a:p>
        </p:txBody>
      </p:sp>
      <p:sp>
        <p:nvSpPr>
          <p:cNvPr id="38" name="TextBox 37">
            <a:extLst>
              <a:ext uri="{FF2B5EF4-FFF2-40B4-BE49-F238E27FC236}">
                <a16:creationId xmlns:a16="http://schemas.microsoft.com/office/drawing/2014/main" id="{A1E29310-71D4-4635-9D10-60F05C4C9CDC}"/>
              </a:ext>
            </a:extLst>
          </p:cNvPr>
          <p:cNvSpPr txBox="1"/>
          <p:nvPr/>
        </p:nvSpPr>
        <p:spPr>
          <a:xfrm>
            <a:off x="12623800" y="5562600"/>
            <a:ext cx="355600" cy="482600"/>
          </a:xfrm>
          <a:prstGeom prst="rect">
            <a:avLst/>
          </a:prstGeom>
          <a:noFill/>
        </p:spPr>
        <p:txBody>
          <a:bodyPr vertOverflow="overflow" vert="horz" wrap="square" rtlCol="0" anchor="t">
            <a:normAutofit/>
          </a:bodyPr>
          <a:lstStyle/>
          <a:p>
            <a:pPr algn="l"/>
            <a:r>
              <a:rPr lang="ko-KR" altLang="en-US" sz="2400" b="1">
                <a:solidFill>
                  <a:srgbClr val="4B73FF"/>
                </a:solidFill>
                <a:latin typeface="맑은 고딕"/>
                <a:ea typeface="맑은 고딕"/>
              </a:rPr>
              <a:t>→</a:t>
            </a:r>
          </a:p>
        </p:txBody>
      </p:sp>
      <p:sp>
        <p:nvSpPr>
          <p:cNvPr id="39" name="직사각형 38">
            <a:extLst>
              <a:ext uri="{FF2B5EF4-FFF2-40B4-BE49-F238E27FC236}">
                <a16:creationId xmlns:a16="http://schemas.microsoft.com/office/drawing/2014/main" id="{DA2EBCF6-1877-49A9-8027-2BC45557F1FA}"/>
              </a:ext>
            </a:extLst>
          </p:cNvPr>
          <p:cNvSpPr/>
          <p:nvPr/>
        </p:nvSpPr>
        <p:spPr>
          <a:xfrm>
            <a:off x="13042900" y="3937000"/>
            <a:ext cx="3492500" cy="38100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0" name="직사각형 39">
            <a:extLst>
              <a:ext uri="{FF2B5EF4-FFF2-40B4-BE49-F238E27FC236}">
                <a16:creationId xmlns:a16="http://schemas.microsoft.com/office/drawing/2014/main" id="{7593ADF5-4B79-4E76-B597-097259E224F0}"/>
              </a:ext>
            </a:extLst>
          </p:cNvPr>
          <p:cNvSpPr/>
          <p:nvPr/>
        </p:nvSpPr>
        <p:spPr>
          <a:xfrm>
            <a:off x="13042900" y="3937000"/>
            <a:ext cx="3492500" cy="6858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1" name="TextBox 40">
            <a:extLst>
              <a:ext uri="{FF2B5EF4-FFF2-40B4-BE49-F238E27FC236}">
                <a16:creationId xmlns:a16="http://schemas.microsoft.com/office/drawing/2014/main" id="{14A25E45-1FBE-4551-983E-15FB53B7CFA9}"/>
              </a:ext>
            </a:extLst>
          </p:cNvPr>
          <p:cNvSpPr txBox="1"/>
          <p:nvPr/>
        </p:nvSpPr>
        <p:spPr>
          <a:xfrm>
            <a:off x="13347700" y="4140200"/>
            <a:ext cx="635000" cy="304800"/>
          </a:xfrm>
          <a:prstGeom prst="rect">
            <a:avLst/>
          </a:prstGeom>
          <a:noFill/>
        </p:spPr>
        <p:txBody>
          <a:bodyPr vertOverflow="overflow" vert="horz" wrap="square" rtlCol="0" anchor="t">
            <a:normAutofit/>
          </a:bodyPr>
          <a:lstStyle/>
          <a:p>
            <a:pPr algn="l"/>
            <a:r>
              <a:rPr lang="en-US" altLang="ko-KR" sz="1300" b="1">
                <a:solidFill>
                  <a:srgbClr val="FFFFFF"/>
                </a:solidFill>
                <a:latin typeface="맑은 고딕"/>
                <a:ea typeface="맑은 고딕"/>
              </a:rPr>
              <a:t>04</a:t>
            </a:r>
            <a:endParaRPr lang="ko-KR" altLang="en-US" sz="1300" b="1">
              <a:solidFill>
                <a:srgbClr val="FFFFFF"/>
              </a:solidFill>
              <a:latin typeface="맑은 고딕"/>
              <a:ea typeface="맑은 고딕"/>
            </a:endParaRPr>
          </a:p>
        </p:txBody>
      </p:sp>
      <p:sp>
        <p:nvSpPr>
          <p:cNvPr id="42" name="TextBox 41">
            <a:extLst>
              <a:ext uri="{FF2B5EF4-FFF2-40B4-BE49-F238E27FC236}">
                <a16:creationId xmlns:a16="http://schemas.microsoft.com/office/drawing/2014/main" id="{5008B355-CBF1-4A72-9972-3DF70E18BFDF}"/>
              </a:ext>
            </a:extLst>
          </p:cNvPr>
          <p:cNvSpPr txBox="1"/>
          <p:nvPr/>
        </p:nvSpPr>
        <p:spPr>
          <a:xfrm>
            <a:off x="13347700" y="4927600"/>
            <a:ext cx="2857500" cy="457200"/>
          </a:xfrm>
          <a:prstGeom prst="rect">
            <a:avLst/>
          </a:prstGeom>
          <a:noFill/>
        </p:spPr>
        <p:txBody>
          <a:bodyPr vertOverflow="overflow" vert="horz" wrap="square" rtlCol="0" anchor="t">
            <a:normAutofit fontScale="92500"/>
          </a:bodyPr>
          <a:lstStyle/>
          <a:p>
            <a:pPr algn="l"/>
            <a:r>
              <a:rPr lang="ko-KR" altLang="en-US" sz="1700" b="1" dirty="0">
                <a:solidFill>
                  <a:srgbClr val="0F1A2E"/>
                </a:solidFill>
                <a:latin typeface="맑은 고딕"/>
                <a:ea typeface="맑은 고딕"/>
              </a:rPr>
              <a:t>가격 상한제 11차 조정 권고</a:t>
            </a:r>
          </a:p>
        </p:txBody>
      </p:sp>
      <p:sp>
        <p:nvSpPr>
          <p:cNvPr id="43" name="TextBox 42">
            <a:extLst>
              <a:ext uri="{FF2B5EF4-FFF2-40B4-BE49-F238E27FC236}">
                <a16:creationId xmlns:a16="http://schemas.microsoft.com/office/drawing/2014/main" id="{5F9CD25B-0131-4F52-AC80-8BA999D66692}"/>
              </a:ext>
            </a:extLst>
          </p:cNvPr>
          <p:cNvSpPr txBox="1"/>
          <p:nvPr/>
        </p:nvSpPr>
        <p:spPr>
          <a:xfrm>
            <a:off x="13347700" y="5613400"/>
            <a:ext cx="2857500" cy="8636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유가 500가지</a:t>
            </a:r>
          </a:p>
          <a:p>
            <a:pPr algn="l"/>
            <a:r>
              <a:rPr lang="en-US" altLang="ko-KR" sz="1400" b="1">
                <a:solidFill>
                  <a:srgbClr val="4B73FF"/>
                </a:solidFill>
                <a:latin typeface="맑은 고딕"/>
                <a:ea typeface="맑은 고딕"/>
              </a:rPr>
              <a:t>× 조정안 216가지</a:t>
            </a:r>
          </a:p>
        </p:txBody>
      </p:sp>
      <p:sp>
        <p:nvSpPr>
          <p:cNvPr id="45" name="직사각형 44">
            <a:extLst>
              <a:ext uri="{FF2B5EF4-FFF2-40B4-BE49-F238E27FC236}">
                <a16:creationId xmlns:a16="http://schemas.microsoft.com/office/drawing/2014/main" id="{C865AD2A-81BE-4D6B-AD2D-A65319206FAC}"/>
              </a:ext>
            </a:extLst>
          </p:cNvPr>
          <p:cNvSpPr/>
          <p:nvPr/>
        </p:nvSpPr>
        <p:spPr>
          <a:xfrm>
            <a:off x="1041400" y="8077200"/>
            <a:ext cx="15494000" cy="685800"/>
          </a:xfrm>
          <a:prstGeom prst="rect">
            <a:avLst/>
          </a:prstGeom>
          <a:solidFill>
            <a:srgbClr val="EEF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TextBox 45">
            <a:extLst>
              <a:ext uri="{FF2B5EF4-FFF2-40B4-BE49-F238E27FC236}">
                <a16:creationId xmlns:a16="http://schemas.microsoft.com/office/drawing/2014/main" id="{48F49BE7-7EE4-4255-904C-388DB35C9D79}"/>
              </a:ext>
            </a:extLst>
          </p:cNvPr>
          <p:cNvSpPr txBox="1"/>
          <p:nvPr/>
        </p:nvSpPr>
        <p:spPr>
          <a:xfrm>
            <a:off x="1397000" y="8280400"/>
            <a:ext cx="14732000" cy="330200"/>
          </a:xfrm>
          <a:prstGeom prst="rect">
            <a:avLst/>
          </a:prstGeom>
          <a:noFill/>
        </p:spPr>
        <p:txBody>
          <a:bodyPr vertOverflow="overflow" vert="horz" wrap="square" rtlCol="0" anchor="t">
            <a:normAutofit/>
          </a:bodyPr>
          <a:lstStyle/>
          <a:p>
            <a:pPr algn="l"/>
            <a:r>
              <a:rPr lang="ko-KR" altLang="en-US" sz="1300" b="1" dirty="0">
                <a:solidFill>
                  <a:srgbClr val="0F1A2E"/>
                </a:solidFill>
                <a:latin typeface="맑은 고딕"/>
                <a:ea typeface="맑은 고딕"/>
              </a:rPr>
              <a:t>사용 자료  |  1단계 회귀 결과 · 가격상한제 1~10차 최고가격 · 월별 석유 판매량 · 소비자물가 가중치· </a:t>
            </a:r>
            <a:r>
              <a:rPr lang="ko-KR" altLang="en-US" sz="1300" b="1" dirty="0" err="1">
                <a:solidFill>
                  <a:srgbClr val="0F1A2E"/>
                </a:solidFill>
                <a:latin typeface="맑은 고딕"/>
                <a:ea typeface="맑은 고딕"/>
              </a:rPr>
              <a:t>오피넷</a:t>
            </a:r>
            <a:r>
              <a:rPr lang="ko-KR" altLang="en-US" sz="1300" b="1" dirty="0">
                <a:solidFill>
                  <a:srgbClr val="0F1A2E"/>
                </a:solidFill>
                <a:latin typeface="맑은 고딕"/>
                <a:ea typeface="맑은 고딕"/>
              </a:rPr>
              <a:t> API 오늘 판매가</a:t>
            </a:r>
          </a:p>
        </p:txBody>
      </p:sp>
      <p:sp>
        <p:nvSpPr>
          <p:cNvPr id="47" name="TextBox 46">
            <a:extLst>
              <a:ext uri="{FF2B5EF4-FFF2-40B4-BE49-F238E27FC236}">
                <a16:creationId xmlns:a16="http://schemas.microsoft.com/office/drawing/2014/main" id="{0AC39CCF-54FC-4489-AD42-5F9C252CE750}"/>
              </a:ext>
            </a:extLst>
          </p:cNvPr>
          <p:cNvSpPr txBox="1"/>
          <p:nvPr/>
        </p:nvSpPr>
        <p:spPr>
          <a:xfrm>
            <a:off x="1066800" y="8890000"/>
            <a:ext cx="14986000" cy="228600"/>
          </a:xfrm>
          <a:prstGeom prst="rect">
            <a:avLst/>
          </a:prstGeom>
          <a:noFill/>
        </p:spPr>
        <p:txBody>
          <a:bodyPr vertOverflow="overflow" vert="horz" wrap="square" rtlCol="0" anchor="t">
            <a:normAutofit lnSpcReduction="10000"/>
          </a:bodyPr>
          <a:lstStyle/>
          <a:p>
            <a:pPr algn="l"/>
            <a:r>
              <a:rPr lang="ko-KR" altLang="en-US" sz="1000">
                <a:solidFill>
                  <a:srgbClr val="98A2B3"/>
                </a:solidFill>
                <a:latin typeface="맑은 고딕"/>
                <a:ea typeface="맑은 고딕"/>
              </a:rPr>
              <a:t>지원금액이 음수인 주(상한이 시장가보다 높은 주)는 0으로 처리합니다.</a:t>
            </a:r>
          </a:p>
        </p:txBody>
      </p:sp>
    </p:spTree>
    <p:extLst>
      <p:ext uri="{BB962C8B-B14F-4D97-AF65-F5344CB8AC3E}">
        <p14:creationId xmlns:p14="http://schemas.microsoft.com/office/powerpoint/2010/main" val="3870215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CEF9844C-7A05-47D1-822C-5F5101A5B534}"/>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4" name="직사각형 43">
            <a:extLst>
              <a:ext uri="{FF2B5EF4-FFF2-40B4-BE49-F238E27FC236}">
                <a16:creationId xmlns:a16="http://schemas.microsoft.com/office/drawing/2014/main" id="{4F45F64D-C46C-429C-B0D2-F932881B9EFF}"/>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직사각형 44">
            <a:extLst>
              <a:ext uri="{FF2B5EF4-FFF2-40B4-BE49-F238E27FC236}">
                <a16:creationId xmlns:a16="http://schemas.microsoft.com/office/drawing/2014/main" id="{BC859B2C-8415-466C-94D8-262047626BE8}"/>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TextBox 45">
            <a:extLst>
              <a:ext uri="{FF2B5EF4-FFF2-40B4-BE49-F238E27FC236}">
                <a16:creationId xmlns:a16="http://schemas.microsoft.com/office/drawing/2014/main" id="{9D148C9A-D29E-4547-9EE2-44ED48D26D7A}"/>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STEP 2 · FISCAL BURDEN</a:t>
            </a:r>
            <a:endParaRPr lang="ko-KR" altLang="en-US" sz="1200">
              <a:solidFill>
                <a:srgbClr val="8793A6"/>
              </a:solidFill>
              <a:latin typeface="맑은 고딕"/>
              <a:ea typeface="맑은 고딕"/>
            </a:endParaRPr>
          </a:p>
        </p:txBody>
      </p:sp>
      <p:sp>
        <p:nvSpPr>
          <p:cNvPr id="47" name="TextBox 46">
            <a:extLst>
              <a:ext uri="{FF2B5EF4-FFF2-40B4-BE49-F238E27FC236}">
                <a16:creationId xmlns:a16="http://schemas.microsoft.com/office/drawing/2014/main" id="{782B5AC6-2072-49CB-9AFE-CA9A441ABC2B}"/>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dirty="0">
                <a:solidFill>
                  <a:srgbClr val="0F1A2E"/>
                </a:solidFill>
                <a:latin typeface="맑은 고딕"/>
                <a:ea typeface="맑은 고딕"/>
              </a:rPr>
              <a:t>상한제 이후 정부 재정 부담은 6.35조 원</a:t>
            </a:r>
          </a:p>
        </p:txBody>
      </p:sp>
      <p:sp>
        <p:nvSpPr>
          <p:cNvPr id="48" name="TextBox 47">
            <a:extLst>
              <a:ext uri="{FF2B5EF4-FFF2-40B4-BE49-F238E27FC236}">
                <a16:creationId xmlns:a16="http://schemas.microsoft.com/office/drawing/2014/main" id="{69B4C59E-BBCF-4358-8140-55645C445FAA}"/>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리터당 지원금액 × 하루 판매량 × 일수를 3월 13일부터 9월 26일까지(198일) 더했습니다.</a:t>
            </a:r>
          </a:p>
        </p:txBody>
      </p:sp>
      <p:sp>
        <p:nvSpPr>
          <p:cNvPr id="49" name="직사각형 48">
            <a:extLst>
              <a:ext uri="{FF2B5EF4-FFF2-40B4-BE49-F238E27FC236}">
                <a16:creationId xmlns:a16="http://schemas.microsoft.com/office/drawing/2014/main" id="{BBEAF440-FF1A-4B24-AB62-3A31BC4ECB96}"/>
              </a:ext>
            </a:extLst>
          </p:cNvPr>
          <p:cNvSpPr/>
          <p:nvPr/>
        </p:nvSpPr>
        <p:spPr>
          <a:xfrm>
            <a:off x="1041400" y="3784600"/>
            <a:ext cx="11049000" cy="42926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0" name="TextBox 49">
            <a:extLst>
              <a:ext uri="{FF2B5EF4-FFF2-40B4-BE49-F238E27FC236}">
                <a16:creationId xmlns:a16="http://schemas.microsoft.com/office/drawing/2014/main" id="{091A2F7D-9993-4BB4-B0E5-5F7892C5AB3D}"/>
              </a:ext>
            </a:extLst>
          </p:cNvPr>
          <p:cNvSpPr txBox="1"/>
          <p:nvPr/>
        </p:nvSpPr>
        <p:spPr>
          <a:xfrm>
            <a:off x="1422400" y="4064000"/>
            <a:ext cx="6350000" cy="3810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주별 정부 지원금액 (리터당)</a:t>
            </a:r>
          </a:p>
        </p:txBody>
      </p:sp>
      <p:sp>
        <p:nvSpPr>
          <p:cNvPr id="51" name="TextBox 50">
            <a:extLst>
              <a:ext uri="{FF2B5EF4-FFF2-40B4-BE49-F238E27FC236}">
                <a16:creationId xmlns:a16="http://schemas.microsoft.com/office/drawing/2014/main" id="{CBE5BFB5-EF83-40A5-88E8-9DC3A15E40F4}"/>
              </a:ext>
            </a:extLst>
          </p:cNvPr>
          <p:cNvSpPr txBox="1"/>
          <p:nvPr/>
        </p:nvSpPr>
        <p:spPr>
          <a:xfrm>
            <a:off x="1422400" y="4470400"/>
            <a:ext cx="6350000" cy="279400"/>
          </a:xfrm>
          <a:prstGeom prst="rect">
            <a:avLst/>
          </a:prstGeom>
          <a:noFill/>
        </p:spPr>
        <p:txBody>
          <a:bodyPr vertOverflow="overflow" vert="horz" wrap="square" rtlCol="0" anchor="t">
            <a:normAutofit/>
          </a:bodyPr>
          <a:lstStyle/>
          <a:p>
            <a:pPr algn="l"/>
            <a:r>
              <a:rPr lang="ko-KR" altLang="en-US" sz="1100">
                <a:solidFill>
                  <a:srgbClr val="8A95A8"/>
                </a:solidFill>
                <a:latin typeface="맑은 고딕"/>
                <a:ea typeface="맑은 고딕"/>
              </a:rPr>
              <a:t>단위: 원/L · 상한제가 없었다면 가격 − 실제 공급가 · 2026.3.14~9.26 (29주)</a:t>
            </a:r>
          </a:p>
        </p:txBody>
      </p:sp>
      <p:sp>
        <p:nvSpPr>
          <p:cNvPr id="52" name="직사각형 51">
            <a:extLst>
              <a:ext uri="{FF2B5EF4-FFF2-40B4-BE49-F238E27FC236}">
                <a16:creationId xmlns:a16="http://schemas.microsoft.com/office/drawing/2014/main" id="{4FE0113E-12E0-46A5-8587-C75D8EE6EDD5}"/>
              </a:ext>
            </a:extLst>
          </p:cNvPr>
          <p:cNvSpPr/>
          <p:nvPr/>
        </p:nvSpPr>
        <p:spPr>
          <a:xfrm>
            <a:off x="12471400" y="3784600"/>
            <a:ext cx="4673600" cy="42926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3" name="TextBox 52">
            <a:extLst>
              <a:ext uri="{FF2B5EF4-FFF2-40B4-BE49-F238E27FC236}">
                <a16:creationId xmlns:a16="http://schemas.microsoft.com/office/drawing/2014/main" id="{768B544F-D2A0-4E2A-B7AA-8A886502EECA}"/>
              </a:ext>
            </a:extLst>
          </p:cNvPr>
          <p:cNvSpPr txBox="1"/>
          <p:nvPr/>
        </p:nvSpPr>
        <p:spPr>
          <a:xfrm>
            <a:off x="12903200" y="4165600"/>
            <a:ext cx="2159000" cy="304800"/>
          </a:xfrm>
          <a:prstGeom prst="rect">
            <a:avLst/>
          </a:prstGeom>
          <a:noFill/>
        </p:spPr>
        <p:txBody>
          <a:bodyPr vertOverflow="overflow" vert="horz" wrap="square" rtlCol="0" anchor="t">
            <a:normAutofit/>
          </a:bodyPr>
          <a:lstStyle/>
          <a:p>
            <a:pPr algn="l"/>
            <a:r>
              <a:rPr lang="en-US" altLang="ko-KR" sz="1200" b="1">
                <a:solidFill>
                  <a:srgbClr val="35C6E8"/>
                </a:solidFill>
                <a:latin typeface="맑은 고딕"/>
                <a:ea typeface="맑은 고딕"/>
              </a:rPr>
              <a:t>KEY READ</a:t>
            </a:r>
            <a:endParaRPr lang="ko-KR" altLang="en-US" sz="1200" b="1">
              <a:solidFill>
                <a:srgbClr val="35C6E8"/>
              </a:solidFill>
              <a:latin typeface="맑은 고딕"/>
              <a:ea typeface="맑은 고딕"/>
            </a:endParaRPr>
          </a:p>
        </p:txBody>
      </p:sp>
      <p:sp>
        <p:nvSpPr>
          <p:cNvPr id="54" name="TextBox 53">
            <a:extLst>
              <a:ext uri="{FF2B5EF4-FFF2-40B4-BE49-F238E27FC236}">
                <a16:creationId xmlns:a16="http://schemas.microsoft.com/office/drawing/2014/main" id="{0B10D69C-D225-4C82-A78B-D2AA6F48F43B}"/>
              </a:ext>
            </a:extLst>
          </p:cNvPr>
          <p:cNvSpPr txBox="1"/>
          <p:nvPr/>
        </p:nvSpPr>
        <p:spPr>
          <a:xfrm>
            <a:off x="12903200" y="47498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누적 재정 부담</a:t>
            </a:r>
          </a:p>
        </p:txBody>
      </p:sp>
      <p:sp>
        <p:nvSpPr>
          <p:cNvPr id="55" name="TextBox 54">
            <a:extLst>
              <a:ext uri="{FF2B5EF4-FFF2-40B4-BE49-F238E27FC236}">
                <a16:creationId xmlns:a16="http://schemas.microsoft.com/office/drawing/2014/main" id="{D8A5A3AD-07C6-473A-AA2A-E81F80C2C05F}"/>
              </a:ext>
            </a:extLst>
          </p:cNvPr>
          <p:cNvSpPr txBox="1"/>
          <p:nvPr/>
        </p:nvSpPr>
        <p:spPr>
          <a:xfrm>
            <a:off x="12903200" y="5207000"/>
            <a:ext cx="3302000" cy="990600"/>
          </a:xfrm>
          <a:prstGeom prst="rect">
            <a:avLst/>
          </a:prstGeom>
          <a:noFill/>
        </p:spPr>
        <p:txBody>
          <a:bodyPr vertOverflow="overflow" vert="horz" wrap="square" rtlCol="0" anchor="t">
            <a:normAutofit/>
          </a:bodyPr>
          <a:lstStyle/>
          <a:p>
            <a:pPr algn="l"/>
            <a:r>
              <a:rPr lang="ko-KR" altLang="en-US" sz="1500" dirty="0">
                <a:solidFill>
                  <a:srgbClr val="FFFFFF"/>
                </a:solidFill>
                <a:latin typeface="맑은 고딕"/>
                <a:ea typeface="맑은 고딕"/>
              </a:rPr>
              <a:t>6.35조 원</a:t>
            </a:r>
          </a:p>
          <a:p>
            <a:pPr algn="l"/>
            <a:r>
              <a:rPr lang="ko-KR" altLang="en-US" sz="1500" dirty="0">
                <a:solidFill>
                  <a:srgbClr val="FFFFFF"/>
                </a:solidFill>
                <a:latin typeface="맑은 고딕"/>
                <a:ea typeface="맑은 고딕"/>
              </a:rPr>
              <a:t>경유 4.53조 (71%)</a:t>
            </a:r>
          </a:p>
          <a:p>
            <a:pPr algn="l"/>
            <a:r>
              <a:rPr lang="ko-KR" altLang="en-US" sz="1500" dirty="0">
                <a:solidFill>
                  <a:srgbClr val="FFFFFF"/>
                </a:solidFill>
                <a:latin typeface="맑은 고딕"/>
                <a:ea typeface="맑은 고딕"/>
              </a:rPr>
              <a:t>휘발유 1.59조 · 등유 0.22조</a:t>
            </a:r>
          </a:p>
        </p:txBody>
      </p:sp>
      <p:sp>
        <p:nvSpPr>
          <p:cNvPr id="56" name="TextBox 55">
            <a:extLst>
              <a:ext uri="{FF2B5EF4-FFF2-40B4-BE49-F238E27FC236}">
                <a16:creationId xmlns:a16="http://schemas.microsoft.com/office/drawing/2014/main" id="{CF4D7D32-DCD4-4197-ADAB-708F7B3E71BA}"/>
              </a:ext>
            </a:extLst>
          </p:cNvPr>
          <p:cNvSpPr txBox="1"/>
          <p:nvPr/>
        </p:nvSpPr>
        <p:spPr>
          <a:xfrm>
            <a:off x="12903200" y="64770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9월 말 지원금액</a:t>
            </a:r>
          </a:p>
        </p:txBody>
      </p:sp>
      <p:sp>
        <p:nvSpPr>
          <p:cNvPr id="57" name="TextBox 56">
            <a:extLst>
              <a:ext uri="{FF2B5EF4-FFF2-40B4-BE49-F238E27FC236}">
                <a16:creationId xmlns:a16="http://schemas.microsoft.com/office/drawing/2014/main" id="{F050DC6E-F3A3-48A8-A0B0-16DA1350418B}"/>
              </a:ext>
            </a:extLst>
          </p:cNvPr>
          <p:cNvSpPr txBox="1"/>
          <p:nvPr/>
        </p:nvSpPr>
        <p:spPr>
          <a:xfrm>
            <a:off x="12903200" y="6934200"/>
            <a:ext cx="3302000" cy="7366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휘발유 335원 · 경유 511원</a:t>
            </a:r>
          </a:p>
          <a:p>
            <a:pPr algn="l"/>
            <a:r>
              <a:rPr lang="ko-KR" altLang="en-US" sz="1500">
                <a:solidFill>
                  <a:srgbClr val="FFFFFF"/>
                </a:solidFill>
                <a:latin typeface="맑은 고딕"/>
                <a:ea typeface="맑은 고딕"/>
              </a:rPr>
              <a:t>등유 432원 (리터당)</a:t>
            </a:r>
          </a:p>
        </p:txBody>
      </p:sp>
      <p:sp>
        <p:nvSpPr>
          <p:cNvPr id="58" name="TextBox 57">
            <a:extLst>
              <a:ext uri="{FF2B5EF4-FFF2-40B4-BE49-F238E27FC236}">
                <a16:creationId xmlns:a16="http://schemas.microsoft.com/office/drawing/2014/main" id="{FF7FB84B-F609-45B2-9195-8F8D03392930}"/>
              </a:ext>
            </a:extLst>
          </p:cNvPr>
          <p:cNvSpPr txBox="1"/>
          <p:nvPr/>
        </p:nvSpPr>
        <p:spPr>
          <a:xfrm>
            <a:off x="1066800" y="8864600"/>
            <a:ext cx="14224000" cy="228600"/>
          </a:xfrm>
          <a:prstGeom prst="rect">
            <a:avLst/>
          </a:prstGeom>
          <a:noFill/>
        </p:spPr>
        <p:txBody>
          <a:bodyPr vertOverflow="overflow" vert="horz" wrap="square" rtlCol="0" anchor="t">
            <a:normAutofit lnSpcReduction="10000"/>
          </a:bodyPr>
          <a:lstStyle/>
          <a:p>
            <a:pPr algn="l"/>
            <a:r>
              <a:rPr lang="ko-KR" altLang="en-US" sz="1000" dirty="0">
                <a:solidFill>
                  <a:srgbClr val="98A2B3"/>
                </a:solidFill>
                <a:latin typeface="맑은 고딕"/>
                <a:ea typeface="맑은 고딕"/>
              </a:rPr>
              <a:t>판매량: 석유 수급 통계(천 배럴, 9월은 전년 9월 × 올해 증감률로 추정) · 업계 추산 손실 4~5조 원보다 큼: 기준 가격에 최근 52주 가격 수준 보정 포함</a:t>
            </a:r>
          </a:p>
        </p:txBody>
      </p:sp>
      <p:graphicFrame>
        <p:nvGraphicFramePr>
          <p:cNvPr id="59" name="Chart 58"/>
          <p:cNvGraphicFramePr>
            <a:graphicFrameLocks noGrp="1"/>
          </p:cNvGraphicFramePr>
          <p:nvPr/>
        </p:nvGraphicFramePr>
        <p:xfrm>
          <a:off x="1280160" y="4800600"/>
          <a:ext cx="10561320" cy="3200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54966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6A906BAA-E7C6-46B3-ACB3-89E5D986D1AC}"/>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7" name="직사각형 16">
            <a:extLst>
              <a:ext uri="{FF2B5EF4-FFF2-40B4-BE49-F238E27FC236}">
                <a16:creationId xmlns:a16="http://schemas.microsoft.com/office/drawing/2014/main" id="{76DBF431-F77C-4C90-AB91-062FF0EF45B1}"/>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8" name="직사각형 17">
            <a:extLst>
              <a:ext uri="{FF2B5EF4-FFF2-40B4-BE49-F238E27FC236}">
                <a16:creationId xmlns:a16="http://schemas.microsoft.com/office/drawing/2014/main" id="{6A6D5FC4-94A4-4D26-A96B-A9488206FA86}"/>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9" name="TextBox 18">
            <a:extLst>
              <a:ext uri="{FF2B5EF4-FFF2-40B4-BE49-F238E27FC236}">
                <a16:creationId xmlns:a16="http://schemas.microsoft.com/office/drawing/2014/main" id="{ABB24DB8-6A60-47FB-BABA-21CF4E98842C}"/>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STEP 3 · CPI IMPACT</a:t>
            </a:r>
            <a:endParaRPr lang="ko-KR" altLang="en-US" sz="1200">
              <a:solidFill>
                <a:srgbClr val="8793A6"/>
              </a:solidFill>
              <a:latin typeface="맑은 고딕"/>
              <a:ea typeface="맑은 고딕"/>
            </a:endParaRPr>
          </a:p>
        </p:txBody>
      </p:sp>
      <p:sp>
        <p:nvSpPr>
          <p:cNvPr id="20" name="TextBox 19">
            <a:extLst>
              <a:ext uri="{FF2B5EF4-FFF2-40B4-BE49-F238E27FC236}">
                <a16:creationId xmlns:a16="http://schemas.microsoft.com/office/drawing/2014/main" id="{186EE3B7-B1ED-49B2-9A48-44F25058D46D}"/>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dirty="0">
                <a:solidFill>
                  <a:srgbClr val="0F1A2E"/>
                </a:solidFill>
                <a:latin typeface="맑은 고딕"/>
                <a:ea typeface="맑은 고딕"/>
              </a:rPr>
              <a:t>상한을 올리면 주유소 가격은 4주에 걸쳐 </a:t>
            </a:r>
            <a:r>
              <a:rPr lang="ko-KR" altLang="en-US" sz="2700" b="1" dirty="0" err="1">
                <a:solidFill>
                  <a:srgbClr val="0F1A2E"/>
                </a:solidFill>
                <a:latin typeface="맑은 고딕"/>
                <a:ea typeface="맑은 고딕"/>
              </a:rPr>
              <a:t>휘발유·경유</a:t>
            </a:r>
            <a:r>
              <a:rPr lang="ko-KR" altLang="en-US" sz="2700" b="1" dirty="0">
                <a:solidFill>
                  <a:srgbClr val="0F1A2E"/>
                </a:solidFill>
                <a:latin typeface="맑은 고딕"/>
                <a:ea typeface="맑은 고딕"/>
              </a:rPr>
              <a:t> 약 90%, 등유 39%만큼 오릅니다</a:t>
            </a:r>
          </a:p>
        </p:txBody>
      </p:sp>
      <p:sp>
        <p:nvSpPr>
          <p:cNvPr id="21" name="TextBox 20">
            <a:extLst>
              <a:ext uri="{FF2B5EF4-FFF2-40B4-BE49-F238E27FC236}">
                <a16:creationId xmlns:a16="http://schemas.microsoft.com/office/drawing/2014/main" id="{69DC0A07-54E6-4A9A-9761-39C2078C6F39}"/>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dirty="0">
                <a:solidFill>
                  <a:srgbClr val="8A95A8"/>
                </a:solidFill>
                <a:latin typeface="맑은 고딕"/>
                <a:ea typeface="맑은 고딕"/>
              </a:rPr>
              <a:t>실제 두 번의 조정(2차 +210원, 7차 −150원) 뒤 주유소 가격 변화를 재서 반영률로 씁니다.</a:t>
            </a:r>
          </a:p>
        </p:txBody>
      </p:sp>
      <p:sp>
        <p:nvSpPr>
          <p:cNvPr id="31" name="TextBox 30">
            <a:extLst>
              <a:ext uri="{FF2B5EF4-FFF2-40B4-BE49-F238E27FC236}">
                <a16:creationId xmlns:a16="http://schemas.microsoft.com/office/drawing/2014/main" id="{49B7AD2A-6745-4147-A5E6-CC1612173B32}"/>
              </a:ext>
            </a:extLst>
          </p:cNvPr>
          <p:cNvSpPr txBox="1"/>
          <p:nvPr/>
        </p:nvSpPr>
        <p:spPr>
          <a:xfrm>
            <a:off x="1066800" y="8864600"/>
            <a:ext cx="14224000" cy="228600"/>
          </a:xfrm>
          <a:prstGeom prst="rect">
            <a:avLst/>
          </a:prstGeom>
          <a:noFill/>
        </p:spPr>
        <p:txBody>
          <a:bodyPr vertOverflow="overflow" vert="horz" wrap="square" rtlCol="0" anchor="t">
            <a:normAutofit lnSpcReduction="10000"/>
          </a:bodyPr>
          <a:lstStyle/>
          <a:p>
            <a:pPr algn="l"/>
            <a:r>
              <a:rPr lang="ko-KR" altLang="en-US" sz="1000">
                <a:solidFill>
                  <a:srgbClr val="98A2B3"/>
                </a:solidFill>
                <a:latin typeface="맑은 고딕"/>
                <a:ea typeface="맑은 고딕"/>
              </a:rPr>
              <a:t>분석 기준: 상한 조정 → 주유소 판매가 → 소비자물가 · 판매가는 오피넷 API 오늘 전국 평균가</a:t>
            </a:r>
          </a:p>
        </p:txBody>
      </p:sp>
      <p:sp>
        <p:nvSpPr>
          <p:cNvPr id="32" name="직사각형 31">
            <a:extLst>
              <a:ext uri="{FF2B5EF4-FFF2-40B4-BE49-F238E27FC236}">
                <a16:creationId xmlns:a16="http://schemas.microsoft.com/office/drawing/2014/main" id="{0B72C61F-1518-4C03-B4D1-5872DF680EEB}"/>
              </a:ext>
            </a:extLst>
          </p:cNvPr>
          <p:cNvSpPr/>
          <p:nvPr/>
        </p:nvSpPr>
        <p:spPr>
          <a:xfrm>
            <a:off x="1041400" y="3810000"/>
            <a:ext cx="5969000" cy="38735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3" name="TextBox 32">
            <a:extLst>
              <a:ext uri="{FF2B5EF4-FFF2-40B4-BE49-F238E27FC236}">
                <a16:creationId xmlns:a16="http://schemas.microsoft.com/office/drawing/2014/main" id="{29D3CE75-FADB-4A15-8091-B4DA3BDA0B1D}"/>
              </a:ext>
            </a:extLst>
          </p:cNvPr>
          <p:cNvSpPr txBox="1"/>
          <p:nvPr/>
        </p:nvSpPr>
        <p:spPr>
          <a:xfrm>
            <a:off x="1473200" y="4216400"/>
            <a:ext cx="3302000" cy="304800"/>
          </a:xfrm>
          <a:prstGeom prst="rect">
            <a:avLst/>
          </a:prstGeom>
          <a:noFill/>
        </p:spPr>
        <p:txBody>
          <a:bodyPr vertOverflow="overflow" vert="horz" wrap="square" rtlCol="0" anchor="t">
            <a:normAutofit/>
          </a:bodyPr>
          <a:lstStyle/>
          <a:p>
            <a:pPr algn="l"/>
            <a:r>
              <a:rPr lang="en-US" altLang="ko-KR" sz="1200" b="1">
                <a:solidFill>
                  <a:srgbClr val="35C6E8"/>
                </a:solidFill>
                <a:latin typeface="맑은 고딕"/>
                <a:ea typeface="맑은 고딕"/>
              </a:rPr>
              <a:t>CPI CONTRIBUTION</a:t>
            </a:r>
            <a:endParaRPr lang="ko-KR" altLang="en-US" sz="1200" b="1">
              <a:solidFill>
                <a:srgbClr val="35C6E8"/>
              </a:solidFill>
              <a:latin typeface="맑은 고딕"/>
              <a:ea typeface="맑은 고딕"/>
            </a:endParaRPr>
          </a:p>
        </p:txBody>
      </p:sp>
      <p:sp>
        <p:nvSpPr>
          <p:cNvPr id="34" name="TextBox 33">
            <a:extLst>
              <a:ext uri="{FF2B5EF4-FFF2-40B4-BE49-F238E27FC236}">
                <a16:creationId xmlns:a16="http://schemas.microsoft.com/office/drawing/2014/main" id="{F9F2AF96-BBF0-48F0-9386-3239EC0608C2}"/>
              </a:ext>
            </a:extLst>
          </p:cNvPr>
          <p:cNvSpPr txBox="1"/>
          <p:nvPr/>
        </p:nvSpPr>
        <p:spPr>
          <a:xfrm>
            <a:off x="1473200" y="4775200"/>
            <a:ext cx="3556000" cy="482600"/>
          </a:xfrm>
          <a:prstGeom prst="rect">
            <a:avLst/>
          </a:prstGeom>
          <a:noFill/>
        </p:spPr>
        <p:txBody>
          <a:bodyPr vertOverflow="overflow" vert="horz" wrap="square" rtlCol="0" anchor="t">
            <a:normAutofit/>
          </a:bodyPr>
          <a:lstStyle/>
          <a:p>
            <a:pPr algn="l"/>
            <a:r>
              <a:rPr lang="ko-KR" altLang="en-US" sz="2300" b="1">
                <a:solidFill>
                  <a:srgbClr val="FFFFFF"/>
                </a:solidFill>
                <a:latin typeface="맑은 고딕"/>
                <a:ea typeface="맑은 고딕"/>
              </a:rPr>
              <a:t>물가 기여도 (%p)</a:t>
            </a:r>
          </a:p>
        </p:txBody>
      </p:sp>
      <p:sp>
        <p:nvSpPr>
          <p:cNvPr id="35" name="TextBox 34">
            <a:extLst>
              <a:ext uri="{FF2B5EF4-FFF2-40B4-BE49-F238E27FC236}">
                <a16:creationId xmlns:a16="http://schemas.microsoft.com/office/drawing/2014/main" id="{440EEA88-49CE-4BE5-AA30-F7925C8971BC}"/>
              </a:ext>
            </a:extLst>
          </p:cNvPr>
          <p:cNvSpPr txBox="1"/>
          <p:nvPr/>
        </p:nvSpPr>
        <p:spPr>
          <a:xfrm>
            <a:off x="1473200" y="5461000"/>
            <a:ext cx="4826000" cy="685800"/>
          </a:xfrm>
          <a:prstGeom prst="rect">
            <a:avLst/>
          </a:prstGeom>
          <a:noFill/>
        </p:spPr>
        <p:txBody>
          <a:bodyPr vertOverflow="overflow" vert="horz" wrap="square" rtlCol="0" anchor="t">
            <a:normAutofit/>
          </a:bodyPr>
          <a:lstStyle/>
          <a:p>
            <a:pPr algn="l"/>
            <a:r>
              <a:rPr lang="en-US" altLang="ko-KR">
                <a:solidFill>
                  <a:srgbClr val="FFFFFF"/>
                </a:solidFill>
                <a:latin typeface="맑은 고딕"/>
                <a:ea typeface="맑은 고딕"/>
              </a:rPr>
              <a:t>= Σ 가중치 × 인상폭 × 반영률 ÷ 판매가</a:t>
            </a:r>
            <a:endParaRPr lang="ko-KR" altLang="en-US">
              <a:solidFill>
                <a:srgbClr val="FFFFFF"/>
              </a:solidFill>
              <a:latin typeface="맑은 고딕"/>
              <a:ea typeface="맑은 고딕"/>
            </a:endParaRPr>
          </a:p>
        </p:txBody>
      </p:sp>
      <p:sp>
        <p:nvSpPr>
          <p:cNvPr id="36" name="TextBox 35">
            <a:extLst>
              <a:ext uri="{FF2B5EF4-FFF2-40B4-BE49-F238E27FC236}">
                <a16:creationId xmlns:a16="http://schemas.microsoft.com/office/drawing/2014/main" id="{DB93967B-241C-47C4-A4F5-F78B95A33C6B}"/>
              </a:ext>
            </a:extLst>
          </p:cNvPr>
          <p:cNvSpPr txBox="1"/>
          <p:nvPr/>
        </p:nvSpPr>
        <p:spPr>
          <a:xfrm>
            <a:off x="1473200" y="6426200"/>
            <a:ext cx="4826000" cy="787400"/>
          </a:xfrm>
          <a:prstGeom prst="rect">
            <a:avLst/>
          </a:prstGeom>
          <a:noFill/>
        </p:spPr>
        <p:txBody>
          <a:bodyPr vertOverflow="overflow" vert="horz" wrap="square" rtlCol="0" anchor="t">
            <a:normAutofit/>
          </a:bodyPr>
          <a:lstStyle/>
          <a:p>
            <a:pPr algn="l"/>
            <a:r>
              <a:rPr lang="en-US" altLang="ko-KR" sz="1400">
                <a:solidFill>
                  <a:srgbClr val="D3D9E4"/>
                </a:solidFill>
                <a:latin typeface="맑은 고딕"/>
                <a:ea typeface="맑은 고딕"/>
              </a:rPr>
              <a:t>가중치  소비자물가 품목 가중치 (1000 기준)</a:t>
            </a:r>
            <a:endParaRPr lang="ko-KR" altLang="en-US" sz="1400">
              <a:solidFill>
                <a:srgbClr val="D3D9E4"/>
              </a:solidFill>
              <a:latin typeface="맑은 고딕"/>
              <a:ea typeface="맑은 고딕"/>
            </a:endParaRPr>
          </a:p>
          <a:p>
            <a:pPr algn="l"/>
            <a:r>
              <a:rPr lang="en-US" altLang="ko-KR" sz="1400">
                <a:solidFill>
                  <a:srgbClr val="D3D9E4"/>
                </a:solidFill>
                <a:latin typeface="맑은 고딕"/>
                <a:ea typeface="맑은 고딕"/>
              </a:rPr>
              <a:t>인상폭  실제로 가격을 올리는 상한 인상분</a:t>
            </a:r>
            <a:endParaRPr lang="ko-KR" altLang="en-US" sz="1400">
              <a:solidFill>
                <a:srgbClr val="D3D9E4"/>
              </a:solidFill>
              <a:latin typeface="맑은 고딕"/>
              <a:ea typeface="맑은 고딕"/>
            </a:endParaRPr>
          </a:p>
        </p:txBody>
      </p:sp>
      <p:sp>
        <p:nvSpPr>
          <p:cNvPr id="37" name="직사각형 36">
            <a:extLst>
              <a:ext uri="{FF2B5EF4-FFF2-40B4-BE49-F238E27FC236}">
                <a16:creationId xmlns:a16="http://schemas.microsoft.com/office/drawing/2014/main" id="{6B558070-F60F-4F77-9D08-D4452B9E66DC}"/>
              </a:ext>
            </a:extLst>
          </p:cNvPr>
          <p:cNvSpPr/>
          <p:nvPr/>
        </p:nvSpPr>
        <p:spPr>
          <a:xfrm>
            <a:off x="7429500" y="3810000"/>
            <a:ext cx="44450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8" name="직사각형 37">
            <a:extLst>
              <a:ext uri="{FF2B5EF4-FFF2-40B4-BE49-F238E27FC236}">
                <a16:creationId xmlns:a16="http://schemas.microsoft.com/office/drawing/2014/main" id="{96733A83-7DD1-4403-B079-410C9510936A}"/>
              </a:ext>
            </a:extLst>
          </p:cNvPr>
          <p:cNvSpPr/>
          <p:nvPr/>
        </p:nvSpPr>
        <p:spPr>
          <a:xfrm>
            <a:off x="7429500" y="3810000"/>
            <a:ext cx="152400" cy="1803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9" name="TextBox 38">
            <a:extLst>
              <a:ext uri="{FF2B5EF4-FFF2-40B4-BE49-F238E27FC236}">
                <a16:creationId xmlns:a16="http://schemas.microsoft.com/office/drawing/2014/main" id="{330006E0-6FE9-4E22-AB4C-A70A1752A278}"/>
              </a:ext>
            </a:extLst>
          </p:cNvPr>
          <p:cNvSpPr txBox="1"/>
          <p:nvPr/>
        </p:nvSpPr>
        <p:spPr>
          <a:xfrm>
            <a:off x="7848600" y="4140200"/>
            <a:ext cx="3175000" cy="355600"/>
          </a:xfrm>
          <a:prstGeom prst="rect">
            <a:avLst/>
          </a:prstGeom>
          <a:noFill/>
        </p:spPr>
        <p:txBody>
          <a:bodyPr vertOverflow="overflow" vert="horz" wrap="square" rtlCol="0" anchor="t">
            <a:normAutofit/>
          </a:bodyPr>
          <a:lstStyle/>
          <a:p>
            <a:pPr algn="l"/>
            <a:r>
              <a:rPr lang="en-US" altLang="ko-KR" sz="1600" b="1">
                <a:solidFill>
                  <a:srgbClr val="0F1A2E"/>
                </a:solidFill>
                <a:latin typeface="맑은 고딕"/>
                <a:ea typeface="맑은 고딕"/>
              </a:rPr>
              <a:t>01  반영률</a:t>
            </a:r>
          </a:p>
        </p:txBody>
      </p:sp>
      <p:sp>
        <p:nvSpPr>
          <p:cNvPr id="40" name="TextBox 39">
            <a:extLst>
              <a:ext uri="{FF2B5EF4-FFF2-40B4-BE49-F238E27FC236}">
                <a16:creationId xmlns:a16="http://schemas.microsoft.com/office/drawing/2014/main" id="{98393978-8F78-4DC3-9EAB-A9B6330C2158}"/>
              </a:ext>
            </a:extLst>
          </p:cNvPr>
          <p:cNvSpPr txBox="1"/>
          <p:nvPr/>
        </p:nvSpPr>
        <p:spPr>
          <a:xfrm>
            <a:off x="7848600" y="4673600"/>
            <a:ext cx="3429000" cy="6604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4주 뒤: 휘발유 90 · 경유 91 · 등유 39%</a:t>
            </a:r>
          </a:p>
          <a:p>
            <a:pPr algn="l"/>
            <a:r>
              <a:rPr lang="ko-KR" altLang="en-US" sz="1300">
                <a:solidFill>
                  <a:srgbClr val="7E899B"/>
                </a:solidFill>
                <a:latin typeface="맑은 고딕"/>
                <a:ea typeface="맑은 고딕"/>
              </a:rPr>
              <a:t>한 달 평균: 79 · 80 · 32%</a:t>
            </a:r>
          </a:p>
        </p:txBody>
      </p:sp>
      <p:sp>
        <p:nvSpPr>
          <p:cNvPr id="41" name="직사각형 40">
            <a:extLst>
              <a:ext uri="{FF2B5EF4-FFF2-40B4-BE49-F238E27FC236}">
                <a16:creationId xmlns:a16="http://schemas.microsoft.com/office/drawing/2014/main" id="{3308AF8B-2A9C-4213-9C55-91693932F696}"/>
              </a:ext>
            </a:extLst>
          </p:cNvPr>
          <p:cNvSpPr/>
          <p:nvPr/>
        </p:nvSpPr>
        <p:spPr>
          <a:xfrm>
            <a:off x="12255500" y="3810000"/>
            <a:ext cx="44450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2" name="직사각형 41">
            <a:extLst>
              <a:ext uri="{FF2B5EF4-FFF2-40B4-BE49-F238E27FC236}">
                <a16:creationId xmlns:a16="http://schemas.microsoft.com/office/drawing/2014/main" id="{7279DBB4-C058-4E95-B11F-8E994977554E}"/>
              </a:ext>
            </a:extLst>
          </p:cNvPr>
          <p:cNvSpPr/>
          <p:nvPr/>
        </p:nvSpPr>
        <p:spPr>
          <a:xfrm>
            <a:off x="12255500" y="3810000"/>
            <a:ext cx="152400" cy="18034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3" name="TextBox 42">
            <a:extLst>
              <a:ext uri="{FF2B5EF4-FFF2-40B4-BE49-F238E27FC236}">
                <a16:creationId xmlns:a16="http://schemas.microsoft.com/office/drawing/2014/main" id="{1C660D78-3B8E-4E59-9A92-E3ACF63B6B52}"/>
              </a:ext>
            </a:extLst>
          </p:cNvPr>
          <p:cNvSpPr txBox="1"/>
          <p:nvPr/>
        </p:nvSpPr>
        <p:spPr>
          <a:xfrm>
            <a:off x="12674600" y="4140200"/>
            <a:ext cx="3175000" cy="355600"/>
          </a:xfrm>
          <a:prstGeom prst="rect">
            <a:avLst/>
          </a:prstGeom>
          <a:noFill/>
        </p:spPr>
        <p:txBody>
          <a:bodyPr vertOverflow="overflow" vert="horz" wrap="square" rtlCol="0" anchor="t">
            <a:normAutofit/>
          </a:bodyPr>
          <a:lstStyle/>
          <a:p>
            <a:pPr algn="l"/>
            <a:r>
              <a:rPr lang="en-US" altLang="ko-KR" sz="1600" b="1">
                <a:solidFill>
                  <a:srgbClr val="0F1A2E"/>
                </a:solidFill>
                <a:latin typeface="맑은 고딕"/>
                <a:ea typeface="맑은 고딕"/>
              </a:rPr>
              <a:t>02  실효 인상폭</a:t>
            </a:r>
          </a:p>
        </p:txBody>
      </p:sp>
      <p:sp>
        <p:nvSpPr>
          <p:cNvPr id="44" name="TextBox 43">
            <a:extLst>
              <a:ext uri="{FF2B5EF4-FFF2-40B4-BE49-F238E27FC236}">
                <a16:creationId xmlns:a16="http://schemas.microsoft.com/office/drawing/2014/main" id="{9243A6BB-1179-4E47-B563-4926ADD4CF87}"/>
              </a:ext>
            </a:extLst>
          </p:cNvPr>
          <p:cNvSpPr txBox="1"/>
          <p:nvPr/>
        </p:nvSpPr>
        <p:spPr>
          <a:xfrm>
            <a:off x="12674600" y="4673600"/>
            <a:ext cx="3429000" cy="6604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시장 가격보다 높게 올린 부분은</a:t>
            </a:r>
          </a:p>
          <a:p>
            <a:pPr algn="l"/>
            <a:r>
              <a:rPr lang="ko-KR" altLang="en-US" sz="1300">
                <a:solidFill>
                  <a:srgbClr val="7E899B"/>
                </a:solidFill>
                <a:latin typeface="맑은 고딕"/>
                <a:ea typeface="맑은 고딕"/>
              </a:rPr>
              <a:t>가격을 올리지 않으므로 빼고 계산</a:t>
            </a:r>
          </a:p>
        </p:txBody>
      </p:sp>
      <p:sp>
        <p:nvSpPr>
          <p:cNvPr id="45" name="직사각형 44">
            <a:extLst>
              <a:ext uri="{FF2B5EF4-FFF2-40B4-BE49-F238E27FC236}">
                <a16:creationId xmlns:a16="http://schemas.microsoft.com/office/drawing/2014/main" id="{4C3DFA09-E540-43EF-9D3E-C30108084CEB}"/>
              </a:ext>
            </a:extLst>
          </p:cNvPr>
          <p:cNvSpPr/>
          <p:nvPr/>
        </p:nvSpPr>
        <p:spPr>
          <a:xfrm>
            <a:off x="7429500" y="5969000"/>
            <a:ext cx="44450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직사각형 45">
            <a:extLst>
              <a:ext uri="{FF2B5EF4-FFF2-40B4-BE49-F238E27FC236}">
                <a16:creationId xmlns:a16="http://schemas.microsoft.com/office/drawing/2014/main" id="{0D80FE0A-FA13-4D73-924E-E0F57FFBBAD8}"/>
              </a:ext>
            </a:extLst>
          </p:cNvPr>
          <p:cNvSpPr/>
          <p:nvPr/>
        </p:nvSpPr>
        <p:spPr>
          <a:xfrm>
            <a:off x="7429500" y="5969000"/>
            <a:ext cx="152400" cy="1803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7" name="TextBox 46">
            <a:extLst>
              <a:ext uri="{FF2B5EF4-FFF2-40B4-BE49-F238E27FC236}">
                <a16:creationId xmlns:a16="http://schemas.microsoft.com/office/drawing/2014/main" id="{162E5B15-A1AE-434B-BE29-2C2DBD85E293}"/>
              </a:ext>
            </a:extLst>
          </p:cNvPr>
          <p:cNvSpPr txBox="1"/>
          <p:nvPr/>
        </p:nvSpPr>
        <p:spPr>
          <a:xfrm>
            <a:off x="7848600" y="6299200"/>
            <a:ext cx="3175000" cy="355600"/>
          </a:xfrm>
          <a:prstGeom prst="rect">
            <a:avLst/>
          </a:prstGeom>
          <a:noFill/>
        </p:spPr>
        <p:txBody>
          <a:bodyPr vertOverflow="overflow" vert="horz" wrap="square" rtlCol="0" anchor="t">
            <a:normAutofit/>
          </a:bodyPr>
          <a:lstStyle/>
          <a:p>
            <a:pPr algn="l"/>
            <a:r>
              <a:rPr lang="en-US" altLang="ko-KR" sz="1600" b="1">
                <a:solidFill>
                  <a:srgbClr val="0F1A2E"/>
                </a:solidFill>
                <a:latin typeface="맑은 고딕"/>
                <a:ea typeface="맑은 고딕"/>
              </a:rPr>
              <a:t>03  물가 가중치</a:t>
            </a:r>
          </a:p>
        </p:txBody>
      </p:sp>
      <p:sp>
        <p:nvSpPr>
          <p:cNvPr id="48" name="TextBox 47">
            <a:extLst>
              <a:ext uri="{FF2B5EF4-FFF2-40B4-BE49-F238E27FC236}">
                <a16:creationId xmlns:a16="http://schemas.microsoft.com/office/drawing/2014/main" id="{A43BEE68-A39C-495E-8504-BDC52F4521E5}"/>
              </a:ext>
            </a:extLst>
          </p:cNvPr>
          <p:cNvSpPr txBox="1"/>
          <p:nvPr/>
        </p:nvSpPr>
        <p:spPr>
          <a:xfrm>
            <a:off x="7848600" y="6832600"/>
            <a:ext cx="3429000" cy="6604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휘발유 24.1 · 경유 16.3 · 등유 2.4</a:t>
            </a:r>
          </a:p>
          <a:p>
            <a:pPr algn="l"/>
            <a:r>
              <a:rPr lang="ko-KR" altLang="en-US" sz="1300">
                <a:solidFill>
                  <a:srgbClr val="7E899B"/>
                </a:solidFill>
                <a:latin typeface="맑은 고딕"/>
                <a:ea typeface="맑은 고딕"/>
              </a:rPr>
              <a:t>(2020년 기준, 1000 중)</a:t>
            </a:r>
          </a:p>
        </p:txBody>
      </p:sp>
      <p:sp>
        <p:nvSpPr>
          <p:cNvPr id="49" name="직사각형 48">
            <a:extLst>
              <a:ext uri="{FF2B5EF4-FFF2-40B4-BE49-F238E27FC236}">
                <a16:creationId xmlns:a16="http://schemas.microsoft.com/office/drawing/2014/main" id="{B92AD96E-9081-4AB5-8DA3-041A91A72FB3}"/>
              </a:ext>
            </a:extLst>
          </p:cNvPr>
          <p:cNvSpPr/>
          <p:nvPr/>
        </p:nvSpPr>
        <p:spPr>
          <a:xfrm>
            <a:off x="12255500" y="5969000"/>
            <a:ext cx="4445000" cy="1803400"/>
          </a:xfrm>
          <a:prstGeom prst="rect">
            <a:avLst/>
          </a:prstGeom>
          <a:solidFill>
            <a:srgbClr val="FFFFFF"/>
          </a:solidFill>
          <a:ln w="25400" cap="flat" cmpd="sng" algn="ctr">
            <a:solidFill>
              <a:srgbClr val="DDE3E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0" name="직사각형 49">
            <a:extLst>
              <a:ext uri="{FF2B5EF4-FFF2-40B4-BE49-F238E27FC236}">
                <a16:creationId xmlns:a16="http://schemas.microsoft.com/office/drawing/2014/main" id="{C33FBCC4-4B45-46F4-94D1-2BCFAE39EBB9}"/>
              </a:ext>
            </a:extLst>
          </p:cNvPr>
          <p:cNvSpPr/>
          <p:nvPr/>
        </p:nvSpPr>
        <p:spPr>
          <a:xfrm>
            <a:off x="12255500" y="5969000"/>
            <a:ext cx="152400" cy="18034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1" name="TextBox 50">
            <a:extLst>
              <a:ext uri="{FF2B5EF4-FFF2-40B4-BE49-F238E27FC236}">
                <a16:creationId xmlns:a16="http://schemas.microsoft.com/office/drawing/2014/main" id="{1C50D202-FF32-44FD-8554-5936D5B75C41}"/>
              </a:ext>
            </a:extLst>
          </p:cNvPr>
          <p:cNvSpPr txBox="1"/>
          <p:nvPr/>
        </p:nvSpPr>
        <p:spPr>
          <a:xfrm>
            <a:off x="12674600" y="6299200"/>
            <a:ext cx="3175000" cy="355600"/>
          </a:xfrm>
          <a:prstGeom prst="rect">
            <a:avLst/>
          </a:prstGeom>
          <a:noFill/>
        </p:spPr>
        <p:txBody>
          <a:bodyPr vertOverflow="overflow" vert="horz" wrap="square" rtlCol="0" anchor="t">
            <a:normAutofit/>
          </a:bodyPr>
          <a:lstStyle/>
          <a:p>
            <a:pPr algn="l"/>
            <a:r>
              <a:rPr lang="en-US" altLang="ko-KR" sz="1600" b="1">
                <a:solidFill>
                  <a:srgbClr val="0F1A2E"/>
                </a:solidFill>
                <a:latin typeface="맑은 고딕"/>
                <a:ea typeface="맑은 고딕"/>
              </a:rPr>
              <a:t>04  검증</a:t>
            </a:r>
          </a:p>
        </p:txBody>
      </p:sp>
      <p:sp>
        <p:nvSpPr>
          <p:cNvPr id="52" name="TextBox 51">
            <a:extLst>
              <a:ext uri="{FF2B5EF4-FFF2-40B4-BE49-F238E27FC236}">
                <a16:creationId xmlns:a16="http://schemas.microsoft.com/office/drawing/2014/main" id="{475785BF-FE6F-4B48-BE69-E891EFF7717D}"/>
              </a:ext>
            </a:extLst>
          </p:cNvPr>
          <p:cNvSpPr txBox="1"/>
          <p:nvPr/>
        </p:nvSpPr>
        <p:spPr>
          <a:xfrm>
            <a:off x="12674600" y="6832600"/>
            <a:ext cx="3429000" cy="6604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3~8월 물가를 0.58%p 낮춤</a:t>
            </a:r>
          </a:p>
          <a:p>
            <a:pPr algn="l"/>
            <a:r>
              <a:rPr lang="ko-KR" altLang="en-US" sz="1300">
                <a:solidFill>
                  <a:srgbClr val="7E899B"/>
                </a:solidFill>
                <a:latin typeface="맑은 고딕"/>
                <a:ea typeface="맑은 고딕"/>
              </a:rPr>
              <a:t>정부 설명 0.6%p와 일치</a:t>
            </a:r>
          </a:p>
        </p:txBody>
      </p:sp>
      <p:sp>
        <p:nvSpPr>
          <p:cNvPr id="53" name="TextBox 52">
            <a:extLst>
              <a:ext uri="{FF2B5EF4-FFF2-40B4-BE49-F238E27FC236}">
                <a16:creationId xmlns:a16="http://schemas.microsoft.com/office/drawing/2014/main" id="{2F11D862-A18B-47A2-A441-082525060AA2}"/>
              </a:ext>
            </a:extLst>
          </p:cNvPr>
          <p:cNvSpPr txBox="1"/>
          <p:nvPr/>
        </p:nvSpPr>
        <p:spPr>
          <a:xfrm>
            <a:off x="1066800" y="8382000"/>
            <a:ext cx="15113000" cy="304800"/>
          </a:xfrm>
          <a:prstGeom prst="rect">
            <a:avLst/>
          </a:prstGeom>
          <a:noFill/>
        </p:spPr>
        <p:txBody>
          <a:bodyPr vertOverflow="overflow" vert="horz" wrap="square" rtlCol="0" anchor="t">
            <a:normAutofit/>
          </a:bodyPr>
          <a:lstStyle/>
          <a:p>
            <a:pPr algn="l"/>
            <a:r>
              <a:rPr lang="ko-KR" altLang="en-US" sz="1200" b="1">
                <a:solidFill>
                  <a:srgbClr val="4B73FF"/>
                </a:solidFill>
                <a:latin typeface="맑은 고딕"/>
                <a:ea typeface="맑은 고딕"/>
              </a:rPr>
              <a:t>반영률 예: 2차 +210원 인상 4주 뒤 휘발유 판매가 +187원 → 187 ÷ 210 = 89%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CEF9844C-7A05-47D1-822C-5F5101A5B534}"/>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4" name="직사각형 43">
            <a:extLst>
              <a:ext uri="{FF2B5EF4-FFF2-40B4-BE49-F238E27FC236}">
                <a16:creationId xmlns:a16="http://schemas.microsoft.com/office/drawing/2014/main" id="{4F45F64D-C46C-429C-B0D2-F932881B9EFF}"/>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직사각형 44">
            <a:extLst>
              <a:ext uri="{FF2B5EF4-FFF2-40B4-BE49-F238E27FC236}">
                <a16:creationId xmlns:a16="http://schemas.microsoft.com/office/drawing/2014/main" id="{BC859B2C-8415-466C-94D8-262047626BE8}"/>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TextBox 45">
            <a:extLst>
              <a:ext uri="{FF2B5EF4-FFF2-40B4-BE49-F238E27FC236}">
                <a16:creationId xmlns:a16="http://schemas.microsoft.com/office/drawing/2014/main" id="{9D148C9A-D29E-4547-9EE2-44ED48D26D7A}"/>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STEP 3 · CPI IMPACT</a:t>
            </a:r>
            <a:endParaRPr lang="ko-KR" altLang="en-US" sz="1200">
              <a:solidFill>
                <a:srgbClr val="8793A6"/>
              </a:solidFill>
              <a:latin typeface="맑은 고딕"/>
              <a:ea typeface="맑은 고딕"/>
            </a:endParaRPr>
          </a:p>
        </p:txBody>
      </p:sp>
      <p:sp>
        <p:nvSpPr>
          <p:cNvPr id="47" name="TextBox 46">
            <a:extLst>
              <a:ext uri="{FF2B5EF4-FFF2-40B4-BE49-F238E27FC236}">
                <a16:creationId xmlns:a16="http://schemas.microsoft.com/office/drawing/2014/main" id="{782B5AC6-2072-49CB-9AFE-CA9A441ABC2B}"/>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같은 100원을 올려도 휘발유가 물가를 가장 많이 올립니다</a:t>
            </a:r>
          </a:p>
        </p:txBody>
      </p:sp>
      <p:sp>
        <p:nvSpPr>
          <p:cNvPr id="48" name="TextBox 47">
            <a:extLst>
              <a:ext uri="{FF2B5EF4-FFF2-40B4-BE49-F238E27FC236}">
                <a16:creationId xmlns:a16="http://schemas.microsoft.com/office/drawing/2014/main" id="{69B4C59E-BBCF-4358-8140-55645C445FAA}"/>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가중치가 크고 판매가가 잘 따라 오르는 휘발유는 적게, 등유는 많이 올리는 것이 유리합니다.</a:t>
            </a:r>
          </a:p>
        </p:txBody>
      </p:sp>
      <p:sp>
        <p:nvSpPr>
          <p:cNvPr id="49" name="직사각형 48">
            <a:extLst>
              <a:ext uri="{FF2B5EF4-FFF2-40B4-BE49-F238E27FC236}">
                <a16:creationId xmlns:a16="http://schemas.microsoft.com/office/drawing/2014/main" id="{BBEAF440-FF1A-4B24-AB62-3A31BC4ECB96}"/>
              </a:ext>
            </a:extLst>
          </p:cNvPr>
          <p:cNvSpPr/>
          <p:nvPr/>
        </p:nvSpPr>
        <p:spPr>
          <a:xfrm>
            <a:off x="1041400" y="3784600"/>
            <a:ext cx="11049000" cy="42926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0" name="TextBox 49">
            <a:extLst>
              <a:ext uri="{FF2B5EF4-FFF2-40B4-BE49-F238E27FC236}">
                <a16:creationId xmlns:a16="http://schemas.microsoft.com/office/drawing/2014/main" id="{091A2F7D-9993-4BB4-B0E5-5F7892C5AB3D}"/>
              </a:ext>
            </a:extLst>
          </p:cNvPr>
          <p:cNvSpPr txBox="1"/>
          <p:nvPr/>
        </p:nvSpPr>
        <p:spPr>
          <a:xfrm>
            <a:off x="1422400" y="4064000"/>
            <a:ext cx="6350000" cy="3810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상한 100원 인상 시 소비자물가 상승</a:t>
            </a:r>
          </a:p>
        </p:txBody>
      </p:sp>
      <p:sp>
        <p:nvSpPr>
          <p:cNvPr id="51" name="TextBox 50">
            <a:extLst>
              <a:ext uri="{FF2B5EF4-FFF2-40B4-BE49-F238E27FC236}">
                <a16:creationId xmlns:a16="http://schemas.microsoft.com/office/drawing/2014/main" id="{CBE5BFB5-EF83-40A5-88E8-9DC3A15E40F4}"/>
              </a:ext>
            </a:extLst>
          </p:cNvPr>
          <p:cNvSpPr txBox="1"/>
          <p:nvPr/>
        </p:nvSpPr>
        <p:spPr>
          <a:xfrm>
            <a:off x="1422400" y="4470400"/>
            <a:ext cx="6350000" cy="279400"/>
          </a:xfrm>
          <a:prstGeom prst="rect">
            <a:avLst/>
          </a:prstGeom>
          <a:noFill/>
        </p:spPr>
        <p:txBody>
          <a:bodyPr vertOverflow="overflow" vert="horz" wrap="square" rtlCol="0" anchor="t">
            <a:normAutofit/>
          </a:bodyPr>
          <a:lstStyle/>
          <a:p>
            <a:pPr algn="l"/>
            <a:r>
              <a:rPr lang="ko-KR" altLang="en-US" sz="1100">
                <a:solidFill>
                  <a:srgbClr val="8A95A8"/>
                </a:solidFill>
                <a:latin typeface="맑은 고딕"/>
                <a:ea typeface="맑은 고딕"/>
              </a:rPr>
              <a:t>단위: %p · 한 달 평균 반영률 기준</a:t>
            </a:r>
          </a:p>
        </p:txBody>
      </p:sp>
      <p:sp>
        <p:nvSpPr>
          <p:cNvPr id="52" name="직사각형 51">
            <a:extLst>
              <a:ext uri="{FF2B5EF4-FFF2-40B4-BE49-F238E27FC236}">
                <a16:creationId xmlns:a16="http://schemas.microsoft.com/office/drawing/2014/main" id="{4FE0113E-12E0-46A5-8587-C75D8EE6EDD5}"/>
              </a:ext>
            </a:extLst>
          </p:cNvPr>
          <p:cNvSpPr/>
          <p:nvPr/>
        </p:nvSpPr>
        <p:spPr>
          <a:xfrm>
            <a:off x="12471400" y="3784600"/>
            <a:ext cx="4673600" cy="42926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3" name="TextBox 52">
            <a:extLst>
              <a:ext uri="{FF2B5EF4-FFF2-40B4-BE49-F238E27FC236}">
                <a16:creationId xmlns:a16="http://schemas.microsoft.com/office/drawing/2014/main" id="{768B544F-D2A0-4E2A-B7AA-8A886502EECA}"/>
              </a:ext>
            </a:extLst>
          </p:cNvPr>
          <p:cNvSpPr txBox="1"/>
          <p:nvPr/>
        </p:nvSpPr>
        <p:spPr>
          <a:xfrm>
            <a:off x="12903200" y="4165600"/>
            <a:ext cx="2159000" cy="304800"/>
          </a:xfrm>
          <a:prstGeom prst="rect">
            <a:avLst/>
          </a:prstGeom>
          <a:noFill/>
        </p:spPr>
        <p:txBody>
          <a:bodyPr vertOverflow="overflow" vert="horz" wrap="square" rtlCol="0" anchor="t">
            <a:normAutofit/>
          </a:bodyPr>
          <a:lstStyle/>
          <a:p>
            <a:pPr algn="l"/>
            <a:r>
              <a:rPr lang="en-US" altLang="ko-KR" sz="1200" b="1">
                <a:solidFill>
                  <a:srgbClr val="35C6E8"/>
                </a:solidFill>
                <a:latin typeface="맑은 고딕"/>
                <a:ea typeface="맑은 고딕"/>
              </a:rPr>
              <a:t>KEY READ</a:t>
            </a:r>
            <a:endParaRPr lang="ko-KR" altLang="en-US" sz="1200" b="1">
              <a:solidFill>
                <a:srgbClr val="35C6E8"/>
              </a:solidFill>
              <a:latin typeface="맑은 고딕"/>
              <a:ea typeface="맑은 고딕"/>
            </a:endParaRPr>
          </a:p>
        </p:txBody>
      </p:sp>
      <p:sp>
        <p:nvSpPr>
          <p:cNvPr id="54" name="TextBox 53">
            <a:extLst>
              <a:ext uri="{FF2B5EF4-FFF2-40B4-BE49-F238E27FC236}">
                <a16:creationId xmlns:a16="http://schemas.microsoft.com/office/drawing/2014/main" id="{0B10D69C-D225-4C82-A78B-D2AA6F48F43B}"/>
              </a:ext>
            </a:extLst>
          </p:cNvPr>
          <p:cNvSpPr txBox="1"/>
          <p:nvPr/>
        </p:nvSpPr>
        <p:spPr>
          <a:xfrm>
            <a:off x="12903200" y="47498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휘발유 vs 등유</a:t>
            </a:r>
          </a:p>
        </p:txBody>
      </p:sp>
      <p:sp>
        <p:nvSpPr>
          <p:cNvPr id="55" name="TextBox 54">
            <a:extLst>
              <a:ext uri="{FF2B5EF4-FFF2-40B4-BE49-F238E27FC236}">
                <a16:creationId xmlns:a16="http://schemas.microsoft.com/office/drawing/2014/main" id="{D8A5A3AD-07C6-473A-AA2A-E81F80C2C05F}"/>
              </a:ext>
            </a:extLst>
          </p:cNvPr>
          <p:cNvSpPr txBox="1"/>
          <p:nvPr/>
        </p:nvSpPr>
        <p:spPr>
          <a:xfrm>
            <a:off x="12903200" y="5207000"/>
            <a:ext cx="3302000" cy="9906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휘발유 0.103%p</a:t>
            </a:r>
          </a:p>
          <a:p>
            <a:pPr algn="l"/>
            <a:r>
              <a:rPr lang="ko-KR" altLang="en-US" sz="1500">
                <a:solidFill>
                  <a:srgbClr val="FFFFFF"/>
                </a:solidFill>
                <a:latin typeface="맑은 고딕"/>
                <a:ea typeface="맑은 고딕"/>
              </a:rPr>
              <a:t>등유 0.005%p</a:t>
            </a:r>
          </a:p>
          <a:p>
            <a:pPr algn="l"/>
            <a:r>
              <a:rPr lang="ko-KR" altLang="en-US" sz="1500">
                <a:solidFill>
                  <a:srgbClr val="FFFFFF"/>
                </a:solidFill>
                <a:latin typeface="맑은 고딕"/>
                <a:ea typeface="맑은 고딕"/>
              </a:rPr>
              <a:t>약 21배 차이</a:t>
            </a:r>
          </a:p>
        </p:txBody>
      </p:sp>
      <p:sp>
        <p:nvSpPr>
          <p:cNvPr id="56" name="TextBox 55">
            <a:extLst>
              <a:ext uri="{FF2B5EF4-FFF2-40B4-BE49-F238E27FC236}">
                <a16:creationId xmlns:a16="http://schemas.microsoft.com/office/drawing/2014/main" id="{CF4D7D32-DCD4-4197-ADAB-708F7B3E71BA}"/>
              </a:ext>
            </a:extLst>
          </p:cNvPr>
          <p:cNvSpPr txBox="1"/>
          <p:nvPr/>
        </p:nvSpPr>
        <p:spPr>
          <a:xfrm>
            <a:off x="12903200" y="64770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이유</a:t>
            </a:r>
          </a:p>
        </p:txBody>
      </p:sp>
      <p:sp>
        <p:nvSpPr>
          <p:cNvPr id="57" name="TextBox 56">
            <a:extLst>
              <a:ext uri="{FF2B5EF4-FFF2-40B4-BE49-F238E27FC236}">
                <a16:creationId xmlns:a16="http://schemas.microsoft.com/office/drawing/2014/main" id="{F050DC6E-F3A3-48A8-A0B0-16DA1350418B}"/>
              </a:ext>
            </a:extLst>
          </p:cNvPr>
          <p:cNvSpPr txBox="1"/>
          <p:nvPr/>
        </p:nvSpPr>
        <p:spPr>
          <a:xfrm>
            <a:off x="12903200" y="6934200"/>
            <a:ext cx="3302000" cy="7366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휘발유: 가중치 24.1, 반영 79%</a:t>
            </a:r>
          </a:p>
          <a:p>
            <a:pPr algn="l"/>
            <a:r>
              <a:rPr lang="ko-KR" altLang="en-US" sz="1500">
                <a:solidFill>
                  <a:srgbClr val="FFFFFF"/>
                </a:solidFill>
                <a:latin typeface="맑은 고딕"/>
                <a:ea typeface="맑은 고딕"/>
              </a:rPr>
              <a:t>등유: 가중치 2.4, 반영 32%</a:t>
            </a:r>
          </a:p>
        </p:txBody>
      </p:sp>
      <p:sp>
        <p:nvSpPr>
          <p:cNvPr id="58" name="TextBox 57">
            <a:extLst>
              <a:ext uri="{FF2B5EF4-FFF2-40B4-BE49-F238E27FC236}">
                <a16:creationId xmlns:a16="http://schemas.microsoft.com/office/drawing/2014/main" id="{FF7FB84B-F609-45B2-9195-8F8D03392930}"/>
              </a:ext>
            </a:extLst>
          </p:cNvPr>
          <p:cNvSpPr txBox="1"/>
          <p:nvPr/>
        </p:nvSpPr>
        <p:spPr>
          <a:xfrm>
            <a:off x="1066800" y="8864600"/>
            <a:ext cx="14224000" cy="228600"/>
          </a:xfrm>
          <a:prstGeom prst="rect">
            <a:avLst/>
          </a:prstGeom>
          <a:noFill/>
        </p:spPr>
        <p:txBody>
          <a:bodyPr vertOverflow="overflow" vert="horz" wrap="square" rtlCol="0" anchor="t">
            <a:normAutofit lnSpcReduction="10000"/>
          </a:bodyPr>
          <a:lstStyle/>
          <a:p>
            <a:pPr algn="l"/>
            <a:r>
              <a:rPr lang="ko-KR" altLang="en-US" sz="1000">
                <a:solidFill>
                  <a:srgbClr val="98A2B3"/>
                </a:solidFill>
                <a:latin typeface="맑은 고딕"/>
                <a:ea typeface="맑은 고딕"/>
              </a:rPr>
              <a:t>물가 가중치: 2020년 기준 소비자물가 품목 가중치 · 반영률: 2차·7차 실제 조정 뒤 판매가 변화</a:t>
            </a:r>
          </a:p>
        </p:txBody>
      </p:sp>
      <p:graphicFrame>
        <p:nvGraphicFramePr>
          <p:cNvPr id="59" name="Chart 58"/>
          <p:cNvGraphicFramePr>
            <a:graphicFrameLocks noGrp="1"/>
          </p:cNvGraphicFramePr>
          <p:nvPr/>
        </p:nvGraphicFramePr>
        <p:xfrm>
          <a:off x="1280160" y="4846320"/>
          <a:ext cx="10561320" cy="31089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33014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50725CF3-3B47-418F-8049-BEA3E02FDDCA}"/>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STEP 4 · DECISION</a:t>
            </a:r>
            <a:endParaRPr lang="ko-KR" altLang="en-US" sz="1200">
              <a:solidFill>
                <a:srgbClr val="8793A6"/>
              </a:solidFill>
              <a:latin typeface="맑은 고딕"/>
              <a:ea typeface="맑은 고딕"/>
            </a:endParaRPr>
          </a:p>
        </p:txBody>
      </p:sp>
      <p:sp>
        <p:nvSpPr>
          <p:cNvPr id="39" name="TextBox 38">
            <a:extLst>
              <a:ext uri="{FF2B5EF4-FFF2-40B4-BE49-F238E27FC236}">
                <a16:creationId xmlns:a16="http://schemas.microsoft.com/office/drawing/2014/main" id="{897FFE94-A85A-4D0B-812A-2CAC28D13A02}"/>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미래 유가 500가지와 조정안 216가지를 모두 계산해 11차 권고를 고릅니다</a:t>
            </a:r>
          </a:p>
        </p:txBody>
      </p:sp>
      <p:sp>
        <p:nvSpPr>
          <p:cNvPr id="40" name="TextBox 39">
            <a:extLst>
              <a:ext uri="{FF2B5EF4-FFF2-40B4-BE49-F238E27FC236}">
                <a16:creationId xmlns:a16="http://schemas.microsoft.com/office/drawing/2014/main" id="{F2C9D9C7-3AF5-43B8-A8DE-965D6977FA82}"/>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미래 유가는 모르므로 여러 경우를 만들어 평균으로 비교합니다. 실행 시간 약 15초.</a:t>
            </a:r>
          </a:p>
        </p:txBody>
      </p:sp>
      <p:sp>
        <p:nvSpPr>
          <p:cNvPr id="41" name="직사각형 40">
            <a:extLst>
              <a:ext uri="{FF2B5EF4-FFF2-40B4-BE49-F238E27FC236}">
                <a16:creationId xmlns:a16="http://schemas.microsoft.com/office/drawing/2014/main" id="{46585AA3-20BF-4BEE-A094-C4197D535EE9}"/>
              </a:ext>
            </a:extLst>
          </p:cNvPr>
          <p:cNvSpPr/>
          <p:nvPr/>
        </p:nvSpPr>
        <p:spPr>
          <a:xfrm>
            <a:off x="9144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2" name="직사각형 41">
            <a:extLst>
              <a:ext uri="{FF2B5EF4-FFF2-40B4-BE49-F238E27FC236}">
                <a16:creationId xmlns:a16="http://schemas.microsoft.com/office/drawing/2014/main" id="{8F6FF96F-CA37-498B-82EE-50311644797B}"/>
              </a:ext>
            </a:extLst>
          </p:cNvPr>
          <p:cNvSpPr/>
          <p:nvPr/>
        </p:nvSpPr>
        <p:spPr>
          <a:xfrm>
            <a:off x="914400" y="3835400"/>
            <a:ext cx="127000" cy="39370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3" name="TextBox 42">
            <a:extLst>
              <a:ext uri="{FF2B5EF4-FFF2-40B4-BE49-F238E27FC236}">
                <a16:creationId xmlns:a16="http://schemas.microsoft.com/office/drawing/2014/main" id="{523CB0D8-23EB-4021-9314-56BCE2D6802E}"/>
              </a:ext>
            </a:extLst>
          </p:cNvPr>
          <p:cNvSpPr txBox="1"/>
          <p:nvPr/>
        </p:nvSpPr>
        <p:spPr>
          <a:xfrm>
            <a:off x="1295400" y="4191000"/>
            <a:ext cx="584200" cy="330200"/>
          </a:xfrm>
          <a:prstGeom prst="rect">
            <a:avLst/>
          </a:prstGeom>
          <a:noFill/>
        </p:spPr>
        <p:txBody>
          <a:bodyPr vertOverflow="overflow" vert="horz" wrap="square" rtlCol="0" anchor="t">
            <a:normAutofit/>
          </a:bodyPr>
          <a:lstStyle/>
          <a:p>
            <a:pPr algn="l"/>
            <a:r>
              <a:rPr lang="en-US" altLang="ko-KR" sz="1400" b="1">
                <a:solidFill>
                  <a:srgbClr val="35C6E8"/>
                </a:solidFill>
                <a:latin typeface="맑은 고딕"/>
                <a:ea typeface="맑은 고딕"/>
              </a:rPr>
              <a:t>01</a:t>
            </a:r>
            <a:endParaRPr lang="ko-KR" altLang="en-US" sz="1400" b="1">
              <a:solidFill>
                <a:srgbClr val="35C6E8"/>
              </a:solidFill>
              <a:latin typeface="맑은 고딕"/>
              <a:ea typeface="맑은 고딕"/>
            </a:endParaRPr>
          </a:p>
        </p:txBody>
      </p:sp>
      <p:sp>
        <p:nvSpPr>
          <p:cNvPr id="44" name="TextBox 43">
            <a:extLst>
              <a:ext uri="{FF2B5EF4-FFF2-40B4-BE49-F238E27FC236}">
                <a16:creationId xmlns:a16="http://schemas.microsoft.com/office/drawing/2014/main" id="{E5086508-4077-4007-A1EA-CB30C999384B}"/>
              </a:ext>
            </a:extLst>
          </p:cNvPr>
          <p:cNvSpPr txBox="1"/>
          <p:nvPr/>
        </p:nvSpPr>
        <p:spPr>
          <a:xfrm>
            <a:off x="12954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현재 상태</a:t>
            </a:r>
          </a:p>
        </p:txBody>
      </p:sp>
      <p:sp>
        <p:nvSpPr>
          <p:cNvPr id="45" name="TextBox 44">
            <a:extLst>
              <a:ext uri="{FF2B5EF4-FFF2-40B4-BE49-F238E27FC236}">
                <a16:creationId xmlns:a16="http://schemas.microsoft.com/office/drawing/2014/main" id="{BEF62ADC-3ED0-4A63-A31B-DC6501227C55}"/>
              </a:ext>
            </a:extLst>
          </p:cNvPr>
          <p:cNvSpPr txBox="1"/>
          <p:nvPr/>
        </p:nvSpPr>
        <p:spPr>
          <a:xfrm>
            <a:off x="12954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10월 10일 국제가·환율로 계산한 리터당 지원금액</a:t>
            </a:r>
          </a:p>
          <a:p>
            <a:pPr algn="l"/>
            <a:endParaRPr lang="ko-KR" altLang="en-US" sz="1300">
              <a:solidFill>
                <a:srgbClr val="7E899B"/>
              </a:solidFill>
              <a:latin typeface="맑은 고딕"/>
              <a:ea typeface="맑은 고딕"/>
            </a:endParaRPr>
          </a:p>
          <a:p>
            <a:pPr algn="l"/>
            <a:r>
              <a:rPr lang="ko-KR" altLang="en-US" sz="1300">
                <a:solidFill>
                  <a:srgbClr val="7E899B"/>
                </a:solidFill>
                <a:latin typeface="맑은 고딕"/>
                <a:ea typeface="맑은 고딕"/>
              </a:rPr>
              <a:t>휘발유 373원 · 경유 412원 · 등유 418원</a:t>
            </a:r>
          </a:p>
        </p:txBody>
      </p:sp>
      <p:sp>
        <p:nvSpPr>
          <p:cNvPr id="46" name="직사각형 45">
            <a:extLst>
              <a:ext uri="{FF2B5EF4-FFF2-40B4-BE49-F238E27FC236}">
                <a16:creationId xmlns:a16="http://schemas.microsoft.com/office/drawing/2014/main" id="{25D172A9-E434-46F3-8989-9E85BE8A531A}"/>
              </a:ext>
            </a:extLst>
          </p:cNvPr>
          <p:cNvSpPr/>
          <p:nvPr/>
        </p:nvSpPr>
        <p:spPr>
          <a:xfrm>
            <a:off x="49022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7" name="직사각형 46">
            <a:extLst>
              <a:ext uri="{FF2B5EF4-FFF2-40B4-BE49-F238E27FC236}">
                <a16:creationId xmlns:a16="http://schemas.microsoft.com/office/drawing/2014/main" id="{4D12E434-2395-48F6-8D50-538EDC311041}"/>
              </a:ext>
            </a:extLst>
          </p:cNvPr>
          <p:cNvSpPr/>
          <p:nvPr/>
        </p:nvSpPr>
        <p:spPr>
          <a:xfrm>
            <a:off x="4902200" y="3835400"/>
            <a:ext cx="127000" cy="39370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8" name="TextBox 47">
            <a:extLst>
              <a:ext uri="{FF2B5EF4-FFF2-40B4-BE49-F238E27FC236}">
                <a16:creationId xmlns:a16="http://schemas.microsoft.com/office/drawing/2014/main" id="{F57F42DC-BFD6-42D7-AE14-7A1B29FFE088}"/>
              </a:ext>
            </a:extLst>
          </p:cNvPr>
          <p:cNvSpPr txBox="1"/>
          <p:nvPr/>
        </p:nvSpPr>
        <p:spPr>
          <a:xfrm>
            <a:off x="5283200" y="4191000"/>
            <a:ext cx="584200" cy="3302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02</a:t>
            </a:r>
            <a:endParaRPr lang="ko-KR" altLang="en-US" sz="1400" b="1">
              <a:solidFill>
                <a:srgbClr val="4B73FF"/>
              </a:solidFill>
              <a:latin typeface="맑은 고딕"/>
              <a:ea typeface="맑은 고딕"/>
            </a:endParaRPr>
          </a:p>
        </p:txBody>
      </p:sp>
      <p:sp>
        <p:nvSpPr>
          <p:cNvPr id="49" name="TextBox 48">
            <a:extLst>
              <a:ext uri="{FF2B5EF4-FFF2-40B4-BE49-F238E27FC236}">
                <a16:creationId xmlns:a16="http://schemas.microsoft.com/office/drawing/2014/main" id="{EE606241-B3EE-4A9B-9C48-D732F8DAC580}"/>
              </a:ext>
            </a:extLst>
          </p:cNvPr>
          <p:cNvSpPr txBox="1"/>
          <p:nvPr/>
        </p:nvSpPr>
        <p:spPr>
          <a:xfrm>
            <a:off x="52832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미래 유가 500가지</a:t>
            </a:r>
          </a:p>
        </p:txBody>
      </p:sp>
      <p:sp>
        <p:nvSpPr>
          <p:cNvPr id="50" name="TextBox 49">
            <a:extLst>
              <a:ext uri="{FF2B5EF4-FFF2-40B4-BE49-F238E27FC236}">
                <a16:creationId xmlns:a16="http://schemas.microsoft.com/office/drawing/2014/main" id="{30D3254E-125D-43A2-8A46-6A6373B787CE}"/>
              </a:ext>
            </a:extLst>
          </p:cNvPr>
          <p:cNvSpPr txBox="1"/>
          <p:nvPr/>
        </p:nvSpPr>
        <p:spPr>
          <a:xfrm>
            <a:off x="52832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과거 주간 유가·환율 변화를 4주씩 뽑아 이어 붙임</a:t>
            </a:r>
          </a:p>
          <a:p>
            <a:pPr algn="l"/>
            <a:endParaRPr lang="ko-KR" altLang="en-US" sz="1300">
              <a:solidFill>
                <a:srgbClr val="7E899B"/>
              </a:solidFill>
              <a:latin typeface="맑은 고딕"/>
              <a:ea typeface="맑은 고딕"/>
            </a:endParaRPr>
          </a:p>
          <a:p>
            <a:pPr algn="l"/>
            <a:r>
              <a:rPr lang="ko-KR" altLang="en-US" sz="1300">
                <a:solidFill>
                  <a:srgbClr val="7E899B"/>
                </a:solidFill>
                <a:latin typeface="맑은 고딕"/>
                <a:ea typeface="맑은 고딕"/>
              </a:rPr>
              <a:t>유가와 환율이 함께 움직이는 관계 유지</a:t>
            </a:r>
          </a:p>
        </p:txBody>
      </p:sp>
      <p:sp>
        <p:nvSpPr>
          <p:cNvPr id="51" name="직사각형 50">
            <a:extLst>
              <a:ext uri="{FF2B5EF4-FFF2-40B4-BE49-F238E27FC236}">
                <a16:creationId xmlns:a16="http://schemas.microsoft.com/office/drawing/2014/main" id="{AF8B4B78-FB69-4B16-9BED-C757B7EABAC8}"/>
              </a:ext>
            </a:extLst>
          </p:cNvPr>
          <p:cNvSpPr/>
          <p:nvPr/>
        </p:nvSpPr>
        <p:spPr>
          <a:xfrm>
            <a:off x="88900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2" name="직사각형 51">
            <a:extLst>
              <a:ext uri="{FF2B5EF4-FFF2-40B4-BE49-F238E27FC236}">
                <a16:creationId xmlns:a16="http://schemas.microsoft.com/office/drawing/2014/main" id="{14F9A805-C444-42DB-B9F7-8C21064DD86A}"/>
              </a:ext>
            </a:extLst>
          </p:cNvPr>
          <p:cNvSpPr/>
          <p:nvPr/>
        </p:nvSpPr>
        <p:spPr>
          <a:xfrm>
            <a:off x="8890000" y="3835400"/>
            <a:ext cx="127000" cy="3937000"/>
          </a:xfrm>
          <a:prstGeom prst="rect">
            <a:avLst/>
          </a:prstGeom>
          <a:solidFill>
            <a:srgbClr val="35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3" name="TextBox 52">
            <a:extLst>
              <a:ext uri="{FF2B5EF4-FFF2-40B4-BE49-F238E27FC236}">
                <a16:creationId xmlns:a16="http://schemas.microsoft.com/office/drawing/2014/main" id="{BDED3F1F-991A-4ABF-A340-9E8C253F79DE}"/>
              </a:ext>
            </a:extLst>
          </p:cNvPr>
          <p:cNvSpPr txBox="1"/>
          <p:nvPr/>
        </p:nvSpPr>
        <p:spPr>
          <a:xfrm>
            <a:off x="9271000" y="4191000"/>
            <a:ext cx="584200" cy="330200"/>
          </a:xfrm>
          <a:prstGeom prst="rect">
            <a:avLst/>
          </a:prstGeom>
          <a:noFill/>
        </p:spPr>
        <p:txBody>
          <a:bodyPr vertOverflow="overflow" vert="horz" wrap="square" rtlCol="0" anchor="t">
            <a:normAutofit/>
          </a:bodyPr>
          <a:lstStyle/>
          <a:p>
            <a:pPr algn="l"/>
            <a:r>
              <a:rPr lang="en-US" altLang="ko-KR" sz="1400" b="1">
                <a:solidFill>
                  <a:srgbClr val="35C6E8"/>
                </a:solidFill>
                <a:latin typeface="맑은 고딕"/>
                <a:ea typeface="맑은 고딕"/>
              </a:rPr>
              <a:t>03</a:t>
            </a:r>
            <a:endParaRPr lang="ko-KR" altLang="en-US" sz="1400" b="1">
              <a:solidFill>
                <a:srgbClr val="35C6E8"/>
              </a:solidFill>
              <a:latin typeface="맑은 고딕"/>
              <a:ea typeface="맑은 고딕"/>
            </a:endParaRPr>
          </a:p>
        </p:txBody>
      </p:sp>
      <p:sp>
        <p:nvSpPr>
          <p:cNvPr id="54" name="TextBox 53">
            <a:extLst>
              <a:ext uri="{FF2B5EF4-FFF2-40B4-BE49-F238E27FC236}">
                <a16:creationId xmlns:a16="http://schemas.microsoft.com/office/drawing/2014/main" id="{B2919377-C21C-42A1-A525-EB345FC276E2}"/>
              </a:ext>
            </a:extLst>
          </p:cNvPr>
          <p:cNvSpPr txBox="1"/>
          <p:nvPr/>
        </p:nvSpPr>
        <p:spPr>
          <a:xfrm>
            <a:off x="92710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조정안 216가지</a:t>
            </a:r>
          </a:p>
        </p:txBody>
      </p:sp>
      <p:sp>
        <p:nvSpPr>
          <p:cNvPr id="55" name="TextBox 54">
            <a:extLst>
              <a:ext uri="{FF2B5EF4-FFF2-40B4-BE49-F238E27FC236}">
                <a16:creationId xmlns:a16="http://schemas.microsoft.com/office/drawing/2014/main" id="{60084CE5-E76B-455C-AD20-1AD88280C556}"/>
              </a:ext>
            </a:extLst>
          </p:cNvPr>
          <p:cNvSpPr txBox="1"/>
          <p:nvPr/>
        </p:nvSpPr>
        <p:spPr>
          <a:xfrm>
            <a:off x="92710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유종마다 −60, 0, +30, +60, +90, +120원</a:t>
            </a:r>
          </a:p>
          <a:p>
            <a:pPr algn="l"/>
            <a:endParaRPr lang="ko-KR" altLang="en-US" sz="1300">
              <a:solidFill>
                <a:srgbClr val="7E899B"/>
              </a:solidFill>
              <a:latin typeface="맑은 고딕"/>
              <a:ea typeface="맑은 고딕"/>
            </a:endParaRPr>
          </a:p>
          <a:p>
            <a:pPr algn="l"/>
            <a:r>
              <a:rPr lang="ko-KR" altLang="en-US" sz="1300">
                <a:solidFill>
                  <a:srgbClr val="7E899B"/>
                </a:solidFill>
                <a:latin typeface="맑은 고딕"/>
                <a:ea typeface="맑은 고딕"/>
              </a:rPr>
              <a:t>6 × 6 × 6 = 216가지를 24주(6차수) 계산</a:t>
            </a:r>
          </a:p>
        </p:txBody>
      </p:sp>
      <p:sp>
        <p:nvSpPr>
          <p:cNvPr id="56" name="직사각형 55">
            <a:extLst>
              <a:ext uri="{FF2B5EF4-FFF2-40B4-BE49-F238E27FC236}">
                <a16:creationId xmlns:a16="http://schemas.microsoft.com/office/drawing/2014/main" id="{3277B414-D14A-49CF-BCAC-BA275DFC1DD4}"/>
              </a:ext>
            </a:extLst>
          </p:cNvPr>
          <p:cNvSpPr/>
          <p:nvPr/>
        </p:nvSpPr>
        <p:spPr>
          <a:xfrm>
            <a:off x="12877800" y="3835400"/>
            <a:ext cx="3632200" cy="39370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7" name="직사각형 56">
            <a:extLst>
              <a:ext uri="{FF2B5EF4-FFF2-40B4-BE49-F238E27FC236}">
                <a16:creationId xmlns:a16="http://schemas.microsoft.com/office/drawing/2014/main" id="{874A2621-50AB-4377-9C88-22145F886426}"/>
              </a:ext>
            </a:extLst>
          </p:cNvPr>
          <p:cNvSpPr/>
          <p:nvPr/>
        </p:nvSpPr>
        <p:spPr>
          <a:xfrm>
            <a:off x="12877800" y="3835400"/>
            <a:ext cx="127000" cy="39370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8" name="TextBox 57">
            <a:extLst>
              <a:ext uri="{FF2B5EF4-FFF2-40B4-BE49-F238E27FC236}">
                <a16:creationId xmlns:a16="http://schemas.microsoft.com/office/drawing/2014/main" id="{C50096E8-210C-4449-833D-4AB79720EA56}"/>
              </a:ext>
            </a:extLst>
          </p:cNvPr>
          <p:cNvSpPr txBox="1"/>
          <p:nvPr/>
        </p:nvSpPr>
        <p:spPr>
          <a:xfrm>
            <a:off x="13258800" y="4191000"/>
            <a:ext cx="584200" cy="330200"/>
          </a:xfrm>
          <a:prstGeom prst="rect">
            <a:avLst/>
          </a:prstGeom>
          <a:noFill/>
        </p:spPr>
        <p:txBody>
          <a:bodyPr vertOverflow="overflow" vert="horz" wrap="square" rtlCol="0" anchor="t">
            <a:normAutofit/>
          </a:bodyPr>
          <a:lstStyle/>
          <a:p>
            <a:pPr algn="l"/>
            <a:r>
              <a:rPr lang="en-US" altLang="ko-KR" sz="1400" b="1">
                <a:solidFill>
                  <a:srgbClr val="4B73FF"/>
                </a:solidFill>
                <a:latin typeface="맑은 고딕"/>
                <a:ea typeface="맑은 고딕"/>
              </a:rPr>
              <a:t>04</a:t>
            </a:r>
            <a:endParaRPr lang="ko-KR" altLang="en-US" sz="1400" b="1">
              <a:solidFill>
                <a:srgbClr val="4B73FF"/>
              </a:solidFill>
              <a:latin typeface="맑은 고딕"/>
              <a:ea typeface="맑은 고딕"/>
            </a:endParaRPr>
          </a:p>
        </p:txBody>
      </p:sp>
      <p:sp>
        <p:nvSpPr>
          <p:cNvPr id="59" name="TextBox 58">
            <a:extLst>
              <a:ext uri="{FF2B5EF4-FFF2-40B4-BE49-F238E27FC236}">
                <a16:creationId xmlns:a16="http://schemas.microsoft.com/office/drawing/2014/main" id="{75F62465-861D-4C01-A372-BF9371CF4F91}"/>
              </a:ext>
            </a:extLst>
          </p:cNvPr>
          <p:cNvSpPr txBox="1"/>
          <p:nvPr/>
        </p:nvSpPr>
        <p:spPr>
          <a:xfrm>
            <a:off x="13258800" y="4800600"/>
            <a:ext cx="2870200" cy="5334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최적안 선택</a:t>
            </a:r>
          </a:p>
        </p:txBody>
      </p:sp>
      <p:sp>
        <p:nvSpPr>
          <p:cNvPr id="60" name="TextBox 59">
            <a:extLst>
              <a:ext uri="{FF2B5EF4-FFF2-40B4-BE49-F238E27FC236}">
                <a16:creationId xmlns:a16="http://schemas.microsoft.com/office/drawing/2014/main" id="{AA8AA3C3-791E-493C-8DC2-F36992E9CAB8}"/>
              </a:ext>
            </a:extLst>
          </p:cNvPr>
          <p:cNvSpPr txBox="1"/>
          <p:nvPr/>
        </p:nvSpPr>
        <p:spPr>
          <a:xfrm>
            <a:off x="13258800" y="5613400"/>
            <a:ext cx="2870200" cy="1625600"/>
          </a:xfrm>
          <a:prstGeom prst="rect">
            <a:avLst/>
          </a:prstGeom>
          <a:noFill/>
        </p:spPr>
        <p:txBody>
          <a:bodyPr vertOverflow="overflow" vert="horz" wrap="square" rtlCol="0" anchor="t">
            <a:normAutofit/>
          </a:bodyPr>
          <a:lstStyle/>
          <a:p>
            <a:pPr algn="l"/>
            <a:r>
              <a:rPr lang="ko-KR" altLang="en-US" sz="1300">
                <a:solidFill>
                  <a:srgbClr val="7E899B"/>
                </a:solidFill>
                <a:latin typeface="맑은 고딕"/>
                <a:ea typeface="맑은 고딕"/>
              </a:rPr>
              <a:t>월 물가 한도 0.104%p 안에서</a:t>
            </a:r>
          </a:p>
          <a:p>
            <a:pPr algn="l"/>
            <a:endParaRPr lang="ko-KR" altLang="en-US" sz="1300">
              <a:solidFill>
                <a:srgbClr val="7E899B"/>
              </a:solidFill>
              <a:latin typeface="맑은 고딕"/>
              <a:ea typeface="맑은 고딕"/>
            </a:endParaRPr>
          </a:p>
          <a:p>
            <a:pPr algn="l"/>
            <a:r>
              <a:rPr lang="ko-KR" altLang="en-US" sz="1300">
                <a:solidFill>
                  <a:srgbClr val="7E899B"/>
                </a:solidFill>
                <a:latin typeface="맑은 고딕"/>
                <a:ea typeface="맑은 고딕"/>
              </a:rPr>
              <a:t>24주 평균 지원금이 가장 적은 안 = 권고</a:t>
            </a:r>
          </a:p>
        </p:txBody>
      </p:sp>
      <p:sp>
        <p:nvSpPr>
          <p:cNvPr id="61" name="직사각형 60">
            <a:extLst>
              <a:ext uri="{FF2B5EF4-FFF2-40B4-BE49-F238E27FC236}">
                <a16:creationId xmlns:a16="http://schemas.microsoft.com/office/drawing/2014/main" id="{82C7C86D-FB2A-4830-8E81-772725677473}"/>
              </a:ext>
            </a:extLst>
          </p:cNvPr>
          <p:cNvSpPr/>
          <p:nvPr/>
        </p:nvSpPr>
        <p:spPr>
          <a:xfrm>
            <a:off x="914400" y="8102600"/>
            <a:ext cx="15595600" cy="635000"/>
          </a:xfrm>
          <a:prstGeom prst="rect">
            <a:avLst/>
          </a:prstGeom>
          <a:solidFill>
            <a:srgbClr val="EEF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62" name="TextBox 61">
            <a:extLst>
              <a:ext uri="{FF2B5EF4-FFF2-40B4-BE49-F238E27FC236}">
                <a16:creationId xmlns:a16="http://schemas.microsoft.com/office/drawing/2014/main" id="{7A1AA953-E043-43B9-959A-4EAFF4DF49B1}"/>
              </a:ext>
            </a:extLst>
          </p:cNvPr>
          <p:cNvSpPr txBox="1"/>
          <p:nvPr/>
        </p:nvSpPr>
        <p:spPr>
          <a:xfrm>
            <a:off x="1320800" y="8280400"/>
            <a:ext cx="14732000" cy="330200"/>
          </a:xfrm>
          <a:prstGeom prst="rect">
            <a:avLst/>
          </a:prstGeom>
          <a:noFill/>
        </p:spPr>
        <p:txBody>
          <a:bodyPr vertOverflow="overflow" vert="horz" wrap="square" rtlCol="0" anchor="t">
            <a:normAutofit/>
          </a:bodyPr>
          <a:lstStyle/>
          <a:p>
            <a:pPr algn="l"/>
            <a:r>
              <a:rPr lang="ko-KR" altLang="en-US" sz="1400" b="1">
                <a:solidFill>
                  <a:srgbClr val="0F1A2E"/>
                </a:solidFill>
                <a:latin typeface="맑은 고딕"/>
                <a:ea typeface="맑은 고딕"/>
              </a:rPr>
              <a:t>12~16차  |  단순 규칙으로 진행: 지원금액이 큰 유종부터, 남은 물가 한도 안에서 최대한 올림</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A6F1ADEA-08C6-4B21-9D54-9D2712CAE3B9}"/>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8" name="직사각형 27">
            <a:extLst>
              <a:ext uri="{FF2B5EF4-FFF2-40B4-BE49-F238E27FC236}">
                <a16:creationId xmlns:a16="http://schemas.microsoft.com/office/drawing/2014/main" id="{021CF99D-CA5F-4836-B6F5-61B0B8EF2046}"/>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9" name="직사각형 28">
            <a:extLst>
              <a:ext uri="{FF2B5EF4-FFF2-40B4-BE49-F238E27FC236}">
                <a16:creationId xmlns:a16="http://schemas.microsoft.com/office/drawing/2014/main" id="{3013D8CF-D8E7-408C-B9CE-46DBE3F1427B}"/>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0" name="TextBox 29">
            <a:extLst>
              <a:ext uri="{FF2B5EF4-FFF2-40B4-BE49-F238E27FC236}">
                <a16:creationId xmlns:a16="http://schemas.microsoft.com/office/drawing/2014/main" id="{49613261-C3EB-4035-94AD-D9F0960C8B7F}"/>
              </a:ext>
            </a:extLst>
          </p:cNvPr>
          <p:cNvSpPr txBox="1"/>
          <p:nvPr/>
        </p:nvSpPr>
        <p:spPr>
          <a:xfrm>
            <a:off x="1092200" y="1841500"/>
            <a:ext cx="6604000" cy="304800"/>
          </a:xfrm>
          <a:prstGeom prst="rect">
            <a:avLst/>
          </a:prstGeom>
          <a:noFill/>
        </p:spPr>
        <p:txBody>
          <a:bodyPr vertOverflow="overflow" vert="horz" wrap="square" rtlCol="0" anchor="t">
            <a:normAutofit/>
          </a:bodyPr>
          <a:lstStyle/>
          <a:p>
            <a:pPr algn="l"/>
            <a:r>
              <a:rPr lang="en-US" altLang="ko-KR" sz="1400">
                <a:solidFill>
                  <a:srgbClr val="8A8F98"/>
                </a:solidFill>
                <a:latin typeface="맑은 고딕"/>
                <a:ea typeface="맑은 고딕"/>
              </a:rPr>
              <a:t>STEP 4 · SETTINGS</a:t>
            </a:r>
            <a:endParaRPr lang="ko-KR" altLang="en-US" sz="1400">
              <a:solidFill>
                <a:srgbClr val="8A8F98"/>
              </a:solidFill>
              <a:latin typeface="맑은 고딕"/>
              <a:ea typeface="맑은 고딕"/>
            </a:endParaRPr>
          </a:p>
        </p:txBody>
      </p:sp>
      <p:sp>
        <p:nvSpPr>
          <p:cNvPr id="31" name="TextBox 30">
            <a:extLst>
              <a:ext uri="{FF2B5EF4-FFF2-40B4-BE49-F238E27FC236}">
                <a16:creationId xmlns:a16="http://schemas.microsoft.com/office/drawing/2014/main" id="{80428B56-0342-454A-B7FE-EADCB3E03BFC}"/>
              </a:ext>
            </a:extLst>
          </p:cNvPr>
          <p:cNvSpPr txBox="1"/>
          <p:nvPr/>
        </p:nvSpPr>
        <p:spPr>
          <a:xfrm>
            <a:off x="1041400" y="2286000"/>
            <a:ext cx="14986000" cy="914400"/>
          </a:xfrm>
          <a:prstGeom prst="rect">
            <a:avLst/>
          </a:prstGeom>
          <a:noFill/>
        </p:spPr>
        <p:txBody>
          <a:bodyPr vertOverflow="overflow" vert="horz" wrap="square" rtlCol="0" anchor="t">
            <a:normAutofit/>
          </a:bodyPr>
          <a:lstStyle/>
          <a:p>
            <a:pPr algn="l"/>
            <a:r>
              <a:rPr lang="ko-KR" altLang="en-US" sz="2900" b="1">
                <a:solidFill>
                  <a:srgbClr val="101828"/>
                </a:solidFill>
                <a:latin typeface="맑은 고딕"/>
                <a:ea typeface="맑은 고딕"/>
              </a:rPr>
              <a:t>물가 한도는 상한제가 눌러 둔 물가를 6번에 나눠 되돌리는 속도로 정했습니다</a:t>
            </a:r>
          </a:p>
        </p:txBody>
      </p:sp>
      <p:sp>
        <p:nvSpPr>
          <p:cNvPr id="32" name="직사각형 31">
            <a:extLst>
              <a:ext uri="{FF2B5EF4-FFF2-40B4-BE49-F238E27FC236}">
                <a16:creationId xmlns:a16="http://schemas.microsoft.com/office/drawing/2014/main" id="{92794615-F20D-4223-8A09-4134668B9ECA}"/>
              </a:ext>
            </a:extLst>
          </p:cNvPr>
          <p:cNvSpPr/>
          <p:nvPr/>
        </p:nvSpPr>
        <p:spPr>
          <a:xfrm>
            <a:off x="1397000" y="3784600"/>
            <a:ext cx="15494000" cy="736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3" name="TextBox 32">
            <a:extLst>
              <a:ext uri="{FF2B5EF4-FFF2-40B4-BE49-F238E27FC236}">
                <a16:creationId xmlns:a16="http://schemas.microsoft.com/office/drawing/2014/main" id="{19B39FF2-0AC0-46BD-88FC-C7D2315157EA}"/>
              </a:ext>
            </a:extLst>
          </p:cNvPr>
          <p:cNvSpPr txBox="1"/>
          <p:nvPr/>
        </p:nvSpPr>
        <p:spPr>
          <a:xfrm>
            <a:off x="1651000" y="3975100"/>
            <a:ext cx="609600" cy="355600"/>
          </a:xfrm>
          <a:prstGeom prst="rect">
            <a:avLst/>
          </a:prstGeom>
          <a:noFill/>
        </p:spPr>
        <p:txBody>
          <a:bodyPr vertOverflow="overflow" vert="horz" wrap="square" rtlCol="0" anchor="t">
            <a:normAutofit/>
          </a:bodyPr>
          <a:lstStyle/>
          <a:p>
            <a:pPr algn="l"/>
            <a:r>
              <a:rPr lang="en-US" altLang="ko-KR" sz="1500" b="1">
                <a:solidFill>
                  <a:srgbClr val="4775FF"/>
                </a:solidFill>
                <a:latin typeface="맑은 고딕"/>
                <a:ea typeface="맑은 고딕"/>
              </a:rPr>
              <a:t>01</a:t>
            </a:r>
            <a:endParaRPr lang="ko-KR" altLang="en-US" sz="1500" b="1">
              <a:solidFill>
                <a:srgbClr val="4775FF"/>
              </a:solidFill>
              <a:latin typeface="맑은 고딕"/>
              <a:ea typeface="맑은 고딕"/>
            </a:endParaRPr>
          </a:p>
        </p:txBody>
      </p:sp>
      <p:sp>
        <p:nvSpPr>
          <p:cNvPr id="34" name="TextBox 33">
            <a:extLst>
              <a:ext uri="{FF2B5EF4-FFF2-40B4-BE49-F238E27FC236}">
                <a16:creationId xmlns:a16="http://schemas.microsoft.com/office/drawing/2014/main" id="{2057B49D-171F-41E1-860B-7974925F159F}"/>
              </a:ext>
            </a:extLst>
          </p:cNvPr>
          <p:cNvSpPr txBox="1"/>
          <p:nvPr/>
        </p:nvSpPr>
        <p:spPr>
          <a:xfrm>
            <a:off x="2603500" y="3949700"/>
            <a:ext cx="2603500" cy="381000"/>
          </a:xfrm>
          <a:prstGeom prst="rect">
            <a:avLst/>
          </a:prstGeom>
          <a:noFill/>
        </p:spPr>
        <p:txBody>
          <a:bodyPr vertOverflow="overflow" vert="horz" wrap="square" rtlCol="0" anchor="t">
            <a:normAutofit/>
          </a:bodyPr>
          <a:lstStyle/>
          <a:p>
            <a:pPr algn="l"/>
            <a:r>
              <a:rPr lang="ko-KR" altLang="en-US" sz="1700" b="1">
                <a:solidFill>
                  <a:srgbClr val="4775FF"/>
                </a:solidFill>
                <a:latin typeface="맑은 고딕"/>
                <a:ea typeface="맑은 고딕"/>
              </a:rPr>
              <a:t>판매량</a:t>
            </a:r>
          </a:p>
        </p:txBody>
      </p:sp>
      <p:sp>
        <p:nvSpPr>
          <p:cNvPr id="35" name="TextBox 34">
            <a:extLst>
              <a:ext uri="{FF2B5EF4-FFF2-40B4-BE49-F238E27FC236}">
                <a16:creationId xmlns:a16="http://schemas.microsoft.com/office/drawing/2014/main" id="{3BC4EE1F-9DA0-4D0A-AEBB-5F0AC2B2F964}"/>
              </a:ext>
            </a:extLst>
          </p:cNvPr>
          <p:cNvSpPr txBox="1"/>
          <p:nvPr/>
        </p:nvSpPr>
        <p:spPr>
          <a:xfrm>
            <a:off x="5461000" y="3962400"/>
            <a:ext cx="10795000" cy="381000"/>
          </a:xfrm>
          <a:prstGeom prst="rect">
            <a:avLst/>
          </a:prstGeom>
          <a:noFill/>
        </p:spPr>
        <p:txBody>
          <a:bodyPr vertOverflow="overflow" vert="horz" wrap="square" rtlCol="0" anchor="t">
            <a:normAutofit/>
          </a:bodyPr>
          <a:lstStyle/>
          <a:p>
            <a:pPr algn="l"/>
            <a:r>
              <a:rPr lang="ko-KR" altLang="en-US" sz="1500">
                <a:solidFill>
                  <a:srgbClr val="101828"/>
                </a:solidFill>
                <a:latin typeface="맑은 고딕"/>
                <a:ea typeface="맑은 고딕"/>
              </a:rPr>
              <a:t>전년 같은 달 × 올해 증감률 · 등유는 겨울에 하루 180만 → 1,190만 리터로 증가</a:t>
            </a:r>
          </a:p>
        </p:txBody>
      </p:sp>
      <p:sp>
        <p:nvSpPr>
          <p:cNvPr id="36" name="직사각형 35">
            <a:extLst>
              <a:ext uri="{FF2B5EF4-FFF2-40B4-BE49-F238E27FC236}">
                <a16:creationId xmlns:a16="http://schemas.microsoft.com/office/drawing/2014/main" id="{11BD334C-CB2B-43C2-8349-26253B5D2267}"/>
              </a:ext>
            </a:extLst>
          </p:cNvPr>
          <p:cNvSpPr/>
          <p:nvPr/>
        </p:nvSpPr>
        <p:spPr>
          <a:xfrm>
            <a:off x="1397000" y="4648200"/>
            <a:ext cx="15494000" cy="736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7" name="TextBox 36">
            <a:extLst>
              <a:ext uri="{FF2B5EF4-FFF2-40B4-BE49-F238E27FC236}">
                <a16:creationId xmlns:a16="http://schemas.microsoft.com/office/drawing/2014/main" id="{18624636-EC40-4A5C-935D-57B236EF10D5}"/>
              </a:ext>
            </a:extLst>
          </p:cNvPr>
          <p:cNvSpPr txBox="1"/>
          <p:nvPr/>
        </p:nvSpPr>
        <p:spPr>
          <a:xfrm>
            <a:off x="1651000" y="4838700"/>
            <a:ext cx="609600" cy="355600"/>
          </a:xfrm>
          <a:prstGeom prst="rect">
            <a:avLst/>
          </a:prstGeom>
          <a:noFill/>
        </p:spPr>
        <p:txBody>
          <a:bodyPr vertOverflow="overflow" vert="horz" wrap="square" rtlCol="0" anchor="t">
            <a:normAutofit/>
          </a:bodyPr>
          <a:lstStyle/>
          <a:p>
            <a:pPr algn="l"/>
            <a:r>
              <a:rPr lang="en-US" altLang="ko-KR" sz="1500" b="1">
                <a:solidFill>
                  <a:srgbClr val="4775FF"/>
                </a:solidFill>
                <a:latin typeface="맑은 고딕"/>
                <a:ea typeface="맑은 고딕"/>
              </a:rPr>
              <a:t>02</a:t>
            </a:r>
            <a:endParaRPr lang="ko-KR" altLang="en-US" sz="1500" b="1">
              <a:solidFill>
                <a:srgbClr val="4775FF"/>
              </a:solidFill>
              <a:latin typeface="맑은 고딕"/>
              <a:ea typeface="맑은 고딕"/>
            </a:endParaRPr>
          </a:p>
        </p:txBody>
      </p:sp>
      <p:sp>
        <p:nvSpPr>
          <p:cNvPr id="38" name="TextBox 37">
            <a:extLst>
              <a:ext uri="{FF2B5EF4-FFF2-40B4-BE49-F238E27FC236}">
                <a16:creationId xmlns:a16="http://schemas.microsoft.com/office/drawing/2014/main" id="{18C2BF94-2BBB-4B04-9D0C-1C95F4325048}"/>
              </a:ext>
            </a:extLst>
          </p:cNvPr>
          <p:cNvSpPr txBox="1"/>
          <p:nvPr/>
        </p:nvSpPr>
        <p:spPr>
          <a:xfrm>
            <a:off x="2603500" y="4813300"/>
            <a:ext cx="2603500" cy="381000"/>
          </a:xfrm>
          <a:prstGeom prst="rect">
            <a:avLst/>
          </a:prstGeom>
          <a:noFill/>
        </p:spPr>
        <p:txBody>
          <a:bodyPr vertOverflow="overflow" vert="horz" wrap="square" rtlCol="0" anchor="t">
            <a:normAutofit/>
          </a:bodyPr>
          <a:lstStyle/>
          <a:p>
            <a:pPr algn="l"/>
            <a:r>
              <a:rPr lang="ko-KR" altLang="en-US" sz="1700" b="1">
                <a:solidFill>
                  <a:srgbClr val="4775FF"/>
                </a:solidFill>
                <a:latin typeface="맑은 고딕"/>
                <a:ea typeface="맑은 고딕"/>
              </a:rPr>
              <a:t>유류세</a:t>
            </a:r>
          </a:p>
        </p:txBody>
      </p:sp>
      <p:sp>
        <p:nvSpPr>
          <p:cNvPr id="39" name="TextBox 38">
            <a:extLst>
              <a:ext uri="{FF2B5EF4-FFF2-40B4-BE49-F238E27FC236}">
                <a16:creationId xmlns:a16="http://schemas.microsoft.com/office/drawing/2014/main" id="{B2371FC3-27E4-4842-B3B7-C3C9B1FD550A}"/>
              </a:ext>
            </a:extLst>
          </p:cNvPr>
          <p:cNvSpPr txBox="1"/>
          <p:nvPr/>
        </p:nvSpPr>
        <p:spPr>
          <a:xfrm>
            <a:off x="5461000" y="4826000"/>
            <a:ext cx="10795000" cy="381000"/>
          </a:xfrm>
          <a:prstGeom prst="rect">
            <a:avLst/>
          </a:prstGeom>
          <a:noFill/>
        </p:spPr>
        <p:txBody>
          <a:bodyPr vertOverflow="overflow" vert="horz" wrap="square" rtlCol="0" anchor="t">
            <a:normAutofit/>
          </a:bodyPr>
          <a:lstStyle/>
          <a:p>
            <a:pPr algn="l"/>
            <a:r>
              <a:rPr lang="ko-KR" altLang="en-US" sz="1500">
                <a:solidFill>
                  <a:srgbClr val="101828"/>
                </a:solidFill>
                <a:latin typeface="맑은 고딕"/>
                <a:ea typeface="맑은 고딕"/>
              </a:rPr>
              <a:t>현재 값 유지: 휘발유 698.5원 · 경유 436.3원 · 등유 80.2원 (리터당)</a:t>
            </a:r>
          </a:p>
        </p:txBody>
      </p:sp>
      <p:sp>
        <p:nvSpPr>
          <p:cNvPr id="40" name="직사각형 39">
            <a:extLst>
              <a:ext uri="{FF2B5EF4-FFF2-40B4-BE49-F238E27FC236}">
                <a16:creationId xmlns:a16="http://schemas.microsoft.com/office/drawing/2014/main" id="{83B89C33-F4D6-49FA-8FE5-1D79C28C01D3}"/>
              </a:ext>
            </a:extLst>
          </p:cNvPr>
          <p:cNvSpPr/>
          <p:nvPr/>
        </p:nvSpPr>
        <p:spPr>
          <a:xfrm>
            <a:off x="1397000" y="5511800"/>
            <a:ext cx="15494000" cy="736600"/>
          </a:xfrm>
          <a:prstGeom prst="rect">
            <a:avLst/>
          </a:prstGeom>
          <a:solidFill>
            <a:srgbClr val="10182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1" name="TextBox 40">
            <a:extLst>
              <a:ext uri="{FF2B5EF4-FFF2-40B4-BE49-F238E27FC236}">
                <a16:creationId xmlns:a16="http://schemas.microsoft.com/office/drawing/2014/main" id="{A664A74B-D6E7-4D37-A441-B13C9543DD48}"/>
              </a:ext>
            </a:extLst>
          </p:cNvPr>
          <p:cNvSpPr txBox="1"/>
          <p:nvPr/>
        </p:nvSpPr>
        <p:spPr>
          <a:xfrm>
            <a:off x="1651000" y="5702300"/>
            <a:ext cx="609600" cy="355600"/>
          </a:xfrm>
          <a:prstGeom prst="rect">
            <a:avLst/>
          </a:prstGeom>
          <a:noFill/>
        </p:spPr>
        <p:txBody>
          <a:bodyPr vertOverflow="overflow" vert="horz" wrap="square" rtlCol="0" anchor="t">
            <a:normAutofit/>
          </a:bodyPr>
          <a:lstStyle/>
          <a:p>
            <a:pPr algn="l"/>
            <a:r>
              <a:rPr lang="en-US" altLang="ko-KR" sz="1500" b="1">
                <a:solidFill>
                  <a:srgbClr val="39C6E8"/>
                </a:solidFill>
                <a:latin typeface="맑은 고딕"/>
                <a:ea typeface="맑은 고딕"/>
              </a:rPr>
              <a:t>03</a:t>
            </a:r>
            <a:endParaRPr lang="ko-KR" altLang="en-US" sz="1500" b="1">
              <a:solidFill>
                <a:srgbClr val="39C6E8"/>
              </a:solidFill>
              <a:latin typeface="맑은 고딕"/>
              <a:ea typeface="맑은 고딕"/>
            </a:endParaRPr>
          </a:p>
        </p:txBody>
      </p:sp>
      <p:sp>
        <p:nvSpPr>
          <p:cNvPr id="42" name="TextBox 41">
            <a:extLst>
              <a:ext uri="{FF2B5EF4-FFF2-40B4-BE49-F238E27FC236}">
                <a16:creationId xmlns:a16="http://schemas.microsoft.com/office/drawing/2014/main" id="{C14BEE6D-8096-4DF2-AC56-43B546D81977}"/>
              </a:ext>
            </a:extLst>
          </p:cNvPr>
          <p:cNvSpPr txBox="1"/>
          <p:nvPr/>
        </p:nvSpPr>
        <p:spPr>
          <a:xfrm>
            <a:off x="2603500" y="5676900"/>
            <a:ext cx="2603500" cy="381000"/>
          </a:xfrm>
          <a:prstGeom prst="rect">
            <a:avLst/>
          </a:prstGeom>
          <a:noFill/>
        </p:spPr>
        <p:txBody>
          <a:bodyPr vertOverflow="overflow" vert="horz" wrap="square" rtlCol="0" anchor="t">
            <a:normAutofit/>
          </a:bodyPr>
          <a:lstStyle/>
          <a:p>
            <a:pPr algn="l"/>
            <a:r>
              <a:rPr lang="en-US" altLang="ko-KR" sz="1700" b="1">
                <a:solidFill>
                  <a:srgbClr val="39C6E8"/>
                </a:solidFill>
                <a:latin typeface="맑은 고딕"/>
                <a:ea typeface="맑은 고딕"/>
              </a:rPr>
              <a:t>월 물가 한도</a:t>
            </a:r>
          </a:p>
        </p:txBody>
      </p:sp>
      <p:sp>
        <p:nvSpPr>
          <p:cNvPr id="43" name="TextBox 42">
            <a:extLst>
              <a:ext uri="{FF2B5EF4-FFF2-40B4-BE49-F238E27FC236}">
                <a16:creationId xmlns:a16="http://schemas.microsoft.com/office/drawing/2014/main" id="{AAF0128A-C3BE-484B-993C-3AB07116E576}"/>
              </a:ext>
            </a:extLst>
          </p:cNvPr>
          <p:cNvSpPr txBox="1"/>
          <p:nvPr/>
        </p:nvSpPr>
        <p:spPr>
          <a:xfrm>
            <a:off x="5461000" y="5689600"/>
            <a:ext cx="10795000" cy="3810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0.104%p = 9월에 상한제가 낮춘 물가 0.623%p ÷ 6차수</a:t>
            </a:r>
          </a:p>
        </p:txBody>
      </p:sp>
      <p:sp>
        <p:nvSpPr>
          <p:cNvPr id="44" name="직사각형 43">
            <a:extLst>
              <a:ext uri="{FF2B5EF4-FFF2-40B4-BE49-F238E27FC236}">
                <a16:creationId xmlns:a16="http://schemas.microsoft.com/office/drawing/2014/main" id="{523C157F-4087-494D-A762-E4A7E6135F45}"/>
              </a:ext>
            </a:extLst>
          </p:cNvPr>
          <p:cNvSpPr/>
          <p:nvPr/>
        </p:nvSpPr>
        <p:spPr>
          <a:xfrm>
            <a:off x="1397000" y="6375400"/>
            <a:ext cx="15494000" cy="736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TextBox 44">
            <a:extLst>
              <a:ext uri="{FF2B5EF4-FFF2-40B4-BE49-F238E27FC236}">
                <a16:creationId xmlns:a16="http://schemas.microsoft.com/office/drawing/2014/main" id="{165899E2-B6A5-43BC-8EE4-8F4603455CC2}"/>
              </a:ext>
            </a:extLst>
          </p:cNvPr>
          <p:cNvSpPr txBox="1"/>
          <p:nvPr/>
        </p:nvSpPr>
        <p:spPr>
          <a:xfrm>
            <a:off x="1651000" y="6565900"/>
            <a:ext cx="609600" cy="355600"/>
          </a:xfrm>
          <a:prstGeom prst="rect">
            <a:avLst/>
          </a:prstGeom>
          <a:noFill/>
        </p:spPr>
        <p:txBody>
          <a:bodyPr vertOverflow="overflow" vert="horz" wrap="square" rtlCol="0" anchor="t">
            <a:normAutofit/>
          </a:bodyPr>
          <a:lstStyle/>
          <a:p>
            <a:pPr algn="l"/>
            <a:r>
              <a:rPr lang="en-US" altLang="ko-KR" sz="1500" b="1">
                <a:solidFill>
                  <a:srgbClr val="4775FF"/>
                </a:solidFill>
                <a:latin typeface="맑은 고딕"/>
                <a:ea typeface="맑은 고딕"/>
              </a:rPr>
              <a:t>04</a:t>
            </a:r>
            <a:endParaRPr lang="ko-KR" altLang="en-US" sz="1500" b="1">
              <a:solidFill>
                <a:srgbClr val="4775FF"/>
              </a:solidFill>
              <a:latin typeface="맑은 고딕"/>
              <a:ea typeface="맑은 고딕"/>
            </a:endParaRPr>
          </a:p>
        </p:txBody>
      </p:sp>
      <p:sp>
        <p:nvSpPr>
          <p:cNvPr id="46" name="TextBox 45">
            <a:extLst>
              <a:ext uri="{FF2B5EF4-FFF2-40B4-BE49-F238E27FC236}">
                <a16:creationId xmlns:a16="http://schemas.microsoft.com/office/drawing/2014/main" id="{9BE50406-0817-41D5-91C3-D93571BDEE3B}"/>
              </a:ext>
            </a:extLst>
          </p:cNvPr>
          <p:cNvSpPr txBox="1"/>
          <p:nvPr/>
        </p:nvSpPr>
        <p:spPr>
          <a:xfrm>
            <a:off x="2603500" y="6540500"/>
            <a:ext cx="2603500" cy="381000"/>
          </a:xfrm>
          <a:prstGeom prst="rect">
            <a:avLst/>
          </a:prstGeom>
          <a:noFill/>
        </p:spPr>
        <p:txBody>
          <a:bodyPr vertOverflow="overflow" vert="horz" wrap="square" rtlCol="0" anchor="t">
            <a:normAutofit/>
          </a:bodyPr>
          <a:lstStyle/>
          <a:p>
            <a:pPr algn="l"/>
            <a:r>
              <a:rPr lang="ko-KR" altLang="en-US" sz="1700" b="1">
                <a:solidFill>
                  <a:srgbClr val="4775FF"/>
                </a:solidFill>
                <a:latin typeface="맑은 고딕"/>
                <a:ea typeface="맑은 고딕"/>
              </a:rPr>
              <a:t>인하 조건</a:t>
            </a:r>
          </a:p>
        </p:txBody>
      </p:sp>
      <p:sp>
        <p:nvSpPr>
          <p:cNvPr id="47" name="TextBox 46">
            <a:extLst>
              <a:ext uri="{FF2B5EF4-FFF2-40B4-BE49-F238E27FC236}">
                <a16:creationId xmlns:a16="http://schemas.microsoft.com/office/drawing/2014/main" id="{9FD13A7B-27EC-42CD-AAA5-FBCC5518590B}"/>
              </a:ext>
            </a:extLst>
          </p:cNvPr>
          <p:cNvSpPr txBox="1"/>
          <p:nvPr/>
        </p:nvSpPr>
        <p:spPr>
          <a:xfrm>
            <a:off x="5461000" y="6553200"/>
            <a:ext cx="10795000" cy="381000"/>
          </a:xfrm>
          <a:prstGeom prst="rect">
            <a:avLst/>
          </a:prstGeom>
          <a:noFill/>
        </p:spPr>
        <p:txBody>
          <a:bodyPr vertOverflow="overflow" vert="horz" wrap="square" rtlCol="0" anchor="t">
            <a:normAutofit/>
          </a:bodyPr>
          <a:lstStyle/>
          <a:p>
            <a:pPr algn="l"/>
            <a:r>
              <a:rPr lang="ko-KR" altLang="en-US" sz="1500">
                <a:solidFill>
                  <a:srgbClr val="101828"/>
                </a:solidFill>
                <a:latin typeface="맑은 고딕"/>
                <a:ea typeface="맑은 고딕"/>
              </a:rPr>
              <a:t>지원금액이 60원 미만인 유종만 인하 (7차 인하 때 경유·등유 지원금액 36·37원)</a:t>
            </a:r>
          </a:p>
        </p:txBody>
      </p:sp>
      <p:sp>
        <p:nvSpPr>
          <p:cNvPr id="48" name="직사각형 47">
            <a:extLst>
              <a:ext uri="{FF2B5EF4-FFF2-40B4-BE49-F238E27FC236}">
                <a16:creationId xmlns:a16="http://schemas.microsoft.com/office/drawing/2014/main" id="{5EE100A6-7B2E-4C75-83C9-D42D365E6242}"/>
              </a:ext>
            </a:extLst>
          </p:cNvPr>
          <p:cNvSpPr/>
          <p:nvPr/>
        </p:nvSpPr>
        <p:spPr>
          <a:xfrm>
            <a:off x="1397000" y="7239000"/>
            <a:ext cx="15494000" cy="7366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9" name="TextBox 48">
            <a:extLst>
              <a:ext uri="{FF2B5EF4-FFF2-40B4-BE49-F238E27FC236}">
                <a16:creationId xmlns:a16="http://schemas.microsoft.com/office/drawing/2014/main" id="{4FC0BFB2-23BC-4EFE-A01F-0185A76DF453}"/>
              </a:ext>
            </a:extLst>
          </p:cNvPr>
          <p:cNvSpPr txBox="1"/>
          <p:nvPr/>
        </p:nvSpPr>
        <p:spPr>
          <a:xfrm>
            <a:off x="1651000" y="7429500"/>
            <a:ext cx="609600" cy="355600"/>
          </a:xfrm>
          <a:prstGeom prst="rect">
            <a:avLst/>
          </a:prstGeom>
          <a:noFill/>
        </p:spPr>
        <p:txBody>
          <a:bodyPr vertOverflow="overflow" vert="horz" wrap="square" rtlCol="0" anchor="t">
            <a:normAutofit/>
          </a:bodyPr>
          <a:lstStyle/>
          <a:p>
            <a:pPr algn="l"/>
            <a:r>
              <a:rPr lang="en-US" altLang="ko-KR" sz="1500" b="1">
                <a:solidFill>
                  <a:srgbClr val="4775FF"/>
                </a:solidFill>
                <a:latin typeface="맑은 고딕"/>
                <a:ea typeface="맑은 고딕"/>
              </a:rPr>
              <a:t>05</a:t>
            </a:r>
            <a:endParaRPr lang="ko-KR" altLang="en-US" sz="1500" b="1">
              <a:solidFill>
                <a:srgbClr val="4775FF"/>
              </a:solidFill>
              <a:latin typeface="맑은 고딕"/>
              <a:ea typeface="맑은 고딕"/>
            </a:endParaRPr>
          </a:p>
        </p:txBody>
      </p:sp>
      <p:sp>
        <p:nvSpPr>
          <p:cNvPr id="50" name="TextBox 49">
            <a:extLst>
              <a:ext uri="{FF2B5EF4-FFF2-40B4-BE49-F238E27FC236}">
                <a16:creationId xmlns:a16="http://schemas.microsoft.com/office/drawing/2014/main" id="{C622222D-389F-4B43-93D4-E8985C614FB8}"/>
              </a:ext>
            </a:extLst>
          </p:cNvPr>
          <p:cNvSpPr txBox="1"/>
          <p:nvPr/>
        </p:nvSpPr>
        <p:spPr>
          <a:xfrm>
            <a:off x="2603500" y="7404100"/>
            <a:ext cx="2603500" cy="381000"/>
          </a:xfrm>
          <a:prstGeom prst="rect">
            <a:avLst/>
          </a:prstGeom>
          <a:noFill/>
        </p:spPr>
        <p:txBody>
          <a:bodyPr vertOverflow="overflow" vert="horz" wrap="square" rtlCol="0" anchor="t">
            <a:normAutofit/>
          </a:bodyPr>
          <a:lstStyle/>
          <a:p>
            <a:pPr algn="l"/>
            <a:r>
              <a:rPr lang="ko-KR" altLang="en-US" sz="1700" b="1">
                <a:solidFill>
                  <a:srgbClr val="4775FF"/>
                </a:solidFill>
                <a:latin typeface="맑은 고딕"/>
                <a:ea typeface="맑은 고딕"/>
              </a:rPr>
              <a:t>12~16차</a:t>
            </a:r>
          </a:p>
        </p:txBody>
      </p:sp>
      <p:sp>
        <p:nvSpPr>
          <p:cNvPr id="51" name="TextBox 50">
            <a:extLst>
              <a:ext uri="{FF2B5EF4-FFF2-40B4-BE49-F238E27FC236}">
                <a16:creationId xmlns:a16="http://schemas.microsoft.com/office/drawing/2014/main" id="{7AD68AF8-1018-4B8E-9B66-77B864702D81}"/>
              </a:ext>
            </a:extLst>
          </p:cNvPr>
          <p:cNvSpPr txBox="1"/>
          <p:nvPr/>
        </p:nvSpPr>
        <p:spPr>
          <a:xfrm>
            <a:off x="5461000" y="7416800"/>
            <a:ext cx="10795000" cy="381000"/>
          </a:xfrm>
          <a:prstGeom prst="rect">
            <a:avLst/>
          </a:prstGeom>
          <a:noFill/>
        </p:spPr>
        <p:txBody>
          <a:bodyPr vertOverflow="overflow" vert="horz" wrap="square" rtlCol="0" anchor="t">
            <a:normAutofit/>
          </a:bodyPr>
          <a:lstStyle/>
          <a:p>
            <a:pPr algn="l"/>
            <a:r>
              <a:rPr lang="ko-KR" altLang="en-US" sz="1500">
                <a:solidFill>
                  <a:srgbClr val="101828"/>
                </a:solidFill>
                <a:latin typeface="맑은 고딕"/>
                <a:ea typeface="맑은 고딕"/>
              </a:rPr>
              <a:t>지원금액이 큰 유종부터 남은 물가 한도 안에서 최대 인상</a:t>
            </a:r>
          </a:p>
        </p:txBody>
      </p:sp>
      <p:sp>
        <p:nvSpPr>
          <p:cNvPr id="52" name="TextBox 51">
            <a:extLst>
              <a:ext uri="{FF2B5EF4-FFF2-40B4-BE49-F238E27FC236}">
                <a16:creationId xmlns:a16="http://schemas.microsoft.com/office/drawing/2014/main" id="{0970155B-F060-4963-A730-9B312C3806DF}"/>
              </a:ext>
            </a:extLst>
          </p:cNvPr>
          <p:cNvSpPr txBox="1"/>
          <p:nvPr/>
        </p:nvSpPr>
        <p:spPr>
          <a:xfrm>
            <a:off x="2921000" y="8382000"/>
            <a:ext cx="12446000" cy="355600"/>
          </a:xfrm>
          <a:prstGeom prst="rect">
            <a:avLst/>
          </a:prstGeom>
          <a:noFill/>
        </p:spPr>
        <p:txBody>
          <a:bodyPr vertOverflow="overflow" vert="horz" wrap="square" rtlCol="0" anchor="t">
            <a:normAutofit/>
          </a:bodyPr>
          <a:lstStyle/>
          <a:p>
            <a:pPr algn="l"/>
            <a:r>
              <a:rPr lang="ko-KR" altLang="en-US" sz="1500" b="1">
                <a:solidFill>
                  <a:srgbClr val="101828"/>
                </a:solidFill>
                <a:latin typeface="맑은 고딕"/>
                <a:ea typeface="맑은 고딕"/>
              </a:rPr>
              <a:t>216개 조정안 중 60개가 물가 한도와 인하 조건을 지킵니다. 실제 2차 +210원 인상은 0.375%p였습니다.</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CEF9844C-7A05-47D1-822C-5F5101A5B534}"/>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4" name="직사각형 43">
            <a:extLst>
              <a:ext uri="{FF2B5EF4-FFF2-40B4-BE49-F238E27FC236}">
                <a16:creationId xmlns:a16="http://schemas.microsoft.com/office/drawing/2014/main" id="{4F45F64D-C46C-429C-B0D2-F932881B9EFF}"/>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5" name="직사각형 44">
            <a:extLst>
              <a:ext uri="{FF2B5EF4-FFF2-40B4-BE49-F238E27FC236}">
                <a16:creationId xmlns:a16="http://schemas.microsoft.com/office/drawing/2014/main" id="{BC859B2C-8415-466C-94D8-262047626BE8}"/>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46" name="TextBox 45">
            <a:extLst>
              <a:ext uri="{FF2B5EF4-FFF2-40B4-BE49-F238E27FC236}">
                <a16:creationId xmlns:a16="http://schemas.microsoft.com/office/drawing/2014/main" id="{9D148C9A-D29E-4547-9EE2-44ED48D26D7A}"/>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RESULT · 11TH DECISION</a:t>
            </a:r>
            <a:endParaRPr lang="ko-KR" altLang="en-US" sz="1200">
              <a:solidFill>
                <a:srgbClr val="8793A6"/>
              </a:solidFill>
              <a:latin typeface="맑은 고딕"/>
              <a:ea typeface="맑은 고딕"/>
            </a:endParaRPr>
          </a:p>
        </p:txBody>
      </p:sp>
      <p:sp>
        <p:nvSpPr>
          <p:cNvPr id="47" name="TextBox 46">
            <a:extLst>
              <a:ext uri="{FF2B5EF4-FFF2-40B4-BE49-F238E27FC236}">
                <a16:creationId xmlns:a16="http://schemas.microsoft.com/office/drawing/2014/main" id="{782B5AC6-2072-49CB-9AFE-CA9A441ABC2B}"/>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11차 권고: 휘발유 +30원, 경유 +90원, 등유 +120원</a:t>
            </a:r>
          </a:p>
        </p:txBody>
      </p:sp>
      <p:sp>
        <p:nvSpPr>
          <p:cNvPr id="48" name="TextBox 47">
            <a:extLst>
              <a:ext uri="{FF2B5EF4-FFF2-40B4-BE49-F238E27FC236}">
                <a16:creationId xmlns:a16="http://schemas.microsoft.com/office/drawing/2014/main" id="{69B4C59E-BBCF-4358-8140-55645C445FAA}"/>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리터당 지원금액 중 일부를 올려, 물가 한도(0.104%p) 안에서 지원금을 가장 많이 줄입니다.</a:t>
            </a:r>
          </a:p>
        </p:txBody>
      </p:sp>
      <p:sp>
        <p:nvSpPr>
          <p:cNvPr id="49" name="직사각형 48">
            <a:extLst>
              <a:ext uri="{FF2B5EF4-FFF2-40B4-BE49-F238E27FC236}">
                <a16:creationId xmlns:a16="http://schemas.microsoft.com/office/drawing/2014/main" id="{BBEAF440-FF1A-4B24-AB62-3A31BC4ECB96}"/>
              </a:ext>
            </a:extLst>
          </p:cNvPr>
          <p:cNvSpPr/>
          <p:nvPr/>
        </p:nvSpPr>
        <p:spPr>
          <a:xfrm>
            <a:off x="1041400" y="3784600"/>
            <a:ext cx="11049000" cy="4292600"/>
          </a:xfrm>
          <a:prstGeom prst="rect">
            <a:avLst/>
          </a:prstGeom>
          <a:solidFill>
            <a:srgbClr val="FFFFFF"/>
          </a:solidFill>
          <a:ln w="25400" cap="flat" cmpd="sng" algn="ctr">
            <a:solidFill>
              <a:srgbClr val="E1E6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0" name="TextBox 49">
            <a:extLst>
              <a:ext uri="{FF2B5EF4-FFF2-40B4-BE49-F238E27FC236}">
                <a16:creationId xmlns:a16="http://schemas.microsoft.com/office/drawing/2014/main" id="{091A2F7D-9993-4BB4-B0E5-5F7892C5AB3D}"/>
              </a:ext>
            </a:extLst>
          </p:cNvPr>
          <p:cNvSpPr txBox="1"/>
          <p:nvPr/>
        </p:nvSpPr>
        <p:spPr>
          <a:xfrm>
            <a:off x="1422400" y="4064000"/>
            <a:ext cx="6350000" cy="381000"/>
          </a:xfrm>
          <a:prstGeom prst="rect">
            <a:avLst/>
          </a:prstGeom>
          <a:noFill/>
        </p:spPr>
        <p:txBody>
          <a:bodyPr vertOverflow="overflow" vert="horz" wrap="square" rtlCol="0" anchor="t">
            <a:normAutofit/>
          </a:bodyPr>
          <a:lstStyle/>
          <a:p>
            <a:pPr algn="l"/>
            <a:r>
              <a:rPr lang="ko-KR" altLang="en-US" b="1">
                <a:solidFill>
                  <a:srgbClr val="0F1A2E"/>
                </a:solidFill>
                <a:latin typeface="맑은 고딕"/>
                <a:ea typeface="맑은 고딕"/>
              </a:rPr>
              <a:t>리터당 정부 지원금액과 11차 권고 인상폭</a:t>
            </a:r>
          </a:p>
        </p:txBody>
      </p:sp>
      <p:sp>
        <p:nvSpPr>
          <p:cNvPr id="51" name="TextBox 50">
            <a:extLst>
              <a:ext uri="{FF2B5EF4-FFF2-40B4-BE49-F238E27FC236}">
                <a16:creationId xmlns:a16="http://schemas.microsoft.com/office/drawing/2014/main" id="{CBE5BFB5-EF83-40A5-88E8-9DC3A15E40F4}"/>
              </a:ext>
            </a:extLst>
          </p:cNvPr>
          <p:cNvSpPr txBox="1"/>
          <p:nvPr/>
        </p:nvSpPr>
        <p:spPr>
          <a:xfrm>
            <a:off x="1422400" y="4470400"/>
            <a:ext cx="6350000" cy="279400"/>
          </a:xfrm>
          <a:prstGeom prst="rect">
            <a:avLst/>
          </a:prstGeom>
          <a:noFill/>
        </p:spPr>
        <p:txBody>
          <a:bodyPr vertOverflow="overflow" vert="horz" wrap="square" rtlCol="0" anchor="t">
            <a:normAutofit/>
          </a:bodyPr>
          <a:lstStyle/>
          <a:p>
            <a:pPr algn="l"/>
            <a:r>
              <a:rPr lang="ko-KR" altLang="en-US" sz="1100">
                <a:solidFill>
                  <a:srgbClr val="8A95A8"/>
                </a:solidFill>
                <a:latin typeface="맑은 고딕"/>
                <a:ea typeface="맑은 고딕"/>
              </a:rPr>
              <a:t>단위: 원/L · 2026년 10월 10일 국제가·환율 기준</a:t>
            </a:r>
          </a:p>
        </p:txBody>
      </p:sp>
      <p:sp>
        <p:nvSpPr>
          <p:cNvPr id="52" name="직사각형 51">
            <a:extLst>
              <a:ext uri="{FF2B5EF4-FFF2-40B4-BE49-F238E27FC236}">
                <a16:creationId xmlns:a16="http://schemas.microsoft.com/office/drawing/2014/main" id="{4FE0113E-12E0-46A5-8587-C75D8EE6EDD5}"/>
              </a:ext>
            </a:extLst>
          </p:cNvPr>
          <p:cNvSpPr/>
          <p:nvPr/>
        </p:nvSpPr>
        <p:spPr>
          <a:xfrm>
            <a:off x="12471400" y="3784600"/>
            <a:ext cx="4673600" cy="42926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53" name="TextBox 52">
            <a:extLst>
              <a:ext uri="{FF2B5EF4-FFF2-40B4-BE49-F238E27FC236}">
                <a16:creationId xmlns:a16="http://schemas.microsoft.com/office/drawing/2014/main" id="{768B544F-D2A0-4E2A-B7AA-8A886502EECA}"/>
              </a:ext>
            </a:extLst>
          </p:cNvPr>
          <p:cNvSpPr txBox="1"/>
          <p:nvPr/>
        </p:nvSpPr>
        <p:spPr>
          <a:xfrm>
            <a:off x="12903200" y="4165600"/>
            <a:ext cx="2159000" cy="304800"/>
          </a:xfrm>
          <a:prstGeom prst="rect">
            <a:avLst/>
          </a:prstGeom>
          <a:noFill/>
        </p:spPr>
        <p:txBody>
          <a:bodyPr vertOverflow="overflow" vert="horz" wrap="square" rtlCol="0" anchor="t">
            <a:normAutofit/>
          </a:bodyPr>
          <a:lstStyle/>
          <a:p>
            <a:pPr algn="l"/>
            <a:r>
              <a:rPr lang="en-US" altLang="ko-KR" sz="1200" b="1">
                <a:solidFill>
                  <a:srgbClr val="35C6E8"/>
                </a:solidFill>
                <a:latin typeface="맑은 고딕"/>
                <a:ea typeface="맑은 고딕"/>
              </a:rPr>
              <a:t>KEY READ</a:t>
            </a:r>
            <a:endParaRPr lang="ko-KR" altLang="en-US" sz="1200" b="1">
              <a:solidFill>
                <a:srgbClr val="35C6E8"/>
              </a:solidFill>
              <a:latin typeface="맑은 고딕"/>
              <a:ea typeface="맑은 고딕"/>
            </a:endParaRPr>
          </a:p>
        </p:txBody>
      </p:sp>
      <p:sp>
        <p:nvSpPr>
          <p:cNvPr id="54" name="TextBox 53">
            <a:extLst>
              <a:ext uri="{FF2B5EF4-FFF2-40B4-BE49-F238E27FC236}">
                <a16:creationId xmlns:a16="http://schemas.microsoft.com/office/drawing/2014/main" id="{0B10D69C-D225-4C82-A78B-D2AA6F48F43B}"/>
              </a:ext>
            </a:extLst>
          </p:cNvPr>
          <p:cNvSpPr txBox="1"/>
          <p:nvPr/>
        </p:nvSpPr>
        <p:spPr>
          <a:xfrm>
            <a:off x="12903200" y="47498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이번 달 물가</a:t>
            </a:r>
          </a:p>
        </p:txBody>
      </p:sp>
      <p:sp>
        <p:nvSpPr>
          <p:cNvPr id="55" name="TextBox 54">
            <a:extLst>
              <a:ext uri="{FF2B5EF4-FFF2-40B4-BE49-F238E27FC236}">
                <a16:creationId xmlns:a16="http://schemas.microsoft.com/office/drawing/2014/main" id="{D8A5A3AD-07C6-473A-AA2A-E81F80C2C05F}"/>
              </a:ext>
            </a:extLst>
          </p:cNvPr>
          <p:cNvSpPr txBox="1"/>
          <p:nvPr/>
        </p:nvSpPr>
        <p:spPr>
          <a:xfrm>
            <a:off x="12903200" y="5207000"/>
            <a:ext cx="3302000" cy="9906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+0.10%p</a:t>
            </a:r>
          </a:p>
          <a:p>
            <a:pPr algn="l"/>
            <a:r>
              <a:rPr lang="ko-KR" altLang="en-US" sz="1500">
                <a:solidFill>
                  <a:srgbClr val="FFFFFF"/>
                </a:solidFill>
                <a:latin typeface="맑은 고딕"/>
                <a:ea typeface="맑은 고딕"/>
              </a:rPr>
              <a:t>(한도 0.104%p)</a:t>
            </a:r>
          </a:p>
        </p:txBody>
      </p:sp>
      <p:sp>
        <p:nvSpPr>
          <p:cNvPr id="56" name="TextBox 55">
            <a:extLst>
              <a:ext uri="{FF2B5EF4-FFF2-40B4-BE49-F238E27FC236}">
                <a16:creationId xmlns:a16="http://schemas.microsoft.com/office/drawing/2014/main" id="{CF4D7D32-DCD4-4197-ADAB-708F7B3E71BA}"/>
              </a:ext>
            </a:extLst>
          </p:cNvPr>
          <p:cNvSpPr txBox="1"/>
          <p:nvPr/>
        </p:nvSpPr>
        <p:spPr>
          <a:xfrm>
            <a:off x="12903200" y="6477000"/>
            <a:ext cx="3048000" cy="355600"/>
          </a:xfrm>
          <a:prstGeom prst="rect">
            <a:avLst/>
          </a:prstGeom>
          <a:noFill/>
        </p:spPr>
        <p:txBody>
          <a:bodyPr vertOverflow="overflow" vert="horz" wrap="square" rtlCol="0" anchor="t">
            <a:normAutofit/>
          </a:bodyPr>
          <a:lstStyle/>
          <a:p>
            <a:pPr algn="l"/>
            <a:r>
              <a:rPr lang="en-US" altLang="ko-KR" sz="1600" b="1">
                <a:solidFill>
                  <a:srgbClr val="FFFFFF"/>
                </a:solidFill>
                <a:latin typeface="맑은 고딕"/>
                <a:ea typeface="맑은 고딕"/>
              </a:rPr>
              <a:t>정부 지원금 절감</a:t>
            </a:r>
          </a:p>
        </p:txBody>
      </p:sp>
      <p:sp>
        <p:nvSpPr>
          <p:cNvPr id="57" name="TextBox 56">
            <a:extLst>
              <a:ext uri="{FF2B5EF4-FFF2-40B4-BE49-F238E27FC236}">
                <a16:creationId xmlns:a16="http://schemas.microsoft.com/office/drawing/2014/main" id="{F050DC6E-F3A3-48A8-A0B0-16DA1350418B}"/>
              </a:ext>
            </a:extLst>
          </p:cNvPr>
          <p:cNvSpPr txBox="1"/>
          <p:nvPr/>
        </p:nvSpPr>
        <p:spPr>
          <a:xfrm>
            <a:off x="12903200" y="6934200"/>
            <a:ext cx="3302000" cy="736600"/>
          </a:xfrm>
          <a:prstGeom prst="rect">
            <a:avLst/>
          </a:prstGeom>
          <a:noFill/>
        </p:spPr>
        <p:txBody>
          <a:bodyPr vertOverflow="overflow" vert="horz" wrap="square" rtlCol="0" anchor="t">
            <a:normAutofit/>
          </a:bodyPr>
          <a:lstStyle/>
          <a:p>
            <a:pPr algn="l"/>
            <a:r>
              <a:rPr lang="ko-KR" altLang="en-US" sz="1500">
                <a:solidFill>
                  <a:srgbClr val="FFFFFF"/>
                </a:solidFill>
                <a:latin typeface="맑은 고딕"/>
                <a:ea typeface="맑은 고딕"/>
              </a:rPr>
              <a:t>4주 약 1,900억 원</a:t>
            </a:r>
          </a:p>
          <a:p>
            <a:pPr algn="l"/>
            <a:r>
              <a:rPr lang="ko-KR" altLang="en-US" sz="1500">
                <a:solidFill>
                  <a:srgbClr val="FFFFFF"/>
                </a:solidFill>
                <a:latin typeface="맑은 고딕"/>
                <a:ea typeface="맑은 고딕"/>
              </a:rPr>
              <a:t>24주 약 8,622억 원</a:t>
            </a:r>
          </a:p>
        </p:txBody>
      </p:sp>
      <p:sp>
        <p:nvSpPr>
          <p:cNvPr id="58" name="TextBox 57">
            <a:extLst>
              <a:ext uri="{FF2B5EF4-FFF2-40B4-BE49-F238E27FC236}">
                <a16:creationId xmlns:a16="http://schemas.microsoft.com/office/drawing/2014/main" id="{FF7FB84B-F609-45B2-9195-8F8D03392930}"/>
              </a:ext>
            </a:extLst>
          </p:cNvPr>
          <p:cNvSpPr txBox="1"/>
          <p:nvPr/>
        </p:nvSpPr>
        <p:spPr>
          <a:xfrm>
            <a:off x="1066800" y="8864600"/>
            <a:ext cx="14224000" cy="228600"/>
          </a:xfrm>
          <a:prstGeom prst="rect">
            <a:avLst/>
          </a:prstGeom>
          <a:noFill/>
        </p:spPr>
        <p:txBody>
          <a:bodyPr vertOverflow="overflow" vert="horz" wrap="square" rtlCol="0" anchor="t">
            <a:normAutofit lnSpcReduction="10000"/>
          </a:bodyPr>
          <a:lstStyle/>
          <a:p>
            <a:pPr algn="l"/>
            <a:r>
              <a:rPr lang="ko-KR" altLang="en-US" sz="1000">
                <a:solidFill>
                  <a:srgbClr val="98A2B3"/>
                </a:solidFill>
                <a:latin typeface="맑은 고딕"/>
                <a:ea typeface="맑은 고딕"/>
              </a:rPr>
              <a:t>24주 지원금은 미래 유가 500가지의 평균 · 권고 이후 12~16차는 단순 규칙으로 계산</a:t>
            </a:r>
          </a:p>
        </p:txBody>
      </p:sp>
      <p:graphicFrame>
        <p:nvGraphicFramePr>
          <p:cNvPr id="59" name="Chart 58"/>
          <p:cNvGraphicFramePr>
            <a:graphicFrameLocks noGrp="1"/>
          </p:cNvGraphicFramePr>
          <p:nvPr/>
        </p:nvGraphicFramePr>
        <p:xfrm>
          <a:off x="1280160" y="4800600"/>
          <a:ext cx="10561320" cy="3200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85963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직사각형 21">
            <a:extLst>
              <a:ext uri="{FF2B5EF4-FFF2-40B4-BE49-F238E27FC236}">
                <a16:creationId xmlns:a16="http://schemas.microsoft.com/office/drawing/2014/main" id="{F628EFC1-30C9-4825-9596-AD27960EEC90}"/>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3" name="직사각형 22">
            <a:extLst>
              <a:ext uri="{FF2B5EF4-FFF2-40B4-BE49-F238E27FC236}">
                <a16:creationId xmlns:a16="http://schemas.microsoft.com/office/drawing/2014/main" id="{7411966F-6FBF-4A02-8659-3C8C2B285D10}"/>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4" name="직사각형 23">
            <a:extLst>
              <a:ext uri="{FF2B5EF4-FFF2-40B4-BE49-F238E27FC236}">
                <a16:creationId xmlns:a16="http://schemas.microsoft.com/office/drawing/2014/main" id="{B45350B3-64B6-479A-929B-199E27D5AB56}"/>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5" name="TextBox 24">
            <a:extLst>
              <a:ext uri="{FF2B5EF4-FFF2-40B4-BE49-F238E27FC236}">
                <a16:creationId xmlns:a16="http://schemas.microsoft.com/office/drawing/2014/main" id="{3C99F5B0-4C3F-48D3-BD98-FA1E2F1AA710}"/>
              </a:ext>
            </a:extLst>
          </p:cNvPr>
          <p:cNvSpPr txBox="1"/>
          <p:nvPr/>
        </p:nvSpPr>
        <p:spPr>
          <a:xfrm>
            <a:off x="1092200" y="1841500"/>
            <a:ext cx="6604000" cy="304800"/>
          </a:xfrm>
          <a:prstGeom prst="rect">
            <a:avLst/>
          </a:prstGeom>
          <a:noFill/>
        </p:spPr>
        <p:txBody>
          <a:bodyPr vertOverflow="overflow" vert="horz" wrap="square" rtlCol="0" anchor="t">
            <a:normAutofit/>
          </a:bodyPr>
          <a:lstStyle/>
          <a:p>
            <a:pPr algn="l"/>
            <a:r>
              <a:rPr lang="en-US" altLang="ko-KR" sz="1400">
                <a:solidFill>
                  <a:srgbClr val="8A8F98"/>
                </a:solidFill>
                <a:latin typeface="맑은 고딕"/>
                <a:ea typeface="맑은 고딕"/>
              </a:rPr>
              <a:t>RESULT · COMPARISON</a:t>
            </a:r>
            <a:endParaRPr lang="ko-KR" altLang="en-US" sz="1400">
              <a:solidFill>
                <a:srgbClr val="8A8F98"/>
              </a:solidFill>
              <a:latin typeface="맑은 고딕"/>
              <a:ea typeface="맑은 고딕"/>
            </a:endParaRPr>
          </a:p>
        </p:txBody>
      </p:sp>
      <p:sp>
        <p:nvSpPr>
          <p:cNvPr id="26" name="TextBox 25">
            <a:extLst>
              <a:ext uri="{FF2B5EF4-FFF2-40B4-BE49-F238E27FC236}">
                <a16:creationId xmlns:a16="http://schemas.microsoft.com/office/drawing/2014/main" id="{FF75ABED-102C-4D9B-8C97-6891BE69578F}"/>
              </a:ext>
            </a:extLst>
          </p:cNvPr>
          <p:cNvSpPr txBox="1"/>
          <p:nvPr/>
        </p:nvSpPr>
        <p:spPr>
          <a:xfrm>
            <a:off x="1041400" y="2286000"/>
            <a:ext cx="14986000" cy="914400"/>
          </a:xfrm>
          <a:prstGeom prst="rect">
            <a:avLst/>
          </a:prstGeom>
          <a:noFill/>
        </p:spPr>
        <p:txBody>
          <a:bodyPr vertOverflow="overflow" vert="horz" wrap="square" rtlCol="0" anchor="t">
            <a:normAutofit/>
          </a:bodyPr>
          <a:lstStyle/>
          <a:p>
            <a:pPr algn="l"/>
            <a:r>
              <a:rPr lang="ko-KR" altLang="en-US" sz="2900" b="1">
                <a:solidFill>
                  <a:srgbClr val="101828"/>
                </a:solidFill>
                <a:latin typeface="맑은 고딕"/>
                <a:ea typeface="맑은 고딕"/>
              </a:rPr>
              <a:t>권고대로 하면 앞으로 24주 정부 지원금이 약 8,622억 원 줄어듭니다</a:t>
            </a:r>
          </a:p>
        </p:txBody>
      </p:sp>
      <p:sp>
        <p:nvSpPr>
          <p:cNvPr id="27" name="직사각형 26">
            <a:extLst>
              <a:ext uri="{FF2B5EF4-FFF2-40B4-BE49-F238E27FC236}">
                <a16:creationId xmlns:a16="http://schemas.microsoft.com/office/drawing/2014/main" id="{B0C3A62E-3D03-47CB-A204-B5E2678E47A1}"/>
              </a:ext>
            </a:extLst>
          </p:cNvPr>
          <p:cNvSpPr/>
          <p:nvPr/>
        </p:nvSpPr>
        <p:spPr>
          <a:xfrm>
            <a:off x="1143000" y="3873500"/>
            <a:ext cx="7175500" cy="36830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8" name="직사각형 27">
            <a:extLst>
              <a:ext uri="{FF2B5EF4-FFF2-40B4-BE49-F238E27FC236}">
                <a16:creationId xmlns:a16="http://schemas.microsoft.com/office/drawing/2014/main" id="{4CDD8CDB-C100-49F4-A244-BADBA5B22002}"/>
              </a:ext>
            </a:extLst>
          </p:cNvPr>
          <p:cNvSpPr/>
          <p:nvPr/>
        </p:nvSpPr>
        <p:spPr>
          <a:xfrm>
            <a:off x="9969500" y="3873500"/>
            <a:ext cx="7175500" cy="3683000"/>
          </a:xfrm>
          <a:prstGeom prst="rect">
            <a:avLst/>
          </a:prstGeom>
          <a:solidFill>
            <a:srgbClr val="10182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9" name="TextBox 28">
            <a:extLst>
              <a:ext uri="{FF2B5EF4-FFF2-40B4-BE49-F238E27FC236}">
                <a16:creationId xmlns:a16="http://schemas.microsoft.com/office/drawing/2014/main" id="{7FE451E6-81F0-4148-8983-78271A2899C8}"/>
              </a:ext>
            </a:extLst>
          </p:cNvPr>
          <p:cNvSpPr txBox="1"/>
          <p:nvPr/>
        </p:nvSpPr>
        <p:spPr>
          <a:xfrm>
            <a:off x="1524000" y="4254500"/>
            <a:ext cx="2794000" cy="330200"/>
          </a:xfrm>
          <a:prstGeom prst="rect">
            <a:avLst/>
          </a:prstGeom>
          <a:noFill/>
        </p:spPr>
        <p:txBody>
          <a:bodyPr vertOverflow="overflow" vert="horz" wrap="square" rtlCol="0" anchor="t">
            <a:normAutofit/>
          </a:bodyPr>
          <a:lstStyle/>
          <a:p>
            <a:pPr algn="l"/>
            <a:r>
              <a:rPr lang="en-US" altLang="ko-KR" sz="1400" b="1">
                <a:solidFill>
                  <a:srgbClr val="4775FF"/>
                </a:solidFill>
                <a:latin typeface="맑은 고딕"/>
                <a:ea typeface="맑은 고딕"/>
              </a:rPr>
              <a:t>OPTION A</a:t>
            </a:r>
            <a:endParaRPr lang="ko-KR" altLang="en-US" sz="1400" b="1">
              <a:solidFill>
                <a:srgbClr val="4775FF"/>
              </a:solidFill>
              <a:latin typeface="맑은 고딕"/>
              <a:ea typeface="맑은 고딕"/>
            </a:endParaRPr>
          </a:p>
        </p:txBody>
      </p:sp>
      <p:sp>
        <p:nvSpPr>
          <p:cNvPr id="30" name="TextBox 29">
            <a:extLst>
              <a:ext uri="{FF2B5EF4-FFF2-40B4-BE49-F238E27FC236}">
                <a16:creationId xmlns:a16="http://schemas.microsoft.com/office/drawing/2014/main" id="{699FC475-799A-4373-B94C-45314B64CF3D}"/>
              </a:ext>
            </a:extLst>
          </p:cNvPr>
          <p:cNvSpPr txBox="1"/>
          <p:nvPr/>
        </p:nvSpPr>
        <p:spPr>
          <a:xfrm>
            <a:off x="1524000" y="4762500"/>
            <a:ext cx="3810000" cy="533400"/>
          </a:xfrm>
          <a:prstGeom prst="rect">
            <a:avLst/>
          </a:prstGeom>
          <a:noFill/>
        </p:spPr>
        <p:txBody>
          <a:bodyPr vertOverflow="overflow" vert="horz" wrap="square" rtlCol="0" anchor="t">
            <a:normAutofit/>
          </a:bodyPr>
          <a:lstStyle/>
          <a:p>
            <a:pPr algn="l"/>
            <a:r>
              <a:rPr lang="ko-KR" altLang="en-US" sz="2300" b="1">
                <a:solidFill>
                  <a:srgbClr val="101828"/>
                </a:solidFill>
                <a:latin typeface="맑은 고딕"/>
                <a:ea typeface="맑은 고딕"/>
              </a:rPr>
              <a:t>그대로 두면 (동결)</a:t>
            </a:r>
          </a:p>
        </p:txBody>
      </p:sp>
      <p:sp>
        <p:nvSpPr>
          <p:cNvPr id="31" name="TextBox 30">
            <a:extLst>
              <a:ext uri="{FF2B5EF4-FFF2-40B4-BE49-F238E27FC236}">
                <a16:creationId xmlns:a16="http://schemas.microsoft.com/office/drawing/2014/main" id="{105F65C2-3F0E-4FC6-837C-DCAA8A37C443}"/>
              </a:ext>
            </a:extLst>
          </p:cNvPr>
          <p:cNvSpPr txBox="1"/>
          <p:nvPr/>
        </p:nvSpPr>
        <p:spPr>
          <a:xfrm>
            <a:off x="1524000" y="5524500"/>
            <a:ext cx="5778500" cy="1587500"/>
          </a:xfrm>
          <a:prstGeom prst="rect">
            <a:avLst/>
          </a:prstGeom>
          <a:noFill/>
        </p:spPr>
        <p:txBody>
          <a:bodyPr vertOverflow="overflow" vert="horz" wrap="square" rtlCol="0" anchor="t">
            <a:normAutofit/>
          </a:bodyPr>
          <a:lstStyle/>
          <a:p>
            <a:pPr algn="l"/>
            <a:r>
              <a:rPr lang="en-US" altLang="ko-KR" sz="1600">
                <a:solidFill>
                  <a:srgbClr val="8A8F98"/>
                </a:solidFill>
                <a:latin typeface="맑은 고딕"/>
                <a:ea typeface="맑은 고딕"/>
              </a:rPr>
              <a:t>• 조정 폭: 세 유종 모두 0원</a:t>
            </a:r>
          </a:p>
          <a:p>
            <a:pPr algn="l"/>
            <a:r>
              <a:rPr lang="en-US" altLang="ko-KR" sz="1600">
                <a:solidFill>
                  <a:srgbClr val="8A8F98"/>
                </a:solidFill>
                <a:latin typeface="맑은 고딕"/>
                <a:ea typeface="맑은 고딕"/>
              </a:rPr>
              <a:t>• 이번 달 물가: 변화 없음</a:t>
            </a:r>
          </a:p>
          <a:p>
            <a:pPr algn="l"/>
            <a:r>
              <a:rPr lang="en-US" altLang="ko-KR" sz="1600">
                <a:solidFill>
                  <a:srgbClr val="8A8F98"/>
                </a:solidFill>
                <a:latin typeface="맑은 고딕"/>
                <a:ea typeface="맑은 고딕"/>
              </a:rPr>
              <a:t>• 24주 정부 지원금: 5.72조 원</a:t>
            </a:r>
          </a:p>
          <a:p>
            <a:pPr algn="l"/>
            <a:r>
              <a:rPr lang="en-US" altLang="ko-KR" sz="1600">
                <a:solidFill>
                  <a:srgbClr val="8A8F98"/>
                </a:solidFill>
                <a:latin typeface="맑은 고딕"/>
                <a:ea typeface="맑은 고딕"/>
              </a:rPr>
              <a:t>• 지원금액이 계속 커지면 부담도 계속 커짐</a:t>
            </a:r>
          </a:p>
        </p:txBody>
      </p:sp>
      <p:sp>
        <p:nvSpPr>
          <p:cNvPr id="32" name="TextBox 31">
            <a:extLst>
              <a:ext uri="{FF2B5EF4-FFF2-40B4-BE49-F238E27FC236}">
                <a16:creationId xmlns:a16="http://schemas.microsoft.com/office/drawing/2014/main" id="{1D78531E-365C-45CF-90EB-885B049C2791}"/>
              </a:ext>
            </a:extLst>
          </p:cNvPr>
          <p:cNvSpPr txBox="1"/>
          <p:nvPr/>
        </p:nvSpPr>
        <p:spPr>
          <a:xfrm>
            <a:off x="10350500" y="4254500"/>
            <a:ext cx="3048000" cy="330200"/>
          </a:xfrm>
          <a:prstGeom prst="rect">
            <a:avLst/>
          </a:prstGeom>
          <a:noFill/>
        </p:spPr>
        <p:txBody>
          <a:bodyPr vertOverflow="overflow" vert="horz" wrap="square" rtlCol="0" anchor="t">
            <a:normAutofit/>
          </a:bodyPr>
          <a:lstStyle/>
          <a:p>
            <a:pPr algn="l"/>
            <a:r>
              <a:rPr lang="en-US" altLang="ko-KR" sz="1400" b="1">
                <a:solidFill>
                  <a:srgbClr val="39C6E8"/>
                </a:solidFill>
                <a:latin typeface="맑은 고딕"/>
                <a:ea typeface="맑은 고딕"/>
              </a:rPr>
              <a:t>OPTION B · 권고</a:t>
            </a:r>
            <a:endParaRPr lang="ko-KR" altLang="en-US" sz="1400" b="1">
              <a:solidFill>
                <a:srgbClr val="39C6E8"/>
              </a:solidFill>
              <a:latin typeface="맑은 고딕"/>
              <a:ea typeface="맑은 고딕"/>
            </a:endParaRPr>
          </a:p>
        </p:txBody>
      </p:sp>
      <p:sp>
        <p:nvSpPr>
          <p:cNvPr id="33" name="TextBox 32">
            <a:extLst>
              <a:ext uri="{FF2B5EF4-FFF2-40B4-BE49-F238E27FC236}">
                <a16:creationId xmlns:a16="http://schemas.microsoft.com/office/drawing/2014/main" id="{CF9771C5-94F3-4D3E-9E76-5B356E32BAAF}"/>
              </a:ext>
            </a:extLst>
          </p:cNvPr>
          <p:cNvSpPr txBox="1"/>
          <p:nvPr/>
        </p:nvSpPr>
        <p:spPr>
          <a:xfrm>
            <a:off x="10350500" y="4762500"/>
            <a:ext cx="4191000" cy="533400"/>
          </a:xfrm>
          <a:prstGeom prst="rect">
            <a:avLst/>
          </a:prstGeom>
          <a:noFill/>
        </p:spPr>
        <p:txBody>
          <a:bodyPr vertOverflow="overflow" vert="horz" wrap="square" rtlCol="0" anchor="t">
            <a:normAutofit/>
          </a:bodyPr>
          <a:lstStyle/>
          <a:p>
            <a:pPr algn="l"/>
            <a:r>
              <a:rPr lang="ko-KR" altLang="en-US" sz="2300" b="1">
                <a:solidFill>
                  <a:srgbClr val="FFFFFF"/>
                </a:solidFill>
                <a:latin typeface="맑은 고딕"/>
                <a:ea typeface="맑은 고딕"/>
              </a:rPr>
              <a:t>11차 권고대로 하면</a:t>
            </a:r>
          </a:p>
        </p:txBody>
      </p:sp>
      <p:sp>
        <p:nvSpPr>
          <p:cNvPr id="34" name="TextBox 33">
            <a:extLst>
              <a:ext uri="{FF2B5EF4-FFF2-40B4-BE49-F238E27FC236}">
                <a16:creationId xmlns:a16="http://schemas.microsoft.com/office/drawing/2014/main" id="{54857946-647A-4188-B979-8F5D0BDA6A26}"/>
              </a:ext>
            </a:extLst>
          </p:cNvPr>
          <p:cNvSpPr txBox="1"/>
          <p:nvPr/>
        </p:nvSpPr>
        <p:spPr>
          <a:xfrm>
            <a:off x="10350500" y="5524500"/>
            <a:ext cx="5778500" cy="1714500"/>
          </a:xfrm>
          <a:prstGeom prst="rect">
            <a:avLst/>
          </a:prstGeom>
          <a:noFill/>
        </p:spPr>
        <p:txBody>
          <a:bodyPr vertOverflow="overflow" vert="horz" wrap="square" rtlCol="0" anchor="t">
            <a:normAutofit/>
          </a:bodyPr>
          <a:lstStyle/>
          <a:p>
            <a:pPr algn="l"/>
            <a:r>
              <a:rPr lang="en-US" altLang="ko-KR" sz="1600">
                <a:solidFill>
                  <a:srgbClr val="FFFFFF"/>
                </a:solidFill>
                <a:latin typeface="맑은 고딕"/>
                <a:ea typeface="맑은 고딕"/>
              </a:rPr>
              <a:t>• 휘발유 +30원 · 경유 +90원 · 등유 +120원</a:t>
            </a:r>
          </a:p>
          <a:p>
            <a:pPr algn="l"/>
            <a:r>
              <a:rPr lang="en-US" altLang="ko-KR" sz="1600">
                <a:solidFill>
                  <a:srgbClr val="FFFFFF"/>
                </a:solidFill>
                <a:latin typeface="맑은 고딕"/>
                <a:ea typeface="맑은 고딕"/>
              </a:rPr>
              <a:t>• 이번 달 물가: +0.10%p</a:t>
            </a:r>
          </a:p>
          <a:p>
            <a:pPr algn="l"/>
            <a:r>
              <a:rPr lang="en-US" altLang="ko-KR" sz="1600">
                <a:solidFill>
                  <a:srgbClr val="FFFFFF"/>
                </a:solidFill>
                <a:latin typeface="맑은 고딕"/>
                <a:ea typeface="맑은 고딕"/>
              </a:rPr>
              <a:t>• 24주 정부 지원금: 4.86조 원</a:t>
            </a:r>
          </a:p>
          <a:p>
            <a:pPr algn="l"/>
            <a:r>
              <a:rPr lang="en-US" altLang="ko-KR" sz="1600">
                <a:solidFill>
                  <a:srgbClr val="FFFFFF"/>
                </a:solidFill>
                <a:latin typeface="맑은 고딕"/>
                <a:ea typeface="맑은 고딕"/>
              </a:rPr>
              <a:t>• 4주 절감 약 1,900억 원</a:t>
            </a:r>
          </a:p>
        </p:txBody>
      </p:sp>
      <p:sp>
        <p:nvSpPr>
          <p:cNvPr id="35" name="사각형: 둥근 모서리 34">
            <a:extLst>
              <a:ext uri="{FF2B5EF4-FFF2-40B4-BE49-F238E27FC236}">
                <a16:creationId xmlns:a16="http://schemas.microsoft.com/office/drawing/2014/main" id="{C34C24FE-BBB8-4513-B377-F826B147E73E}"/>
              </a:ext>
            </a:extLst>
          </p:cNvPr>
          <p:cNvSpPr/>
          <p:nvPr/>
        </p:nvSpPr>
        <p:spPr>
          <a:xfrm>
            <a:off x="8572500" y="5207000"/>
            <a:ext cx="1143000" cy="889000"/>
          </a:xfrm>
          <a:prstGeom prst="roundRect">
            <a:avLst/>
          </a:prstGeom>
          <a:solidFill>
            <a:srgbClr val="EAF0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6" name="TextBox 35">
            <a:extLst>
              <a:ext uri="{FF2B5EF4-FFF2-40B4-BE49-F238E27FC236}">
                <a16:creationId xmlns:a16="http://schemas.microsoft.com/office/drawing/2014/main" id="{FF2DDAE0-4A67-47D5-B72F-23A8297615CF}"/>
              </a:ext>
            </a:extLst>
          </p:cNvPr>
          <p:cNvSpPr txBox="1"/>
          <p:nvPr/>
        </p:nvSpPr>
        <p:spPr>
          <a:xfrm>
            <a:off x="8763000" y="5435600"/>
            <a:ext cx="762000" cy="431800"/>
          </a:xfrm>
          <a:prstGeom prst="rect">
            <a:avLst/>
          </a:prstGeom>
          <a:noFill/>
        </p:spPr>
        <p:txBody>
          <a:bodyPr vertOverflow="overflow" vert="horz" wrap="square" rtlCol="0" anchor="t">
            <a:normAutofit/>
          </a:bodyPr>
          <a:lstStyle/>
          <a:p>
            <a:pPr algn="l"/>
            <a:r>
              <a:rPr lang="en-US" altLang="ko-KR" sz="2200" b="1">
                <a:solidFill>
                  <a:srgbClr val="4775FF"/>
                </a:solidFill>
                <a:latin typeface="맑은 고딕"/>
                <a:ea typeface="맑은 고딕"/>
              </a:rPr>
              <a:t>VS</a:t>
            </a:r>
            <a:endParaRPr lang="ko-KR" altLang="en-US" sz="2200" b="1">
              <a:solidFill>
                <a:srgbClr val="4775FF"/>
              </a:solidFill>
              <a:latin typeface="맑은 고딕"/>
              <a:ea typeface="맑은 고딕"/>
            </a:endParaRPr>
          </a:p>
        </p:txBody>
      </p:sp>
      <p:sp>
        <p:nvSpPr>
          <p:cNvPr id="37" name="TextBox 36">
            <a:extLst>
              <a:ext uri="{FF2B5EF4-FFF2-40B4-BE49-F238E27FC236}">
                <a16:creationId xmlns:a16="http://schemas.microsoft.com/office/drawing/2014/main" id="{94BA267F-BCBF-45A4-9378-455B6D58440C}"/>
              </a:ext>
            </a:extLst>
          </p:cNvPr>
          <p:cNvSpPr txBox="1"/>
          <p:nvPr/>
        </p:nvSpPr>
        <p:spPr>
          <a:xfrm>
            <a:off x="2984500" y="8255000"/>
            <a:ext cx="12319000" cy="381000"/>
          </a:xfrm>
          <a:prstGeom prst="rect">
            <a:avLst/>
          </a:prstGeom>
          <a:noFill/>
        </p:spPr>
        <p:txBody>
          <a:bodyPr vertOverflow="overflow" vert="horz" wrap="square" rtlCol="0" anchor="t">
            <a:normAutofit/>
          </a:bodyPr>
          <a:lstStyle/>
          <a:p>
            <a:pPr algn="l"/>
            <a:r>
              <a:rPr lang="ko-KR" altLang="en-US" sz="1500" b="1">
                <a:solidFill>
                  <a:srgbClr val="101828"/>
                </a:solidFill>
                <a:latin typeface="맑은 고딕"/>
                <a:ea typeface="맑은 고딕"/>
              </a:rPr>
              <a:t>차이  |  물가 +0.10%p를 감수하면, 24주 지원금 5.72조 → 4.86조 원 (약 8,622억 원 감소)</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63758B8A-D2CB-4904-8405-3C266E156253}"/>
              </a:ext>
            </a:extLst>
          </p:cNvPr>
          <p:cNvSpPr/>
          <p:nvPr/>
        </p:nvSpPr>
        <p:spPr>
          <a:xfrm>
            <a:off x="2209800" y="914400"/>
            <a:ext cx="13017500" cy="25400"/>
          </a:xfrm>
          <a:prstGeom prst="rect">
            <a:avLst/>
          </a:prstGeom>
          <a:solidFill>
            <a:srgbClr val="D5D9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1" name="직사각형 10">
            <a:extLst>
              <a:ext uri="{FF2B5EF4-FFF2-40B4-BE49-F238E27FC236}">
                <a16:creationId xmlns:a16="http://schemas.microsoft.com/office/drawing/2014/main" id="{5FC8246C-1016-47F6-A409-02D5AE647671}"/>
              </a:ext>
            </a:extLst>
          </p:cNvPr>
          <p:cNvSpPr/>
          <p:nvPr/>
        </p:nvSpPr>
        <p:spPr>
          <a:xfrm>
            <a:off x="1981200" y="914400"/>
            <a:ext cx="228600" cy="25400"/>
          </a:xfrm>
          <a:prstGeom prst="rect">
            <a:avLst/>
          </a:prstGeom>
          <a:solidFill>
            <a:srgbClr val="4B73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10" name="직사각형 9">
            <a:extLst>
              <a:ext uri="{FF2B5EF4-FFF2-40B4-BE49-F238E27FC236}">
                <a16:creationId xmlns:a16="http://schemas.microsoft.com/office/drawing/2014/main" id="{AB979976-B798-4653-8D26-F1AD5A5A9D5F}"/>
              </a:ext>
            </a:extLst>
          </p:cNvPr>
          <p:cNvSpPr/>
          <p:nvPr/>
        </p:nvSpPr>
        <p:spPr>
          <a:xfrm>
            <a:off x="1041400" y="914400"/>
            <a:ext cx="939800" cy="25400"/>
          </a:xfrm>
          <a:prstGeom prst="rect">
            <a:avLst/>
          </a:prstGeom>
          <a:solidFill>
            <a:srgbClr val="AAB2B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 name="TextBox 1">
            <a:extLst>
              <a:ext uri="{FF2B5EF4-FFF2-40B4-BE49-F238E27FC236}">
                <a16:creationId xmlns:a16="http://schemas.microsoft.com/office/drawing/2014/main" id="{5B249AD2-A634-4FF4-A5FD-02DFDC7EEE14}"/>
              </a:ext>
            </a:extLst>
          </p:cNvPr>
          <p:cNvSpPr txBox="1"/>
          <p:nvPr/>
        </p:nvSpPr>
        <p:spPr>
          <a:xfrm>
            <a:off x="1092200" y="1587500"/>
            <a:ext cx="6604000" cy="304800"/>
          </a:xfrm>
          <a:prstGeom prst="rect">
            <a:avLst/>
          </a:prstGeom>
          <a:noFill/>
        </p:spPr>
        <p:txBody>
          <a:bodyPr vertOverflow="overflow" vert="horz" wrap="square" rtlCol="0" anchor="t">
            <a:normAutofit/>
          </a:bodyPr>
          <a:lstStyle/>
          <a:p>
            <a:pPr algn="l"/>
            <a:r>
              <a:rPr lang="en-US" altLang="ko-KR" sz="1200">
                <a:solidFill>
                  <a:srgbClr val="8793A6"/>
                </a:solidFill>
                <a:latin typeface="맑은 고딕"/>
                <a:ea typeface="맑은 고딕"/>
              </a:rPr>
              <a:t>ROBUSTNESS CHECK</a:t>
            </a:r>
            <a:endParaRPr lang="ko-KR" altLang="en-US" sz="1200">
              <a:solidFill>
                <a:srgbClr val="8793A6"/>
              </a:solidFill>
              <a:latin typeface="맑은 고딕"/>
              <a:ea typeface="맑은 고딕"/>
            </a:endParaRPr>
          </a:p>
        </p:txBody>
      </p:sp>
      <p:sp>
        <p:nvSpPr>
          <p:cNvPr id="3" name="TextBox 2">
            <a:extLst>
              <a:ext uri="{FF2B5EF4-FFF2-40B4-BE49-F238E27FC236}">
                <a16:creationId xmlns:a16="http://schemas.microsoft.com/office/drawing/2014/main" id="{6150B34A-0FDE-43DE-A97C-B100231566BB}"/>
              </a:ext>
            </a:extLst>
          </p:cNvPr>
          <p:cNvSpPr txBox="1"/>
          <p:nvPr/>
        </p:nvSpPr>
        <p:spPr>
          <a:xfrm>
            <a:off x="1041400" y="2082800"/>
            <a:ext cx="15494000" cy="838200"/>
          </a:xfrm>
          <a:prstGeom prst="rect">
            <a:avLst/>
          </a:prstGeom>
          <a:noFill/>
        </p:spPr>
        <p:txBody>
          <a:bodyPr vertOverflow="overflow" vert="horz" wrap="square" rtlCol="0" anchor="t">
            <a:normAutofit/>
          </a:bodyPr>
          <a:lstStyle/>
          <a:p>
            <a:pPr algn="l"/>
            <a:r>
              <a:rPr lang="ko-KR" altLang="en-US" sz="2700" b="1">
                <a:solidFill>
                  <a:srgbClr val="0F1A2E"/>
                </a:solidFill>
                <a:latin typeface="맑은 고딕"/>
                <a:ea typeface="맑은 고딕"/>
              </a:rPr>
              <a:t>조건을 바꿔도 '휘발유는 적게, 경유·등유는 많이' 올리는 방향은 같습니다</a:t>
            </a:r>
          </a:p>
        </p:txBody>
      </p:sp>
      <p:sp>
        <p:nvSpPr>
          <p:cNvPr id="4" name="TextBox 3">
            <a:extLst>
              <a:ext uri="{FF2B5EF4-FFF2-40B4-BE49-F238E27FC236}">
                <a16:creationId xmlns:a16="http://schemas.microsoft.com/office/drawing/2014/main" id="{D54FA0F1-B53F-4078-BDE6-1DDB55D4D4E2}"/>
              </a:ext>
            </a:extLst>
          </p:cNvPr>
          <p:cNvSpPr txBox="1"/>
          <p:nvPr/>
        </p:nvSpPr>
        <p:spPr>
          <a:xfrm>
            <a:off x="1092200" y="3022600"/>
            <a:ext cx="14732000" cy="406400"/>
          </a:xfrm>
          <a:prstGeom prst="rect">
            <a:avLst/>
          </a:prstGeom>
          <a:noFill/>
        </p:spPr>
        <p:txBody>
          <a:bodyPr vertOverflow="overflow" vert="horz" wrap="square" rtlCol="0" anchor="t">
            <a:normAutofit/>
          </a:bodyPr>
          <a:lstStyle/>
          <a:p>
            <a:pPr algn="l"/>
            <a:r>
              <a:rPr lang="ko-KR" altLang="en-US" sz="1400">
                <a:solidFill>
                  <a:srgbClr val="8A95A8"/>
                </a:solidFill>
                <a:latin typeface="맑은 고딕"/>
                <a:ea typeface="맑은 고딕"/>
              </a:rPr>
              <a:t>확실하지 않은 설정 7가지를 하나씩 바꿔 11차 권고를 다시 계산했습니다.</a:t>
            </a:r>
          </a:p>
        </p:txBody>
      </p:sp>
      <p:graphicFrame>
        <p:nvGraphicFramePr>
          <p:cNvPr id="6" name="표 5">
            <a:extLst>
              <a:ext uri="{FF2B5EF4-FFF2-40B4-BE49-F238E27FC236}">
                <a16:creationId xmlns:a16="http://schemas.microsoft.com/office/drawing/2014/main" id="{FEBDE2B4-58BE-43CD-8717-7231B3C2A29D}"/>
              </a:ext>
            </a:extLst>
          </p:cNvPr>
          <p:cNvGraphicFramePr>
            <a:graphicFrameLocks noGrp="1"/>
          </p:cNvGraphicFramePr>
          <p:nvPr/>
        </p:nvGraphicFramePr>
        <p:xfrm>
          <a:off x="1041400" y="3810000"/>
          <a:ext cx="15489936" cy="4114800"/>
        </p:xfrm>
        <a:graphic>
          <a:graphicData uri="http://schemas.openxmlformats.org/drawingml/2006/table">
            <a:tbl>
              <a:tblPr firstRow="1" bandRow="1">
                <a:tableStyleId>{5C22544A-7EE6-4342-B048-85BDC9FD1C3A}</a:tableStyleId>
              </a:tblPr>
              <a:tblGrid>
                <a:gridCol w="6583680">
                  <a:extLst>
                    <a:ext uri="{9D8B030D-6E8A-4147-A177-3AD203B41FA5}">
                      <a16:colId xmlns:a16="http://schemas.microsoft.com/office/drawing/2014/main" val="3450302534"/>
                    </a:ext>
                  </a:extLst>
                </a:gridCol>
                <a:gridCol w="5486400">
                  <a:extLst>
                    <a:ext uri="{9D8B030D-6E8A-4147-A177-3AD203B41FA5}">
                      <a16:colId xmlns:a16="http://schemas.microsoft.com/office/drawing/2014/main" val="899399516"/>
                    </a:ext>
                  </a:extLst>
                </a:gridCol>
                <a:gridCol w="3419856">
                  <a:extLst>
                    <a:ext uri="{9D8B030D-6E8A-4147-A177-3AD203B41FA5}">
                      <a16:colId xmlns:a16="http://schemas.microsoft.com/office/drawing/2014/main" val="2422752179"/>
                    </a:ext>
                  </a:extLst>
                </a:gridCol>
              </a:tblGrid>
              <a:tr h="457200">
                <a:tc>
                  <a:txBody>
                    <a:bodyPr/>
                    <a:lstStyle/>
                    <a:p>
                      <a:pPr algn="l"/>
                      <a:r>
                        <a:rPr lang="ko-KR" altLang="en-US" sz="1400" b="1">
                          <a:solidFill>
                            <a:srgbClr val="FFFFFF"/>
                          </a:solidFill>
                          <a:latin typeface="Malgun Gothic"/>
                          <a:ea typeface="Malgun Gothic"/>
                        </a:rPr>
                        <a:t>바꾼 조건</a:t>
                      </a:r>
                    </a:p>
                  </a:txBody>
                  <a:tcPr anchor="ctr">
                    <a:solidFill>
                      <a:srgbClr val="0F1A2E"/>
                    </a:solidFill>
                  </a:tcPr>
                </a:tc>
                <a:tc>
                  <a:txBody>
                    <a:bodyPr/>
                    <a:lstStyle/>
                    <a:p>
                      <a:pPr algn="ctr"/>
                      <a:r>
                        <a:rPr lang="ko-KR" altLang="en-US" sz="1400" b="1">
                          <a:solidFill>
                            <a:srgbClr val="FFFFFF"/>
                          </a:solidFill>
                          <a:latin typeface="Malgun Gothic"/>
                          <a:ea typeface="Malgun Gothic"/>
                        </a:rPr>
                        <a:t>11차 권고 (휘발유 / 경유 / 등유)</a:t>
                      </a:r>
                    </a:p>
                  </a:txBody>
                  <a:tcPr anchor="ctr">
                    <a:solidFill>
                      <a:srgbClr val="4B73FF"/>
                    </a:solidFill>
                  </a:tcPr>
                </a:tc>
                <a:tc>
                  <a:txBody>
                    <a:bodyPr/>
                    <a:lstStyle/>
                    <a:p>
                      <a:pPr algn="ctr"/>
                      <a:r>
                        <a:rPr lang="ko-KR" altLang="en-US" sz="1400" b="1">
                          <a:solidFill>
                            <a:srgbClr val="FFFFFF"/>
                          </a:solidFill>
                          <a:latin typeface="Malgun Gothic"/>
                          <a:ea typeface="Malgun Gothic"/>
                        </a:rPr>
                        <a:t>휘발유가 가장 적게?</a:t>
                      </a:r>
                    </a:p>
                  </a:txBody>
                  <a:tcPr anchor="ctr">
                    <a:solidFill>
                      <a:srgbClr val="35C6E8"/>
                    </a:solidFill>
                  </a:tcPr>
                </a:tc>
                <a:extLst>
                  <a:ext uri="{0D108BD9-81ED-4DB2-BD59-A6C34878D82A}">
                    <a16:rowId xmlns:a16="http://schemas.microsoft.com/office/drawing/2014/main" val="879123634"/>
                  </a:ext>
                </a:extLst>
              </a:tr>
              <a:tr h="457200">
                <a:tc>
                  <a:txBody>
                    <a:bodyPr/>
                    <a:lstStyle/>
                    <a:p>
                      <a:pPr algn="l"/>
                      <a:r>
                        <a:rPr lang="ko-KR" altLang="en-US" sz="1400" b="1">
                          <a:solidFill>
                            <a:srgbClr val="0F1A2E"/>
                          </a:solidFill>
                          <a:latin typeface="Malgun Gothic"/>
                          <a:ea typeface="Malgun Gothic"/>
                        </a:rPr>
                        <a:t>기본 설정</a:t>
                      </a:r>
                    </a:p>
                  </a:txBody>
                  <a:tcPr anchor="ctr">
                    <a:solidFill>
                      <a:srgbClr val="EEF3FF"/>
                    </a:solidFill>
                  </a:tcPr>
                </a:tc>
                <a:tc>
                  <a:txBody>
                    <a:bodyPr/>
                    <a:lstStyle/>
                    <a:p>
                      <a:pPr algn="ctr"/>
                      <a:r>
                        <a:rPr lang="ko-KR" altLang="en-US" sz="1400" b="1">
                          <a:solidFill>
                            <a:srgbClr val="0F1A2E"/>
                          </a:solidFill>
                          <a:latin typeface="Malgun Gothic"/>
                          <a:ea typeface="Malgun Gothic"/>
                        </a:rPr>
                        <a:t>+30원 / +90원 / +120원</a:t>
                      </a:r>
                    </a:p>
                  </a:txBody>
                  <a:tcPr anchor="ctr">
                    <a:solidFill>
                      <a:srgbClr val="FFFFFF"/>
                    </a:solidFill>
                  </a:tcPr>
                </a:tc>
                <a:tc>
                  <a:txBody>
                    <a:bodyPr/>
                    <a:lstStyle/>
                    <a:p>
                      <a:pPr algn="ctr"/>
                      <a:r>
                        <a:rPr lang="ko-KR" altLang="en-US" sz="1400" b="1">
                          <a:solidFill>
                            <a:srgbClr val="0F1A2E"/>
                          </a:solidFill>
                          <a:latin typeface="Malgun Gothic"/>
                          <a:ea typeface="Malgun Gothic"/>
                        </a:rPr>
                        <a:t>예</a:t>
                      </a:r>
                    </a:p>
                  </a:txBody>
                  <a:tcPr anchor="ctr">
                    <a:solidFill>
                      <a:srgbClr val="F6FDFF"/>
                    </a:solidFill>
                  </a:tcPr>
                </a:tc>
                <a:extLst>
                  <a:ext uri="{0D108BD9-81ED-4DB2-BD59-A6C34878D82A}">
                    <a16:rowId xmlns:a16="http://schemas.microsoft.com/office/drawing/2014/main" val="3519802587"/>
                  </a:ext>
                </a:extLst>
              </a:tr>
              <a:tr h="457200">
                <a:tc>
                  <a:txBody>
                    <a:bodyPr/>
                    <a:lstStyle/>
                    <a:p>
                      <a:pPr algn="l"/>
                      <a:r>
                        <a:rPr lang="ko-KR" altLang="en-US" sz="1400" b="0">
                          <a:solidFill>
                            <a:srgbClr val="0F1A2E"/>
                          </a:solidFill>
                          <a:latin typeface="Malgun Gothic"/>
                          <a:ea typeface="Malgun Gothic"/>
                        </a:rPr>
                        <a:t>반영률 75% · 판매가가 덜 따라 오른다면</a:t>
                      </a:r>
                    </a:p>
                  </a:txBody>
                  <a:tcPr anchor="ctr">
                    <a:solidFill>
                      <a:srgbClr val="EEF3FF"/>
                    </a:solidFill>
                  </a:tcPr>
                </a:tc>
                <a:tc>
                  <a:txBody>
                    <a:bodyPr/>
                    <a:lstStyle/>
                    <a:p>
                      <a:pPr algn="ctr"/>
                      <a:r>
                        <a:rPr lang="ko-KR" altLang="en-US" sz="1400" b="0">
                          <a:solidFill>
                            <a:srgbClr val="0F1A2E"/>
                          </a:solidFill>
                          <a:latin typeface="Malgun Gothic"/>
                          <a:ea typeface="Malgun Gothic"/>
                        </a:rPr>
                        <a:t>+60원 / +90원 / +120원</a:t>
                      </a:r>
                    </a:p>
                  </a:txBody>
                  <a:tcPr anchor="ctr">
                    <a:solidFill>
                      <a:srgbClr val="F7F9FC"/>
                    </a:solidFill>
                  </a:tcPr>
                </a:tc>
                <a:tc>
                  <a:txBody>
                    <a:bodyPr/>
                    <a:lstStyle/>
                    <a:p>
                      <a:pPr algn="ctr"/>
                      <a:r>
                        <a:rPr lang="ko-KR" altLang="en-US" sz="1400" b="0">
                          <a:solidFill>
                            <a:srgbClr val="0F1A2E"/>
                          </a:solidFill>
                          <a:latin typeface="Malgun Gothic"/>
                          <a:ea typeface="Malgun Gothic"/>
                        </a:rPr>
                        <a:t>예</a:t>
                      </a:r>
                    </a:p>
                  </a:txBody>
                  <a:tcPr anchor="ctr">
                    <a:solidFill>
                      <a:srgbClr val="ECFAFE"/>
                    </a:solidFill>
                  </a:tcPr>
                </a:tc>
                <a:extLst>
                  <a:ext uri="{0D108BD9-81ED-4DB2-BD59-A6C34878D82A}">
                    <a16:rowId xmlns:a16="http://schemas.microsoft.com/office/drawing/2014/main" val="2491008228"/>
                  </a:ext>
                </a:extLst>
              </a:tr>
              <a:tr h="457200">
                <a:tc>
                  <a:txBody>
                    <a:bodyPr/>
                    <a:lstStyle/>
                    <a:p>
                      <a:pPr algn="l"/>
                      <a:r>
                        <a:rPr lang="ko-KR" altLang="en-US" sz="1400" b="0">
                          <a:solidFill>
                            <a:srgbClr val="0F1A2E"/>
                          </a:solidFill>
                          <a:latin typeface="Malgun Gothic"/>
                          <a:ea typeface="Malgun Gothic"/>
                        </a:rPr>
                        <a:t>반영률 100% · 판매가가 다 따라 오른다면</a:t>
                      </a:r>
                    </a:p>
                  </a:txBody>
                  <a:tcPr anchor="ctr">
                    <a:solidFill>
                      <a:srgbClr val="EEF3FF"/>
                    </a:solidFill>
                  </a:tcPr>
                </a:tc>
                <a:tc>
                  <a:txBody>
                    <a:bodyPr/>
                    <a:lstStyle/>
                    <a:p>
                      <a:pPr algn="ctr"/>
                      <a:r>
                        <a:rPr lang="ko-KR" altLang="en-US" sz="1400" b="0">
                          <a:solidFill>
                            <a:srgbClr val="0F1A2E"/>
                          </a:solidFill>
                          <a:latin typeface="Malgun Gothic"/>
                          <a:ea typeface="Malgun Gothic"/>
                        </a:rPr>
                        <a:t>0원 / +120원 / +120원</a:t>
                      </a:r>
                    </a:p>
                  </a:txBody>
                  <a:tcPr anchor="ctr">
                    <a:solidFill>
                      <a:srgbClr val="FFFFFF"/>
                    </a:solidFill>
                  </a:tcPr>
                </a:tc>
                <a:tc>
                  <a:txBody>
                    <a:bodyPr/>
                    <a:lstStyle/>
                    <a:p>
                      <a:pPr algn="ctr"/>
                      <a:r>
                        <a:rPr lang="ko-KR" altLang="en-US" sz="1400" b="0">
                          <a:solidFill>
                            <a:srgbClr val="0F1A2E"/>
                          </a:solidFill>
                          <a:latin typeface="Malgun Gothic"/>
                          <a:ea typeface="Malgun Gothic"/>
                        </a:rPr>
                        <a:t>예</a:t>
                      </a:r>
                    </a:p>
                  </a:txBody>
                  <a:tcPr anchor="ctr">
                    <a:solidFill>
                      <a:srgbClr val="F6FDFF"/>
                    </a:solidFill>
                  </a:tcPr>
                </a:tc>
                <a:extLst>
                  <a:ext uri="{0D108BD9-81ED-4DB2-BD59-A6C34878D82A}">
                    <a16:rowId xmlns:a16="http://schemas.microsoft.com/office/drawing/2014/main" val="2484522486"/>
                  </a:ext>
                </a:extLst>
              </a:tr>
              <a:tr h="457200">
                <a:tc>
                  <a:txBody>
                    <a:bodyPr/>
                    <a:lstStyle/>
                    <a:p>
                      <a:pPr algn="l"/>
                      <a:r>
                        <a:rPr lang="ko-KR" altLang="en-US" sz="1400" b="0">
                          <a:solidFill>
                            <a:srgbClr val="0F1A2E"/>
                          </a:solidFill>
                          <a:latin typeface="Malgun Gothic"/>
                          <a:ea typeface="Malgun Gothic"/>
                        </a:rPr>
                        <a:t>반영률 4주 값만 · 한 달 평균 대신 4주 값 사용</a:t>
                      </a:r>
                    </a:p>
                  </a:txBody>
                  <a:tcPr anchor="ctr">
                    <a:solidFill>
                      <a:srgbClr val="EEF3FF"/>
                    </a:solidFill>
                  </a:tcPr>
                </a:tc>
                <a:tc>
                  <a:txBody>
                    <a:bodyPr/>
                    <a:lstStyle/>
                    <a:p>
                      <a:pPr algn="ctr"/>
                      <a:r>
                        <a:rPr lang="ko-KR" altLang="en-US" sz="1400" b="0">
                          <a:solidFill>
                            <a:srgbClr val="0F1A2E"/>
                          </a:solidFill>
                          <a:latin typeface="Malgun Gothic"/>
                          <a:ea typeface="Malgun Gothic"/>
                        </a:rPr>
                        <a:t>0원 / +120원 / +90원</a:t>
                      </a:r>
                    </a:p>
                  </a:txBody>
                  <a:tcPr anchor="ctr">
                    <a:solidFill>
                      <a:srgbClr val="F7F9FC"/>
                    </a:solidFill>
                  </a:tcPr>
                </a:tc>
                <a:tc>
                  <a:txBody>
                    <a:bodyPr/>
                    <a:lstStyle/>
                    <a:p>
                      <a:pPr algn="ctr"/>
                      <a:r>
                        <a:rPr lang="ko-KR" altLang="en-US" sz="1400" b="0">
                          <a:solidFill>
                            <a:srgbClr val="0F1A2E"/>
                          </a:solidFill>
                          <a:latin typeface="Malgun Gothic"/>
                          <a:ea typeface="Malgun Gothic"/>
                        </a:rPr>
                        <a:t>예</a:t>
                      </a:r>
                    </a:p>
                  </a:txBody>
                  <a:tcPr anchor="ctr">
                    <a:solidFill>
                      <a:srgbClr val="ECFAFE"/>
                    </a:solidFill>
                  </a:tcPr>
                </a:tc>
                <a:extLst>
                  <a:ext uri="{0D108BD9-81ED-4DB2-BD59-A6C34878D82A}">
                    <a16:rowId xmlns:a16="http://schemas.microsoft.com/office/drawing/2014/main" val="2796551532"/>
                  </a:ext>
                </a:extLst>
              </a:tr>
              <a:tr h="457200">
                <a:tc>
                  <a:txBody>
                    <a:bodyPr/>
                    <a:lstStyle/>
                    <a:p>
                      <a:pPr algn="l"/>
                      <a:r>
                        <a:rPr lang="ko-KR" altLang="en-US" sz="1400" b="0">
                          <a:solidFill>
                            <a:srgbClr val="0F1A2E"/>
                          </a:solidFill>
                          <a:latin typeface="Malgun Gothic"/>
                          <a:ea typeface="Malgun Gothic"/>
                        </a:rPr>
                        <a:t>한도 ×0.5 · 물가 한도를 절반으로</a:t>
                      </a:r>
                    </a:p>
                  </a:txBody>
                  <a:tcPr anchor="ctr">
                    <a:solidFill>
                      <a:srgbClr val="EEF3FF"/>
                    </a:solidFill>
                  </a:tcPr>
                </a:tc>
                <a:tc>
                  <a:txBody>
                    <a:bodyPr/>
                    <a:lstStyle/>
                    <a:p>
                      <a:pPr algn="ctr"/>
                      <a:r>
                        <a:rPr lang="ko-KR" altLang="en-US" sz="1400" b="0">
                          <a:solidFill>
                            <a:srgbClr val="0F1A2E"/>
                          </a:solidFill>
                          <a:latin typeface="Malgun Gothic"/>
                          <a:ea typeface="Malgun Gothic"/>
                        </a:rPr>
                        <a:t>0원 / +60원 / +120원</a:t>
                      </a:r>
                    </a:p>
                  </a:txBody>
                  <a:tcPr anchor="ctr">
                    <a:solidFill>
                      <a:srgbClr val="FFFFFF"/>
                    </a:solidFill>
                  </a:tcPr>
                </a:tc>
                <a:tc>
                  <a:txBody>
                    <a:bodyPr/>
                    <a:lstStyle/>
                    <a:p>
                      <a:pPr algn="ctr"/>
                      <a:r>
                        <a:rPr lang="ko-KR" altLang="en-US" sz="1400" b="0">
                          <a:solidFill>
                            <a:srgbClr val="0F1A2E"/>
                          </a:solidFill>
                          <a:latin typeface="Malgun Gothic"/>
                          <a:ea typeface="Malgun Gothic"/>
                        </a:rPr>
                        <a:t>예</a:t>
                      </a:r>
                    </a:p>
                  </a:txBody>
                  <a:tcPr anchor="ctr">
                    <a:solidFill>
                      <a:srgbClr val="F6FDFF"/>
                    </a:solidFill>
                  </a:tcPr>
                </a:tc>
                <a:extLst>
                  <a:ext uri="{0D108BD9-81ED-4DB2-BD59-A6C34878D82A}">
                    <a16:rowId xmlns:a16="http://schemas.microsoft.com/office/drawing/2014/main" val="4118642732"/>
                  </a:ext>
                </a:extLst>
              </a:tr>
              <a:tr h="457200">
                <a:tc>
                  <a:txBody>
                    <a:bodyPr/>
                    <a:lstStyle/>
                    <a:p>
                      <a:pPr algn="l"/>
                      <a:r>
                        <a:rPr lang="ko-KR" altLang="en-US" sz="1400" b="0">
                          <a:solidFill>
                            <a:srgbClr val="0F1A2E"/>
                          </a:solidFill>
                          <a:latin typeface="Malgun Gothic"/>
                          <a:ea typeface="Malgun Gothic"/>
                        </a:rPr>
                        <a:t>한도 ×1.5 · 물가 한도를 1.5배로</a:t>
                      </a:r>
                    </a:p>
                  </a:txBody>
                  <a:tcPr anchor="ctr">
                    <a:solidFill>
                      <a:srgbClr val="EEF3FF"/>
                    </a:solidFill>
                  </a:tcPr>
                </a:tc>
                <a:tc>
                  <a:txBody>
                    <a:bodyPr/>
                    <a:lstStyle/>
                    <a:p>
                      <a:pPr algn="ctr"/>
                      <a:r>
                        <a:rPr lang="ko-KR" altLang="en-US" sz="1400" b="0">
                          <a:solidFill>
                            <a:srgbClr val="0F1A2E"/>
                          </a:solidFill>
                          <a:latin typeface="Malgun Gothic"/>
                          <a:ea typeface="Malgun Gothic"/>
                        </a:rPr>
                        <a:t>+60원 / +120원 / +120원</a:t>
                      </a:r>
                    </a:p>
                  </a:txBody>
                  <a:tcPr anchor="ctr">
                    <a:solidFill>
                      <a:srgbClr val="F7F9FC"/>
                    </a:solidFill>
                  </a:tcPr>
                </a:tc>
                <a:tc>
                  <a:txBody>
                    <a:bodyPr/>
                    <a:lstStyle/>
                    <a:p>
                      <a:pPr algn="ctr"/>
                      <a:r>
                        <a:rPr lang="ko-KR" altLang="en-US" sz="1400" b="0">
                          <a:solidFill>
                            <a:srgbClr val="0F1A2E"/>
                          </a:solidFill>
                          <a:latin typeface="Malgun Gothic"/>
                          <a:ea typeface="Malgun Gothic"/>
                        </a:rPr>
                        <a:t>예</a:t>
                      </a:r>
                    </a:p>
                  </a:txBody>
                  <a:tcPr anchor="ctr">
                    <a:solidFill>
                      <a:srgbClr val="ECFAFE"/>
                    </a:solidFill>
                  </a:tcPr>
                </a:tc>
                <a:extLst>
                  <a:ext uri="{0D108BD9-81ED-4DB2-BD59-A6C34878D82A}">
                    <a16:rowId xmlns:a16="http://schemas.microsoft.com/office/drawing/2014/main" val="1348447914"/>
                  </a:ext>
                </a:extLst>
              </a:tr>
              <a:tr h="457200">
                <a:tc>
                  <a:txBody>
                    <a:bodyPr/>
                    <a:lstStyle/>
                    <a:p>
                      <a:pPr algn="l"/>
                      <a:r>
                        <a:rPr lang="ko-KR" altLang="en-US" sz="1400" b="0">
                          <a:solidFill>
                            <a:srgbClr val="0F1A2E"/>
                          </a:solidFill>
                          <a:latin typeface="Malgun Gothic"/>
                          <a:ea typeface="Malgun Gothic"/>
                        </a:rPr>
                        <a:t>추출 기간 최근 3년 · 미래 유가를 최근 3년에서 뽑으면</a:t>
                      </a:r>
                    </a:p>
                  </a:txBody>
                  <a:tcPr anchor="ctr">
                    <a:solidFill>
                      <a:srgbClr val="EEF3FF"/>
                    </a:solidFill>
                  </a:tcPr>
                </a:tc>
                <a:tc>
                  <a:txBody>
                    <a:bodyPr/>
                    <a:lstStyle/>
                    <a:p>
                      <a:pPr algn="ctr"/>
                      <a:r>
                        <a:rPr lang="ko-KR" altLang="en-US" sz="1400" b="0">
                          <a:solidFill>
                            <a:srgbClr val="0F1A2E"/>
                          </a:solidFill>
                          <a:latin typeface="Malgun Gothic"/>
                          <a:ea typeface="Malgun Gothic"/>
                        </a:rPr>
                        <a:t>+30원 / +90원 / +120원</a:t>
                      </a:r>
                    </a:p>
                  </a:txBody>
                  <a:tcPr anchor="ctr">
                    <a:solidFill>
                      <a:srgbClr val="F7F9FC"/>
                    </a:solidFill>
                  </a:tcPr>
                </a:tc>
                <a:tc>
                  <a:txBody>
                    <a:bodyPr/>
                    <a:lstStyle/>
                    <a:p>
                      <a:pPr algn="ctr"/>
                      <a:r>
                        <a:rPr lang="ko-KR" altLang="en-US" sz="1400" b="0">
                          <a:solidFill>
                            <a:srgbClr val="0F1A2E"/>
                          </a:solidFill>
                          <a:latin typeface="Malgun Gothic"/>
                          <a:ea typeface="Malgun Gothic"/>
                        </a:rPr>
                        <a:t>예</a:t>
                      </a:r>
                    </a:p>
                  </a:txBody>
                  <a:tcPr anchor="ctr">
                    <a:solidFill>
                      <a:srgbClr val="ECFAFE"/>
                    </a:solidFill>
                  </a:tcPr>
                </a:tc>
                <a:extLst>
                  <a:ext uri="{0D108BD9-81ED-4DB2-BD59-A6C34878D82A}">
                    <a16:rowId xmlns:a16="http://schemas.microsoft.com/office/drawing/2014/main" val="3621555298"/>
                  </a:ext>
                </a:extLst>
              </a:tr>
              <a:tr h="457200">
                <a:tc>
                  <a:txBody>
                    <a:bodyPr/>
                    <a:lstStyle/>
                    <a:p>
                      <a:pPr algn="l"/>
                      <a:r>
                        <a:rPr lang="ko-KR" altLang="en-US" sz="1400" b="0">
                          <a:solidFill>
                            <a:srgbClr val="0F1A2E"/>
                          </a:solidFill>
                          <a:latin typeface="Malgun Gothic"/>
                          <a:ea typeface="Malgun Gothic"/>
                        </a:rPr>
                        <a:t>다른 난수 시드 · 다른 유가 500가지로</a:t>
                      </a:r>
                    </a:p>
                  </a:txBody>
                  <a:tcPr anchor="ctr">
                    <a:solidFill>
                      <a:srgbClr val="EEF3FF"/>
                    </a:solidFill>
                  </a:tcPr>
                </a:tc>
                <a:tc>
                  <a:txBody>
                    <a:bodyPr/>
                    <a:lstStyle/>
                    <a:p>
                      <a:pPr algn="ctr"/>
                      <a:r>
                        <a:rPr lang="ko-KR" altLang="en-US" sz="1400" b="0">
                          <a:solidFill>
                            <a:srgbClr val="0F1A2E"/>
                          </a:solidFill>
                          <a:latin typeface="Malgun Gothic"/>
                          <a:ea typeface="Malgun Gothic"/>
                        </a:rPr>
                        <a:t>+30원 / +90원 / +120원</a:t>
                      </a:r>
                    </a:p>
                  </a:txBody>
                  <a:tcPr anchor="ctr">
                    <a:solidFill>
                      <a:srgbClr val="F7F9FC"/>
                    </a:solidFill>
                  </a:tcPr>
                </a:tc>
                <a:tc>
                  <a:txBody>
                    <a:bodyPr/>
                    <a:lstStyle/>
                    <a:p>
                      <a:pPr algn="ctr"/>
                      <a:r>
                        <a:rPr lang="ko-KR" altLang="en-US" sz="1400" b="0">
                          <a:solidFill>
                            <a:srgbClr val="0F1A2E"/>
                          </a:solidFill>
                          <a:latin typeface="Malgun Gothic"/>
                          <a:ea typeface="Malgun Gothic"/>
                        </a:rPr>
                        <a:t>예</a:t>
                      </a:r>
                    </a:p>
                  </a:txBody>
                  <a:tcPr anchor="ctr">
                    <a:solidFill>
                      <a:srgbClr val="ECFAFE"/>
                    </a:solidFill>
                  </a:tcPr>
                </a:tc>
                <a:extLst>
                  <a:ext uri="{0D108BD9-81ED-4DB2-BD59-A6C34878D82A}">
                    <a16:rowId xmlns:a16="http://schemas.microsoft.com/office/drawing/2014/main" val="4087964007"/>
                  </a:ext>
                </a:extLst>
              </a:tr>
            </a:tbl>
          </a:graphicData>
        </a:graphic>
      </p:graphicFrame>
      <p:sp>
        <p:nvSpPr>
          <p:cNvPr id="7" name="직사각형 6">
            <a:extLst>
              <a:ext uri="{FF2B5EF4-FFF2-40B4-BE49-F238E27FC236}">
                <a16:creationId xmlns:a16="http://schemas.microsoft.com/office/drawing/2014/main" id="{DFD3DEC8-17C0-41E4-AD4B-D42E977CDB7D}"/>
              </a:ext>
            </a:extLst>
          </p:cNvPr>
          <p:cNvSpPr/>
          <p:nvPr/>
        </p:nvSpPr>
        <p:spPr>
          <a:xfrm>
            <a:off x="1041400" y="8255000"/>
            <a:ext cx="15494000" cy="533400"/>
          </a:xfrm>
          <a:prstGeom prst="rect">
            <a:avLst/>
          </a:prstGeom>
          <a:solidFill>
            <a:srgbClr val="0F1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8" name="TextBox 7">
            <a:extLst>
              <a:ext uri="{FF2B5EF4-FFF2-40B4-BE49-F238E27FC236}">
                <a16:creationId xmlns:a16="http://schemas.microsoft.com/office/drawing/2014/main" id="{2838DB15-A0CA-45CA-A29B-9E08598E224D}"/>
              </a:ext>
            </a:extLst>
          </p:cNvPr>
          <p:cNvSpPr txBox="1"/>
          <p:nvPr/>
        </p:nvSpPr>
        <p:spPr>
          <a:xfrm>
            <a:off x="1397000" y="8394700"/>
            <a:ext cx="14732000" cy="279400"/>
          </a:xfrm>
          <a:prstGeom prst="rect">
            <a:avLst/>
          </a:prstGeom>
          <a:noFill/>
        </p:spPr>
        <p:txBody>
          <a:bodyPr vertOverflow="overflow" vert="horz" wrap="square" rtlCol="0" anchor="t">
            <a:normAutofit fontScale="92500" lnSpcReduction="10000"/>
          </a:bodyPr>
          <a:lstStyle/>
          <a:p>
            <a:pPr algn="l"/>
            <a:r>
              <a:rPr lang="ko-KR" altLang="en-US" sz="1400" b="1">
                <a:solidFill>
                  <a:srgbClr val="FFFFFF"/>
                </a:solidFill>
                <a:latin typeface="맑은 고딕"/>
                <a:ea typeface="맑은 고딕"/>
              </a:rPr>
              <a:t>결론  |  권고의 크기는 조건에 따라 달라지지만, 유종 간 순서(휘발유 ≤ 경유·등유)는 8가지 모두 같습니다</a:t>
            </a:r>
          </a:p>
        </p:txBody>
      </p:sp>
      <p:sp>
        <p:nvSpPr>
          <p:cNvPr id="9" name="TextBox 8">
            <a:extLst>
              <a:ext uri="{FF2B5EF4-FFF2-40B4-BE49-F238E27FC236}">
                <a16:creationId xmlns:a16="http://schemas.microsoft.com/office/drawing/2014/main" id="{B0CA8477-A795-484B-B9A0-4237B0894499}"/>
              </a:ext>
            </a:extLst>
          </p:cNvPr>
          <p:cNvSpPr txBox="1"/>
          <p:nvPr/>
        </p:nvSpPr>
        <p:spPr>
          <a:xfrm>
            <a:off x="1066800" y="8940800"/>
            <a:ext cx="14986000" cy="203200"/>
          </a:xfrm>
          <a:prstGeom prst="rect">
            <a:avLst/>
          </a:prstGeom>
          <a:noFill/>
        </p:spPr>
        <p:txBody>
          <a:bodyPr vertOverflow="overflow" vert="horz" wrap="square" rtlCol="0" anchor="t">
            <a:normAutofit fontScale="92500" lnSpcReduction="20000"/>
          </a:bodyPr>
          <a:lstStyle/>
          <a:p>
            <a:pPr algn="l"/>
            <a:r>
              <a:rPr lang="ko-KR" altLang="en-US" sz="950">
                <a:solidFill>
                  <a:srgbClr val="98A2B3"/>
                </a:solidFill>
                <a:latin typeface="맑은 고딕"/>
                <a:ea typeface="맑은 고딕"/>
              </a:rPr>
              <a:t>결과 파일: results/policy/optimize_sensitivity.csv · 실행: python policy/optimize.py --sensitivity</a:t>
            </a:r>
          </a:p>
        </p:txBody>
      </p:sp>
    </p:spTree>
    <p:extLst>
      <p:ext uri="{BB962C8B-B14F-4D97-AF65-F5344CB8AC3E}">
        <p14:creationId xmlns:p14="http://schemas.microsoft.com/office/powerpoint/2010/main" val="1780883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2E1EECB2-4848-42E2-9DFD-B26D8302EB06}"/>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1" name="직사각형 20">
            <a:extLst>
              <a:ext uri="{FF2B5EF4-FFF2-40B4-BE49-F238E27FC236}">
                <a16:creationId xmlns:a16="http://schemas.microsoft.com/office/drawing/2014/main" id="{D4594EBD-4C82-46A6-9E26-D2E7CDCC49BD}"/>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2" name="직사각형 21">
            <a:extLst>
              <a:ext uri="{FF2B5EF4-FFF2-40B4-BE49-F238E27FC236}">
                <a16:creationId xmlns:a16="http://schemas.microsoft.com/office/drawing/2014/main" id="{869A74C4-4FCA-4E11-9294-CDE7A99A781E}"/>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3" name="TextBox 22">
            <a:extLst>
              <a:ext uri="{FF2B5EF4-FFF2-40B4-BE49-F238E27FC236}">
                <a16:creationId xmlns:a16="http://schemas.microsoft.com/office/drawing/2014/main" id="{7AD87773-D579-4D1C-88AF-B4D604E2B1D5}"/>
              </a:ext>
            </a:extLst>
          </p:cNvPr>
          <p:cNvSpPr txBox="1"/>
          <p:nvPr/>
        </p:nvSpPr>
        <p:spPr>
          <a:xfrm>
            <a:off x="1092200" y="1841500"/>
            <a:ext cx="6604000" cy="304800"/>
          </a:xfrm>
          <a:prstGeom prst="rect">
            <a:avLst/>
          </a:prstGeom>
          <a:noFill/>
        </p:spPr>
        <p:txBody>
          <a:bodyPr vertOverflow="overflow" vert="horz" wrap="square" rtlCol="0" anchor="t">
            <a:normAutofit/>
          </a:bodyPr>
          <a:lstStyle/>
          <a:p>
            <a:pPr algn="l"/>
            <a:r>
              <a:rPr lang="en-US" altLang="ko-KR" sz="1400">
                <a:solidFill>
                  <a:srgbClr val="8A8F98"/>
                </a:solidFill>
                <a:latin typeface="맑은 고딕"/>
                <a:ea typeface="맑은 고딕"/>
              </a:rPr>
              <a:t>BACKTEST · ROUNDS 2~10</a:t>
            </a:r>
            <a:endParaRPr lang="ko-KR" altLang="en-US" sz="1400">
              <a:solidFill>
                <a:srgbClr val="8A8F98"/>
              </a:solidFill>
              <a:latin typeface="맑은 고딕"/>
              <a:ea typeface="맑은 고딕"/>
            </a:endParaRPr>
          </a:p>
        </p:txBody>
      </p:sp>
      <p:sp>
        <p:nvSpPr>
          <p:cNvPr id="24" name="TextBox 23">
            <a:extLst>
              <a:ext uri="{FF2B5EF4-FFF2-40B4-BE49-F238E27FC236}">
                <a16:creationId xmlns:a16="http://schemas.microsoft.com/office/drawing/2014/main" id="{FC93B93E-2883-4365-987E-2A5030412DD2}"/>
              </a:ext>
            </a:extLst>
          </p:cNvPr>
          <p:cNvSpPr txBox="1"/>
          <p:nvPr/>
        </p:nvSpPr>
        <p:spPr>
          <a:xfrm>
            <a:off x="1041400" y="2286000"/>
            <a:ext cx="14986000" cy="914400"/>
          </a:xfrm>
          <a:prstGeom prst="rect">
            <a:avLst/>
          </a:prstGeom>
          <a:noFill/>
        </p:spPr>
        <p:txBody>
          <a:bodyPr vertOverflow="overflow" vert="horz" wrap="square" rtlCol="0" anchor="t">
            <a:normAutofit/>
          </a:bodyPr>
          <a:lstStyle/>
          <a:p>
            <a:pPr algn="l"/>
            <a:r>
              <a:rPr lang="ko-KR" altLang="en-US" sz="2900" b="1">
                <a:solidFill>
                  <a:srgbClr val="101828"/>
                </a:solidFill>
                <a:latin typeface="맑은 고딕"/>
                <a:ea typeface="맑은 고딕"/>
              </a:rPr>
              <a:t>같은 규칙으로 과거 결정을 다시 풀면, 정부보다 상한을 더 올렸을 것입니다</a:t>
            </a:r>
          </a:p>
        </p:txBody>
      </p:sp>
      <p:sp>
        <p:nvSpPr>
          <p:cNvPr id="25" name="직사각형 24">
            <a:extLst>
              <a:ext uri="{FF2B5EF4-FFF2-40B4-BE49-F238E27FC236}">
                <a16:creationId xmlns:a16="http://schemas.microsoft.com/office/drawing/2014/main" id="{6E9F3884-DCD6-4ADC-A5E9-02306F72C7BC}"/>
              </a:ext>
            </a:extLst>
          </p:cNvPr>
          <p:cNvSpPr/>
          <p:nvPr/>
        </p:nvSpPr>
        <p:spPr>
          <a:xfrm>
            <a:off x="1333500" y="4000500"/>
            <a:ext cx="4889500" cy="38100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6" name="직사각형 25">
            <a:extLst>
              <a:ext uri="{FF2B5EF4-FFF2-40B4-BE49-F238E27FC236}">
                <a16:creationId xmlns:a16="http://schemas.microsoft.com/office/drawing/2014/main" id="{7F034517-69C7-4CEA-8F4C-52C3E61C692B}"/>
              </a:ext>
            </a:extLst>
          </p:cNvPr>
          <p:cNvSpPr/>
          <p:nvPr/>
        </p:nvSpPr>
        <p:spPr>
          <a:xfrm>
            <a:off x="1333500" y="4000500"/>
            <a:ext cx="101600" cy="38100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7" name="TextBox 26">
            <a:extLst>
              <a:ext uri="{FF2B5EF4-FFF2-40B4-BE49-F238E27FC236}">
                <a16:creationId xmlns:a16="http://schemas.microsoft.com/office/drawing/2014/main" id="{5081E5D1-DC00-4CD6-9FAF-E628EF863FFE}"/>
              </a:ext>
            </a:extLst>
          </p:cNvPr>
          <p:cNvSpPr txBox="1"/>
          <p:nvPr/>
        </p:nvSpPr>
        <p:spPr>
          <a:xfrm>
            <a:off x="1663700" y="4305300"/>
            <a:ext cx="736600" cy="355600"/>
          </a:xfrm>
          <a:prstGeom prst="rect">
            <a:avLst/>
          </a:prstGeom>
          <a:noFill/>
        </p:spPr>
        <p:txBody>
          <a:bodyPr vertOverflow="overflow" vert="horz" wrap="square" rtlCol="0" anchor="t">
            <a:normAutofit/>
          </a:bodyPr>
          <a:lstStyle/>
          <a:p>
            <a:pPr algn="l"/>
            <a:r>
              <a:rPr lang="en-US" altLang="ko-KR" sz="1600" b="1">
                <a:solidFill>
                  <a:srgbClr val="4775FF"/>
                </a:solidFill>
                <a:latin typeface="맑은 고딕"/>
                <a:ea typeface="맑은 고딕"/>
              </a:rPr>
              <a:t>2차</a:t>
            </a:r>
            <a:endParaRPr lang="ko-KR" altLang="en-US" sz="1600" b="1">
              <a:solidFill>
                <a:srgbClr val="4775FF"/>
              </a:solidFill>
              <a:latin typeface="맑은 고딕"/>
              <a:ea typeface="맑은 고딕"/>
            </a:endParaRPr>
          </a:p>
        </p:txBody>
      </p:sp>
      <p:sp>
        <p:nvSpPr>
          <p:cNvPr id="28" name="TextBox 27">
            <a:extLst>
              <a:ext uri="{FF2B5EF4-FFF2-40B4-BE49-F238E27FC236}">
                <a16:creationId xmlns:a16="http://schemas.microsoft.com/office/drawing/2014/main" id="{D4392A23-5D7F-442C-B1A9-05DE6D3A005E}"/>
              </a:ext>
            </a:extLst>
          </p:cNvPr>
          <p:cNvSpPr txBox="1"/>
          <p:nvPr/>
        </p:nvSpPr>
        <p:spPr>
          <a:xfrm>
            <a:off x="1663700" y="4838700"/>
            <a:ext cx="4229100" cy="558800"/>
          </a:xfrm>
          <a:prstGeom prst="rect">
            <a:avLst/>
          </a:prstGeom>
          <a:noFill/>
        </p:spPr>
        <p:txBody>
          <a:bodyPr vertOverflow="overflow" vert="horz" wrap="square" rtlCol="0" anchor="t">
            <a:normAutofit/>
          </a:bodyPr>
          <a:lstStyle/>
          <a:p>
            <a:pPr algn="l"/>
            <a:r>
              <a:rPr lang="ko-KR" altLang="en-US" sz="2000" b="1">
                <a:solidFill>
                  <a:srgbClr val="101828"/>
                </a:solidFill>
                <a:latin typeface="맑은 고딕"/>
                <a:ea typeface="맑은 고딕"/>
              </a:rPr>
              <a:t>급등기 (3월 27일)</a:t>
            </a:r>
          </a:p>
        </p:txBody>
      </p:sp>
      <p:sp>
        <p:nvSpPr>
          <p:cNvPr id="29" name="TextBox 28">
            <a:extLst>
              <a:ext uri="{FF2B5EF4-FFF2-40B4-BE49-F238E27FC236}">
                <a16:creationId xmlns:a16="http://schemas.microsoft.com/office/drawing/2014/main" id="{2155B7E7-E097-4003-BC6A-62966DE7511F}"/>
              </a:ext>
            </a:extLst>
          </p:cNvPr>
          <p:cNvSpPr txBox="1"/>
          <p:nvPr/>
        </p:nvSpPr>
        <p:spPr>
          <a:xfrm>
            <a:off x="1663700" y="5524500"/>
            <a:ext cx="4229100" cy="2006600"/>
          </a:xfrm>
          <a:prstGeom prst="rect">
            <a:avLst/>
          </a:prstGeom>
          <a:noFill/>
        </p:spPr>
        <p:txBody>
          <a:bodyPr vertOverflow="overflow" vert="horz" wrap="square" rtlCol="0" anchor="t">
            <a:normAutofit/>
          </a:bodyPr>
          <a:lstStyle/>
          <a:p>
            <a:pPr algn="l"/>
            <a:r>
              <a:rPr lang="ko-KR" altLang="en-US" sz="1400">
                <a:solidFill>
                  <a:srgbClr val="8A8F98"/>
                </a:solidFill>
                <a:latin typeface="맑은 고딕"/>
                <a:ea typeface="맑은 고딕"/>
              </a:rPr>
              <a:t>지원금액 382 / 717 / 788원</a:t>
            </a:r>
          </a:p>
          <a:p>
            <a:pPr algn="l"/>
            <a:r>
              <a:rPr lang="ko-KR" altLang="en-US" sz="1400">
                <a:solidFill>
                  <a:srgbClr val="8A8F98"/>
                </a:solidFill>
                <a:latin typeface="맑은 고딕"/>
                <a:ea typeface="맑은 고딕"/>
              </a:rPr>
              <a:t>실제: 세 유종 +210원</a:t>
            </a:r>
          </a:p>
          <a:p>
            <a:pPr algn="l"/>
            <a:r>
              <a:rPr lang="ko-KR" altLang="en-US" sz="1400">
                <a:solidFill>
                  <a:srgbClr val="8A8F98"/>
                </a:solidFill>
                <a:latin typeface="맑은 고딕"/>
                <a:ea typeface="맑은 고딕"/>
              </a:rPr>
              <a:t>권고: 0 / +120 / +120원</a:t>
            </a:r>
          </a:p>
          <a:p>
            <a:pPr algn="l"/>
            <a:r>
              <a:rPr lang="ko-KR" altLang="en-US" sz="1400">
                <a:solidFill>
                  <a:srgbClr val="8A8F98"/>
                </a:solidFill>
                <a:latin typeface="맑은 고딕"/>
                <a:ea typeface="맑은 고딕"/>
              </a:rPr>
              <a:t>휘발유는 물가 때문에 덜 올림</a:t>
            </a:r>
          </a:p>
        </p:txBody>
      </p:sp>
      <p:sp>
        <p:nvSpPr>
          <p:cNvPr id="30" name="직사각형 29">
            <a:extLst>
              <a:ext uri="{FF2B5EF4-FFF2-40B4-BE49-F238E27FC236}">
                <a16:creationId xmlns:a16="http://schemas.microsoft.com/office/drawing/2014/main" id="{9856F7AA-F78C-455A-8235-C0C8C73DA702}"/>
              </a:ext>
            </a:extLst>
          </p:cNvPr>
          <p:cNvSpPr/>
          <p:nvPr/>
        </p:nvSpPr>
        <p:spPr>
          <a:xfrm>
            <a:off x="6692900" y="4000500"/>
            <a:ext cx="4889500" cy="38100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1" name="직사각형 30">
            <a:extLst>
              <a:ext uri="{FF2B5EF4-FFF2-40B4-BE49-F238E27FC236}">
                <a16:creationId xmlns:a16="http://schemas.microsoft.com/office/drawing/2014/main" id="{E35A4D34-0434-44DF-A5D0-25AD9B351EF1}"/>
              </a:ext>
            </a:extLst>
          </p:cNvPr>
          <p:cNvSpPr/>
          <p:nvPr/>
        </p:nvSpPr>
        <p:spPr>
          <a:xfrm>
            <a:off x="6692900" y="4000500"/>
            <a:ext cx="101600" cy="3810000"/>
          </a:xfrm>
          <a:prstGeom prst="rect">
            <a:avLst/>
          </a:prstGeom>
          <a:solidFill>
            <a:srgbClr val="39C6E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2" name="TextBox 31">
            <a:extLst>
              <a:ext uri="{FF2B5EF4-FFF2-40B4-BE49-F238E27FC236}">
                <a16:creationId xmlns:a16="http://schemas.microsoft.com/office/drawing/2014/main" id="{9C40529E-5D44-4247-A468-FD675A6AA8DB}"/>
              </a:ext>
            </a:extLst>
          </p:cNvPr>
          <p:cNvSpPr txBox="1"/>
          <p:nvPr/>
        </p:nvSpPr>
        <p:spPr>
          <a:xfrm>
            <a:off x="7023100" y="4305300"/>
            <a:ext cx="736600" cy="355600"/>
          </a:xfrm>
          <a:prstGeom prst="rect">
            <a:avLst/>
          </a:prstGeom>
          <a:noFill/>
        </p:spPr>
        <p:txBody>
          <a:bodyPr vertOverflow="overflow" vert="horz" wrap="square" rtlCol="0" anchor="t">
            <a:normAutofit/>
          </a:bodyPr>
          <a:lstStyle/>
          <a:p>
            <a:pPr algn="l"/>
            <a:r>
              <a:rPr lang="en-US" altLang="ko-KR" sz="1600" b="1">
                <a:solidFill>
                  <a:srgbClr val="39C6E8"/>
                </a:solidFill>
                <a:latin typeface="맑은 고딕"/>
                <a:ea typeface="맑은 고딕"/>
              </a:rPr>
              <a:t>7회</a:t>
            </a:r>
            <a:endParaRPr lang="ko-KR" altLang="en-US" sz="1600" b="1">
              <a:solidFill>
                <a:srgbClr val="39C6E8"/>
              </a:solidFill>
              <a:latin typeface="맑은 고딕"/>
              <a:ea typeface="맑은 고딕"/>
            </a:endParaRPr>
          </a:p>
        </p:txBody>
      </p:sp>
      <p:sp>
        <p:nvSpPr>
          <p:cNvPr id="33" name="TextBox 32">
            <a:extLst>
              <a:ext uri="{FF2B5EF4-FFF2-40B4-BE49-F238E27FC236}">
                <a16:creationId xmlns:a16="http://schemas.microsoft.com/office/drawing/2014/main" id="{A14C14AF-F426-41B7-8B67-AF45E7C8CE31}"/>
              </a:ext>
            </a:extLst>
          </p:cNvPr>
          <p:cNvSpPr txBox="1"/>
          <p:nvPr/>
        </p:nvSpPr>
        <p:spPr>
          <a:xfrm>
            <a:off x="7023100" y="4838700"/>
            <a:ext cx="4229100" cy="558800"/>
          </a:xfrm>
          <a:prstGeom prst="rect">
            <a:avLst/>
          </a:prstGeom>
          <a:noFill/>
        </p:spPr>
        <p:txBody>
          <a:bodyPr vertOverflow="overflow" vert="horz" wrap="square" rtlCol="0" anchor="t">
            <a:normAutofit/>
          </a:bodyPr>
          <a:lstStyle/>
          <a:p>
            <a:pPr algn="l"/>
            <a:r>
              <a:rPr lang="ko-KR" altLang="en-US" sz="2000" b="1">
                <a:solidFill>
                  <a:srgbClr val="101828"/>
                </a:solidFill>
                <a:latin typeface="맑은 고딕"/>
                <a:ea typeface="맑은 고딕"/>
              </a:rPr>
              <a:t>동결 (3~6·8~10차)</a:t>
            </a:r>
          </a:p>
        </p:txBody>
      </p:sp>
      <p:sp>
        <p:nvSpPr>
          <p:cNvPr id="34" name="TextBox 33">
            <a:extLst>
              <a:ext uri="{FF2B5EF4-FFF2-40B4-BE49-F238E27FC236}">
                <a16:creationId xmlns:a16="http://schemas.microsoft.com/office/drawing/2014/main" id="{4AFF7214-5DE5-4AC0-ABEB-2049EA56E96A}"/>
              </a:ext>
            </a:extLst>
          </p:cNvPr>
          <p:cNvSpPr txBox="1"/>
          <p:nvPr/>
        </p:nvSpPr>
        <p:spPr>
          <a:xfrm>
            <a:off x="7023100" y="5524500"/>
            <a:ext cx="4229100" cy="2006600"/>
          </a:xfrm>
          <a:prstGeom prst="rect">
            <a:avLst/>
          </a:prstGeom>
          <a:noFill/>
        </p:spPr>
        <p:txBody>
          <a:bodyPr vertOverflow="overflow" vert="horz" wrap="square" rtlCol="0" anchor="t">
            <a:normAutofit/>
          </a:bodyPr>
          <a:lstStyle/>
          <a:p>
            <a:pPr algn="l"/>
            <a:r>
              <a:rPr lang="ko-KR" altLang="en-US" sz="1400">
                <a:solidFill>
                  <a:srgbClr val="8A8F98"/>
                </a:solidFill>
                <a:latin typeface="맑은 고딕"/>
                <a:ea typeface="맑은 고딕"/>
              </a:rPr>
              <a:t>지원금액 69~1,082원</a:t>
            </a:r>
          </a:p>
          <a:p>
            <a:pPr algn="l"/>
            <a:r>
              <a:rPr lang="ko-KR" altLang="en-US" sz="1400">
                <a:solidFill>
                  <a:srgbClr val="8A8F98"/>
                </a:solidFill>
                <a:latin typeface="맑은 고딕"/>
                <a:ea typeface="맑은 고딕"/>
              </a:rPr>
              <a:t>실제: 모두 동결</a:t>
            </a:r>
          </a:p>
          <a:p>
            <a:pPr algn="l"/>
            <a:r>
              <a:rPr lang="ko-KR" altLang="en-US" sz="1400">
                <a:solidFill>
                  <a:srgbClr val="8A8F98"/>
                </a:solidFill>
                <a:latin typeface="맑은 고딕"/>
                <a:ea typeface="맑은 고딕"/>
              </a:rPr>
              <a:t>권고: 매번 1개 유종 이상 인상</a:t>
            </a:r>
          </a:p>
          <a:p>
            <a:pPr algn="l"/>
            <a:r>
              <a:rPr lang="ko-KR" altLang="en-US" sz="1400">
                <a:solidFill>
                  <a:srgbClr val="8A8F98"/>
                </a:solidFill>
                <a:latin typeface="맑은 고딕"/>
                <a:ea typeface="맑은 고딕"/>
              </a:rPr>
              <a:t>지원금이 남아 있어 올릴 여지 있음</a:t>
            </a:r>
          </a:p>
        </p:txBody>
      </p:sp>
      <p:sp>
        <p:nvSpPr>
          <p:cNvPr id="35" name="직사각형 34">
            <a:extLst>
              <a:ext uri="{FF2B5EF4-FFF2-40B4-BE49-F238E27FC236}">
                <a16:creationId xmlns:a16="http://schemas.microsoft.com/office/drawing/2014/main" id="{7E2B4E4F-02AF-4EA3-8A59-29B38DE465B8}"/>
              </a:ext>
            </a:extLst>
          </p:cNvPr>
          <p:cNvSpPr/>
          <p:nvPr/>
        </p:nvSpPr>
        <p:spPr>
          <a:xfrm>
            <a:off x="12052300" y="4000500"/>
            <a:ext cx="4889500" cy="3810000"/>
          </a:xfrm>
          <a:prstGeom prst="rect">
            <a:avLst/>
          </a:prstGeom>
          <a:solidFill>
            <a:srgbClr val="FFFF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6" name="직사각형 35">
            <a:extLst>
              <a:ext uri="{FF2B5EF4-FFF2-40B4-BE49-F238E27FC236}">
                <a16:creationId xmlns:a16="http://schemas.microsoft.com/office/drawing/2014/main" id="{2B9614B8-2933-409E-86C0-01AAEBE801F6}"/>
              </a:ext>
            </a:extLst>
          </p:cNvPr>
          <p:cNvSpPr/>
          <p:nvPr/>
        </p:nvSpPr>
        <p:spPr>
          <a:xfrm>
            <a:off x="12052300" y="4000500"/>
            <a:ext cx="101600" cy="38100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37" name="TextBox 36">
            <a:extLst>
              <a:ext uri="{FF2B5EF4-FFF2-40B4-BE49-F238E27FC236}">
                <a16:creationId xmlns:a16="http://schemas.microsoft.com/office/drawing/2014/main" id="{D714C3F9-3E8D-4B62-8DC4-53B27F681A12}"/>
              </a:ext>
            </a:extLst>
          </p:cNvPr>
          <p:cNvSpPr txBox="1"/>
          <p:nvPr/>
        </p:nvSpPr>
        <p:spPr>
          <a:xfrm>
            <a:off x="12382500" y="4305300"/>
            <a:ext cx="736600" cy="355600"/>
          </a:xfrm>
          <a:prstGeom prst="rect">
            <a:avLst/>
          </a:prstGeom>
          <a:noFill/>
        </p:spPr>
        <p:txBody>
          <a:bodyPr vertOverflow="overflow" vert="horz" wrap="square" rtlCol="0" anchor="t">
            <a:normAutofit/>
          </a:bodyPr>
          <a:lstStyle/>
          <a:p>
            <a:pPr algn="l"/>
            <a:r>
              <a:rPr lang="en-US" altLang="ko-KR" sz="1600" b="1">
                <a:solidFill>
                  <a:srgbClr val="4775FF"/>
                </a:solidFill>
                <a:latin typeface="맑은 고딕"/>
                <a:ea typeface="맑은 고딕"/>
              </a:rPr>
              <a:t>7차</a:t>
            </a:r>
            <a:endParaRPr lang="ko-KR" altLang="en-US" sz="1600" b="1">
              <a:solidFill>
                <a:srgbClr val="4775FF"/>
              </a:solidFill>
              <a:latin typeface="맑은 고딕"/>
              <a:ea typeface="맑은 고딕"/>
            </a:endParaRPr>
          </a:p>
        </p:txBody>
      </p:sp>
      <p:sp>
        <p:nvSpPr>
          <p:cNvPr id="38" name="TextBox 37">
            <a:extLst>
              <a:ext uri="{FF2B5EF4-FFF2-40B4-BE49-F238E27FC236}">
                <a16:creationId xmlns:a16="http://schemas.microsoft.com/office/drawing/2014/main" id="{0FAF022C-0680-48CB-B26D-724C67C860E1}"/>
              </a:ext>
            </a:extLst>
          </p:cNvPr>
          <p:cNvSpPr txBox="1"/>
          <p:nvPr/>
        </p:nvSpPr>
        <p:spPr>
          <a:xfrm>
            <a:off x="12382500" y="4838700"/>
            <a:ext cx="4229100" cy="558800"/>
          </a:xfrm>
          <a:prstGeom prst="rect">
            <a:avLst/>
          </a:prstGeom>
          <a:noFill/>
        </p:spPr>
        <p:txBody>
          <a:bodyPr vertOverflow="overflow" vert="horz" wrap="square" rtlCol="0" anchor="t">
            <a:normAutofit/>
          </a:bodyPr>
          <a:lstStyle/>
          <a:p>
            <a:pPr algn="l"/>
            <a:r>
              <a:rPr lang="ko-KR" altLang="en-US" sz="2000" b="1">
                <a:solidFill>
                  <a:srgbClr val="101828"/>
                </a:solidFill>
                <a:latin typeface="맑은 고딕"/>
                <a:ea typeface="맑은 고딕"/>
              </a:rPr>
              <a:t>인하 (6월 27일)</a:t>
            </a:r>
          </a:p>
        </p:txBody>
      </p:sp>
      <p:sp>
        <p:nvSpPr>
          <p:cNvPr id="39" name="TextBox 38">
            <a:extLst>
              <a:ext uri="{FF2B5EF4-FFF2-40B4-BE49-F238E27FC236}">
                <a16:creationId xmlns:a16="http://schemas.microsoft.com/office/drawing/2014/main" id="{0861C03B-20DE-40AD-B93E-B43C0DC14E56}"/>
              </a:ext>
            </a:extLst>
          </p:cNvPr>
          <p:cNvSpPr txBox="1"/>
          <p:nvPr/>
        </p:nvSpPr>
        <p:spPr>
          <a:xfrm>
            <a:off x="12382500" y="5524500"/>
            <a:ext cx="4229100" cy="2006600"/>
          </a:xfrm>
          <a:prstGeom prst="rect">
            <a:avLst/>
          </a:prstGeom>
          <a:noFill/>
        </p:spPr>
        <p:txBody>
          <a:bodyPr vertOverflow="overflow" vert="horz" wrap="square" rtlCol="0" anchor="t">
            <a:normAutofit/>
          </a:bodyPr>
          <a:lstStyle/>
          <a:p>
            <a:pPr algn="l"/>
            <a:r>
              <a:rPr lang="ko-KR" altLang="en-US" sz="1400">
                <a:solidFill>
                  <a:srgbClr val="8A8F98"/>
                </a:solidFill>
                <a:latin typeface="맑은 고딕"/>
                <a:ea typeface="맑은 고딕"/>
              </a:rPr>
              <a:t>지원금액 63 / 36 / 37원</a:t>
            </a:r>
          </a:p>
          <a:p>
            <a:pPr algn="l"/>
            <a:r>
              <a:rPr lang="ko-KR" altLang="en-US" sz="1400">
                <a:solidFill>
                  <a:srgbClr val="8A8F98"/>
                </a:solidFill>
                <a:latin typeface="맑은 고딕"/>
                <a:ea typeface="맑은 고딕"/>
              </a:rPr>
              <a:t>실제: 세 유종 −150원</a:t>
            </a:r>
          </a:p>
          <a:p>
            <a:pPr algn="l"/>
            <a:r>
              <a:rPr lang="ko-KR" altLang="en-US" sz="1400">
                <a:solidFill>
                  <a:srgbClr val="8A8F98"/>
                </a:solidFill>
                <a:latin typeface="맑은 고딕"/>
                <a:ea typeface="맑은 고딕"/>
              </a:rPr>
              <a:t>권고: 세 유종 +120원</a:t>
            </a:r>
          </a:p>
          <a:p>
            <a:pPr algn="l"/>
            <a:r>
              <a:rPr lang="ko-KR" altLang="en-US" sz="1400">
                <a:solidFill>
                  <a:srgbClr val="8A8F98"/>
                </a:solidFill>
                <a:latin typeface="맑은 고딕"/>
                <a:ea typeface="맑은 고딕"/>
              </a:rPr>
              <a:t>지원금액이 남아 있어 인하하지 않음</a:t>
            </a:r>
          </a:p>
        </p:txBody>
      </p:sp>
      <p:sp>
        <p:nvSpPr>
          <p:cNvPr id="40" name="TextBox 39">
            <a:extLst>
              <a:ext uri="{FF2B5EF4-FFF2-40B4-BE49-F238E27FC236}">
                <a16:creationId xmlns:a16="http://schemas.microsoft.com/office/drawing/2014/main" id="{33CFC8DD-C611-42E1-B2DC-28A3383D89E0}"/>
              </a:ext>
            </a:extLst>
          </p:cNvPr>
          <p:cNvSpPr txBox="1"/>
          <p:nvPr/>
        </p:nvSpPr>
        <p:spPr>
          <a:xfrm>
            <a:off x="2603500" y="8407400"/>
            <a:ext cx="13081000" cy="355600"/>
          </a:xfrm>
          <a:prstGeom prst="rect">
            <a:avLst/>
          </a:prstGeom>
          <a:noFill/>
        </p:spPr>
        <p:txBody>
          <a:bodyPr vertOverflow="overflow" vert="horz" wrap="square" rtlCol="0" anchor="t">
            <a:normAutofit/>
          </a:bodyPr>
          <a:lstStyle/>
          <a:p>
            <a:pPr algn="l"/>
            <a:r>
              <a:rPr lang="ko-KR" altLang="en-US" sz="1500" b="1">
                <a:solidFill>
                  <a:srgbClr val="101828"/>
                </a:solidFill>
                <a:latin typeface="맑은 고딕"/>
                <a:ea typeface="맑은 고딕"/>
              </a:rPr>
              <a:t>방향 일치 0/9 · 정부는 지원금보다 물가를 훨씬 무겁게 봐 왔습니다. 권고는 '지원금을 함께 고려하면 이만큼 올릴 여지가 있다'는 기준입니다.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E4D41CFD-1144-4257-B2E6-7F1CDB464750}"/>
              </a:ext>
            </a:extLst>
          </p:cNvPr>
          <p:cNvSpPr/>
          <p:nvPr/>
        </p:nvSpPr>
        <p:spPr>
          <a:xfrm>
            <a:off x="1041400" y="914400"/>
            <a:ext cx="939800" cy="25400"/>
          </a:xfrm>
          <a:prstGeom prst="rect">
            <a:avLst/>
          </a:prstGeom>
          <a:solidFill>
            <a:srgbClr val="B8BBC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7" name="직사각형 26">
            <a:extLst>
              <a:ext uri="{FF2B5EF4-FFF2-40B4-BE49-F238E27FC236}">
                <a16:creationId xmlns:a16="http://schemas.microsoft.com/office/drawing/2014/main" id="{95F0AE0B-6DA3-4BC3-A6C0-D563FDA1678F}"/>
              </a:ext>
            </a:extLst>
          </p:cNvPr>
          <p:cNvSpPr/>
          <p:nvPr/>
        </p:nvSpPr>
        <p:spPr>
          <a:xfrm>
            <a:off x="1981200" y="914400"/>
            <a:ext cx="228600" cy="25400"/>
          </a:xfrm>
          <a:prstGeom prst="rect">
            <a:avLst/>
          </a:prstGeom>
          <a:solidFill>
            <a:srgbClr val="4775F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8" name="직사각형 27">
            <a:extLst>
              <a:ext uri="{FF2B5EF4-FFF2-40B4-BE49-F238E27FC236}">
                <a16:creationId xmlns:a16="http://schemas.microsoft.com/office/drawing/2014/main" id="{4C28524D-EBDC-4BCE-AF69-EFBED62BBF0C}"/>
              </a:ext>
            </a:extLst>
          </p:cNvPr>
          <p:cNvSpPr/>
          <p:nvPr/>
        </p:nvSpPr>
        <p:spPr>
          <a:xfrm>
            <a:off x="2209800" y="914400"/>
            <a:ext cx="13017500" cy="25400"/>
          </a:xfrm>
          <a:prstGeom prst="rect">
            <a:avLst/>
          </a:prstGeom>
          <a:solidFill>
            <a:srgbClr val="D5D7D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latin typeface="맑은 고딕"/>
              <a:ea typeface="맑은 고딕"/>
            </a:endParaRPr>
          </a:p>
        </p:txBody>
      </p:sp>
      <p:sp>
        <p:nvSpPr>
          <p:cNvPr id="29" name="TextBox 28">
            <a:extLst>
              <a:ext uri="{FF2B5EF4-FFF2-40B4-BE49-F238E27FC236}">
                <a16:creationId xmlns:a16="http://schemas.microsoft.com/office/drawing/2014/main" id="{E9C332E3-6E77-4B96-A712-3B733B480825}"/>
              </a:ext>
            </a:extLst>
          </p:cNvPr>
          <p:cNvSpPr txBox="1"/>
          <p:nvPr/>
        </p:nvSpPr>
        <p:spPr>
          <a:xfrm>
            <a:off x="1397000" y="2857500"/>
            <a:ext cx="7620000" cy="431800"/>
          </a:xfrm>
          <a:prstGeom prst="rect">
            <a:avLst/>
          </a:prstGeom>
          <a:noFill/>
        </p:spPr>
        <p:txBody>
          <a:bodyPr vertOverflow="overflow" vert="horz" wrap="square" rtlCol="0" anchor="t">
            <a:normAutofit/>
          </a:bodyPr>
          <a:lstStyle/>
          <a:p>
            <a:pPr algn="l"/>
            <a:r>
              <a:rPr lang="en-US" altLang="ko-KR" sz="1600">
                <a:solidFill>
                  <a:srgbClr val="8A8F98"/>
                </a:solidFill>
                <a:latin typeface="맑은 고딕"/>
                <a:ea typeface="맑은 고딕"/>
              </a:rPr>
              <a:t>THANK YOU</a:t>
            </a:r>
            <a:endParaRPr lang="ko-KR" altLang="en-US" sz="1600">
              <a:solidFill>
                <a:srgbClr val="8A8F98"/>
              </a:solidFill>
              <a:latin typeface="맑은 고딕"/>
              <a:ea typeface="맑은 고딕"/>
            </a:endParaRPr>
          </a:p>
        </p:txBody>
      </p:sp>
      <p:sp>
        <p:nvSpPr>
          <p:cNvPr id="30" name="TextBox 29">
            <a:extLst>
              <a:ext uri="{FF2B5EF4-FFF2-40B4-BE49-F238E27FC236}">
                <a16:creationId xmlns:a16="http://schemas.microsoft.com/office/drawing/2014/main" id="{78C288AB-1CE7-420D-B239-C73057082503}"/>
              </a:ext>
            </a:extLst>
          </p:cNvPr>
          <p:cNvSpPr txBox="1"/>
          <p:nvPr/>
        </p:nvSpPr>
        <p:spPr>
          <a:xfrm>
            <a:off x="1333500" y="3492500"/>
            <a:ext cx="8255000" cy="889000"/>
          </a:xfrm>
          <a:prstGeom prst="rect">
            <a:avLst/>
          </a:prstGeom>
          <a:noFill/>
        </p:spPr>
        <p:txBody>
          <a:bodyPr vertOverflow="overflow" vert="horz" wrap="square" rtlCol="0" anchor="t">
            <a:normAutofit/>
          </a:bodyPr>
          <a:lstStyle/>
          <a:p>
            <a:pPr algn="l"/>
            <a:r>
              <a:rPr lang="ko-KR" altLang="en-US" sz="3400" b="1">
                <a:solidFill>
                  <a:srgbClr val="101828"/>
                </a:solidFill>
                <a:latin typeface="맑은 고딕"/>
                <a:ea typeface="맑은 고딕"/>
              </a:rPr>
              <a:t>감사합니다</a:t>
            </a:r>
          </a:p>
        </p:txBody>
      </p:sp>
      <p:sp>
        <p:nvSpPr>
          <p:cNvPr id="31" name="TextBox 30">
            <a:extLst>
              <a:ext uri="{FF2B5EF4-FFF2-40B4-BE49-F238E27FC236}">
                <a16:creationId xmlns:a16="http://schemas.microsoft.com/office/drawing/2014/main" id="{5C4A5C65-6576-4A54-87E4-A0919F6A76F1}"/>
              </a:ext>
            </a:extLst>
          </p:cNvPr>
          <p:cNvSpPr txBox="1"/>
          <p:nvPr/>
        </p:nvSpPr>
        <p:spPr>
          <a:xfrm>
            <a:off x="1333500" y="4635500"/>
            <a:ext cx="8255000" cy="1270000"/>
          </a:xfrm>
          <a:prstGeom prst="rect">
            <a:avLst/>
          </a:prstGeom>
          <a:noFill/>
        </p:spPr>
        <p:txBody>
          <a:bodyPr vertOverflow="overflow" vert="horz" wrap="square" rtlCol="0" anchor="t">
            <a:normAutofit/>
          </a:bodyPr>
          <a:lstStyle/>
          <a:p>
            <a:pPr algn="l"/>
            <a:r>
              <a:rPr lang="en-US" altLang="ko-KR" sz="5200" b="1">
                <a:solidFill>
                  <a:srgbClr val="4775FF"/>
                </a:solidFill>
                <a:latin typeface="맑은 고딕"/>
                <a:ea typeface="맑은 고딕"/>
              </a:rPr>
              <a:t>Q&amp;A</a:t>
            </a:r>
            <a:endParaRPr lang="ko-KR" altLang="en-US" sz="5200" b="1">
              <a:solidFill>
                <a:srgbClr val="4775FF"/>
              </a:solidFill>
              <a:latin typeface="맑은 고딕"/>
              <a:ea typeface="맑은 고딕"/>
            </a:endParaRPr>
          </a:p>
        </p:txBody>
      </p:sp>
      <p:sp>
        <p:nvSpPr>
          <p:cNvPr id="32" name="TextBox 31">
            <a:extLst>
              <a:ext uri="{FF2B5EF4-FFF2-40B4-BE49-F238E27FC236}">
                <a16:creationId xmlns:a16="http://schemas.microsoft.com/office/drawing/2014/main" id="{8231AB59-FE33-4C99-9139-E3DFF0941627}"/>
              </a:ext>
            </a:extLst>
          </p:cNvPr>
          <p:cNvSpPr txBox="1"/>
          <p:nvPr/>
        </p:nvSpPr>
        <p:spPr>
          <a:xfrm>
            <a:off x="1397000" y="6286500"/>
            <a:ext cx="6350000" cy="431800"/>
          </a:xfrm>
          <a:prstGeom prst="rect">
            <a:avLst/>
          </a:prstGeom>
          <a:noFill/>
        </p:spPr>
        <p:txBody>
          <a:bodyPr vertOverflow="overflow" vert="horz" wrap="square" rtlCol="0" anchor="t">
            <a:normAutofit/>
          </a:bodyPr>
          <a:lstStyle/>
          <a:p>
            <a:pPr algn="l"/>
            <a:r>
              <a:rPr lang="ko-KR" altLang="en-US" sz="1700">
                <a:solidFill>
                  <a:srgbClr val="8A8F98"/>
                </a:solidFill>
                <a:latin typeface="맑은 고딕"/>
                <a:ea typeface="맑은 고딕"/>
              </a:rPr>
              <a:t>질문을 받겠습니다.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algun Gothic"/>
        <a:ea typeface="Malgun Gothic"/>
        <a:cs typeface="Malgun Gothic"/>
        <a:font script="Jpan" typeface="Malgun Gothic"/>
        <a:font script="Hang" typeface="Malgun Gothic"/>
        <a:font script="Hans" typeface="Malgun Gothic"/>
        <a:font script="Hant" typeface="Malgun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Malgun Gothic"/>
        <a:ea typeface="Malgun Gothic"/>
        <a:cs typeface="Malgun Gothic"/>
        <a:font script="Jpan" typeface="Malgun Gothic"/>
        <a:font script="Hang" typeface="Malgun Gothic"/>
        <a:font script="Hans" typeface="Malgun Gothic"/>
        <a:font script="Hant" typeface="Malgun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D6F66A-53E0-42EB-9023-0C80C3FFEF1A}">
  <we:reference id="WA200010215" version="2.0.0.1" store="Omex" storeType="OMEX"/>
  <we:alternateReferences>
    <we:reference id="WA200010215" version="2.0.0.1" store="WA200010215" storeType="OMEX"/>
  </we:alternateReferences>
  <we:properties>
    <we:property name="bps.codex_control.document_id" value="&quot;0511a356-05a5-482a-aab2-1fd07f30e40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F7041469-12CD-46F1-8C88-F901A8905E53}">
  <we:reference id="WA200010725" version="1.0.0.1" store="Omex" storeType="OMEX"/>
  <we:alternateReferences>
    <we:reference id="WA200010725" version="1.0.0.1" store="WA200010725" storeType="OMEX"/>
  </we:alternateReferences>
  <we:properties>
    <we:property name="claude.fileId" value="&quot;eafd0456-1818-4ed2-aecf-6faaa1c7e05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215</TotalTime>
  <Words>4058</Words>
  <Application>Microsoft Office PowerPoint</Application>
  <PresentationFormat>사용자 지정</PresentationFormat>
  <Paragraphs>479</Paragraphs>
  <Slides>28</Slides>
  <Notes>12</Notes>
  <HiddenSlides>0</HiddenSlides>
  <MMClips>0</MMClips>
  <ScaleCrop>false</ScaleCrop>
  <HeadingPairs>
    <vt:vector size="6" baseType="variant">
      <vt:variant>
        <vt:lpstr>사용한 글꼴</vt:lpstr>
      </vt:variant>
      <vt:variant>
        <vt:i4>3</vt:i4>
      </vt:variant>
      <vt:variant>
        <vt:lpstr>테마</vt:lpstr>
      </vt:variant>
      <vt:variant>
        <vt:i4>2</vt:i4>
      </vt:variant>
      <vt:variant>
        <vt:lpstr>슬라이드 제목</vt:lpstr>
      </vt:variant>
      <vt:variant>
        <vt:i4>28</vt:i4>
      </vt:variant>
    </vt:vector>
  </HeadingPairs>
  <TitlesOfParts>
    <vt:vector size="33" baseType="lpstr">
      <vt:lpstr>Malgun Gothic</vt:lpstr>
      <vt:lpstr>Arial</vt:lpstr>
      <vt:lpstr>Malgun Gothic</vt:lpstr>
      <vt:lpstr>Office Theme</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파란색  흰색 모던 심플한 다양한 레이아웃 기본 프레젠테이션</dc:title>
  <dc:creator>김현석김현석</dc:creator>
  <cp:lastModifiedBy>김현석</cp:lastModifiedBy>
  <cp:revision>27</cp:revision>
  <dcterms:created xsi:type="dcterms:W3CDTF">2006-08-16T00:00:00Z</dcterms:created>
  <dcterms:modified xsi:type="dcterms:W3CDTF">2026-10-10T05:26:39Z</dcterms:modified>
  <dc:identifier>DAHXkcIc91o</dc:identifier>
</cp:coreProperties>
</file>