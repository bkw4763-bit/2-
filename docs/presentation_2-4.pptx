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6" r:id="rId16"/>
    <p:sldId id="275" r:id="rId14"/>
    <p:sldId id="269" r:id="rId15"/>
    <p:sldId id="278" r:id="rId26"/>
    <p:sldId id="258" r:id="rId6"/>
    <p:sldId id="262" r:id="rId10"/>
    <p:sldId id="279" r:id="rId27"/>
    <p:sldId id="259" r:id="rId7"/>
    <p:sldId id="277" r:id="rId17"/>
    <p:sldId id="260" r:id="rId8"/>
    <p:sldId id="271" r:id="rId18"/>
  </p:sldIdLst>
  <p:sldSz cx="18288000" cy="10287000"/>
  <p:notesSz cx="6858000" cy="9144000"/>
  <p:embeddedFontLst>
    <p:embeddedFont>
      <p:font typeface="Malgun Gothic" panose="020B0503020000020004" pitchFamily="50" charset="-12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58" y="3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6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10" Type="http://schemas.openxmlformats.org/officeDocument/2006/relationships/slide" Target="slides/slide7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2.xml"/><Relationship Id="rId17" Type="http://schemas.openxmlformats.org/officeDocument/2006/relationships/slide" Target="slides/slide10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5.xml"/><Relationship Id="rId27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리터당 정부 지원금액</c:v>
                </c:pt>
              </c:strCache>
            </c:strRef>
          </c:tx>
          <c:spPr>
            <a:solidFill>
              <a:srgbClr val="CBD3DF"/>
            </a:solidFill>
          </c:spPr>
          <c:cat>
            <c:strRef>
              <c:f>Sheet1!$A$2:$A$4</c:f>
              <c:strCache>
                <c:ptCount val="3"/>
                <c:pt idx="0">
                  <c:v>휘발유</c:v>
                </c:pt>
                <c:pt idx="1">
                  <c:v>경유</c:v>
                </c:pt>
                <c:pt idx="2">
                  <c:v>등유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373</c:v>
                </c:pt>
                <c:pt idx="1">
                  <c:v>412</c:v>
                </c:pt>
                <c:pt idx="2">
                  <c:v>418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11차 권고 인상폭</c:v>
                </c:pt>
              </c:strCache>
            </c:strRef>
          </c:tx>
          <c:spPr>
            <a:solidFill>
              <a:srgbClr val="4B73FF"/>
            </a:solidFill>
          </c:spPr>
          <c:cat>
            <c:strRef>
              <c:f>Sheet1!$A$2:$A$4</c:f>
              <c:strCache>
                <c:ptCount val="3"/>
                <c:pt idx="0">
                  <c:v>휘발유</c:v>
                </c:pt>
                <c:pt idx="1">
                  <c:v>경유</c:v>
                </c:pt>
                <c:pt idx="2">
                  <c:v>등유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90</c:v>
                </c:pt>
                <c:pt idx="2">
                  <c:v>120</c:v>
                </c:pt>
              </c:numCache>
            </c:numRef>
          </c:val>
        </c:ser>
        <c:dLbls>
          <c:numFmt formatCode="#,##0&quot;원&quot;" sourceLinked="0"/>
          <c:txPr>
            <a:bodyPr/>
            <a:lstStyle/>
            <a:p>
              <a:pPr>
                <a:defRPr sz="1300" b="1">
                  <a:solidFill>
                    <a:srgbClr val="0F1A2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3DF"/>
            </a:solidFill>
          </a:ln>
        </c:spPr>
        <c:txPr>
          <a:bodyPr/>
          <a:lstStyle/>
          <a:p>
            <a:pPr>
              <a:defRPr sz="14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algun Gothic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7E899B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휘발유</c:v>
                </c:pt>
              </c:strCache>
            </c:strRef>
          </c:tx>
          <c:spPr>
            <a:ln w="28575">
              <a:solidFill>
                <a:srgbClr val="4B73FF"/>
              </a:solidFill>
            </a:ln>
          </c:spPr>
          <c:marker>
            <c:size val="5"/>
            <c:spPr>
              <a:solidFill>
                <a:srgbClr val="4B73FF"/>
              </a:solidFill>
              <a:ln>
                <a:solidFill>
                  <a:srgbClr val="4B73FF"/>
                </a:solidFill>
              </a:ln>
            </c:spPr>
          </c:marker>
          <c:dLbls>
            <c:dLbl>
              <c:idx val="28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4B73FF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3/14</c:v>
                </c:pt>
                <c:pt idx="1">
                  <c:v>3/21</c:v>
                </c:pt>
                <c:pt idx="2">
                  <c:v>3/28</c:v>
                </c:pt>
                <c:pt idx="3">
                  <c:v>4/4</c:v>
                </c:pt>
                <c:pt idx="4">
                  <c:v>4/11</c:v>
                </c:pt>
                <c:pt idx="5">
                  <c:v>4/18</c:v>
                </c:pt>
                <c:pt idx="6">
                  <c:v>4/25</c:v>
                </c:pt>
                <c:pt idx="7">
                  <c:v>5/2</c:v>
                </c:pt>
                <c:pt idx="8">
                  <c:v>5/9</c:v>
                </c:pt>
                <c:pt idx="9">
                  <c:v>5/16</c:v>
                </c:pt>
                <c:pt idx="10">
                  <c:v>5/23</c:v>
                </c:pt>
                <c:pt idx="11">
                  <c:v>5/30</c:v>
                </c:pt>
                <c:pt idx="12">
                  <c:v>6/6</c:v>
                </c:pt>
                <c:pt idx="13">
                  <c:v>6/13</c:v>
                </c:pt>
                <c:pt idx="14">
                  <c:v>6/20</c:v>
                </c:pt>
                <c:pt idx="15">
                  <c:v>6/27</c:v>
                </c:pt>
                <c:pt idx="16">
                  <c:v>7/4</c:v>
                </c:pt>
                <c:pt idx="17">
                  <c:v>7/11</c:v>
                </c:pt>
                <c:pt idx="18">
                  <c:v>7/18</c:v>
                </c:pt>
                <c:pt idx="19">
                  <c:v>7/25</c:v>
                </c:pt>
                <c:pt idx="20">
                  <c:v>8/1</c:v>
                </c:pt>
                <c:pt idx="21">
                  <c:v>8/8</c:v>
                </c:pt>
                <c:pt idx="22">
                  <c:v>8/15</c:v>
                </c:pt>
                <c:pt idx="23">
                  <c:v>8/22</c:v>
                </c:pt>
                <c:pt idx="24">
                  <c:v>8/29</c:v>
                </c:pt>
                <c:pt idx="25">
                  <c:v>9/5</c:v>
                </c:pt>
                <c:pt idx="26">
                  <c:v>9/12</c:v>
                </c:pt>
                <c:pt idx="27">
                  <c:v>9/19</c:v>
                </c:pt>
                <c:pt idx="28">
                  <c:v>9/26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160</c:v>
                </c:pt>
                <c:pt idx="1">
                  <c:v>449</c:v>
                </c:pt>
                <c:pt idx="2">
                  <c:v>562</c:v>
                </c:pt>
                <c:pt idx="3">
                  <c:v>340</c:v>
                </c:pt>
                <c:pt idx="4">
                  <c:v>304</c:v>
                </c:pt>
                <c:pt idx="5">
                  <c:v>239</c:v>
                </c:pt>
                <c:pt idx="6">
                  <c:v>167</c:v>
                </c:pt>
                <c:pt idx="7">
                  <c:v>161</c:v>
                </c:pt>
                <c:pt idx="8">
                  <c:v>183</c:v>
                </c:pt>
                <c:pt idx="9">
                  <c:v>218</c:v>
                </c:pt>
                <c:pt idx="10">
                  <c:v>250</c:v>
                </c:pt>
                <c:pt idx="11">
                  <c:v>224</c:v>
                </c:pt>
                <c:pt idx="12">
                  <c:v>162</c:v>
                </c:pt>
                <c:pt idx="13">
                  <c:v>116</c:v>
                </c:pt>
                <c:pt idx="14">
                  <c:v>65</c:v>
                </c:pt>
                <c:pt idx="15">
                  <c:v>54</c:v>
                </c:pt>
                <c:pt idx="16">
                  <c:v>100</c:v>
                </c:pt>
                <c:pt idx="17">
                  <c:v>67</c:v>
                </c:pt>
                <c:pt idx="18">
                  <c:v>71</c:v>
                </c:pt>
                <c:pt idx="19">
                  <c:v>136</c:v>
                </c:pt>
                <c:pt idx="20">
                  <c:v>196</c:v>
                </c:pt>
                <c:pt idx="21">
                  <c:v>164</c:v>
                </c:pt>
                <c:pt idx="22">
                  <c:v>115</c:v>
                </c:pt>
                <c:pt idx="23">
                  <c:v>109</c:v>
                </c:pt>
                <c:pt idx="24">
                  <c:v>118</c:v>
                </c:pt>
                <c:pt idx="25">
                  <c:v>131</c:v>
                </c:pt>
                <c:pt idx="26">
                  <c:v>179</c:v>
                </c:pt>
                <c:pt idx="27">
                  <c:v>272</c:v>
                </c:pt>
                <c:pt idx="28">
                  <c:v>335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경유</c:v>
                </c:pt>
              </c:strCache>
            </c:strRef>
          </c:tx>
          <c:spPr>
            <a:ln w="28575">
              <a:solidFill>
                <a:srgbClr val="0F1A2E"/>
              </a:solidFill>
            </a:ln>
          </c:spPr>
          <c:marker>
            <c:size val="5"/>
            <c:spPr>
              <a:solidFill>
                <a:srgbClr val="0F1A2E"/>
              </a:solidFill>
              <a:ln>
                <a:solidFill>
                  <a:srgbClr val="0F1A2E"/>
                </a:solidFill>
              </a:ln>
            </c:spPr>
          </c:marker>
          <c:dLbls>
            <c:dLbl>
              <c:idx val="28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0F1A2E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3/14</c:v>
                </c:pt>
                <c:pt idx="1">
                  <c:v>3/21</c:v>
                </c:pt>
                <c:pt idx="2">
                  <c:v>3/28</c:v>
                </c:pt>
                <c:pt idx="3">
                  <c:v>4/4</c:v>
                </c:pt>
                <c:pt idx="4">
                  <c:v>4/11</c:v>
                </c:pt>
                <c:pt idx="5">
                  <c:v>4/18</c:v>
                </c:pt>
                <c:pt idx="6">
                  <c:v>4/25</c:v>
                </c:pt>
                <c:pt idx="7">
                  <c:v>5/2</c:v>
                </c:pt>
                <c:pt idx="8">
                  <c:v>5/9</c:v>
                </c:pt>
                <c:pt idx="9">
                  <c:v>5/16</c:v>
                </c:pt>
                <c:pt idx="10">
                  <c:v>5/23</c:v>
                </c:pt>
                <c:pt idx="11">
                  <c:v>5/30</c:v>
                </c:pt>
                <c:pt idx="12">
                  <c:v>6/6</c:v>
                </c:pt>
                <c:pt idx="13">
                  <c:v>6/13</c:v>
                </c:pt>
                <c:pt idx="14">
                  <c:v>6/20</c:v>
                </c:pt>
                <c:pt idx="15">
                  <c:v>6/27</c:v>
                </c:pt>
                <c:pt idx="16">
                  <c:v>7/4</c:v>
                </c:pt>
                <c:pt idx="17">
                  <c:v>7/11</c:v>
                </c:pt>
                <c:pt idx="18">
                  <c:v>7/18</c:v>
                </c:pt>
                <c:pt idx="19">
                  <c:v>7/25</c:v>
                </c:pt>
                <c:pt idx="20">
                  <c:v>8/1</c:v>
                </c:pt>
                <c:pt idx="21">
                  <c:v>8/8</c:v>
                </c:pt>
                <c:pt idx="22">
                  <c:v>8/15</c:v>
                </c:pt>
                <c:pt idx="23">
                  <c:v>8/22</c:v>
                </c:pt>
                <c:pt idx="24">
                  <c:v>8/29</c:v>
                </c:pt>
                <c:pt idx="25">
                  <c:v>9/5</c:v>
                </c:pt>
                <c:pt idx="26">
                  <c:v>9/12</c:v>
                </c:pt>
                <c:pt idx="27">
                  <c:v>9/19</c:v>
                </c:pt>
                <c:pt idx="28">
                  <c:v>9/26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303</c:v>
                </c:pt>
                <c:pt idx="1">
                  <c:v>809</c:v>
                </c:pt>
                <c:pt idx="2">
                  <c:v>1082</c:v>
                </c:pt>
                <c:pt idx="3">
                  <c:v>1085</c:v>
                </c:pt>
                <c:pt idx="4">
                  <c:v>1146</c:v>
                </c:pt>
                <c:pt idx="5">
                  <c:v>900</c:v>
                </c:pt>
                <c:pt idx="6">
                  <c:v>555</c:v>
                </c:pt>
                <c:pt idx="7">
                  <c:v>402</c:v>
                </c:pt>
                <c:pt idx="8">
                  <c:v>324</c:v>
                </c:pt>
                <c:pt idx="9">
                  <c:v>302</c:v>
                </c:pt>
                <c:pt idx="10">
                  <c:v>301</c:v>
                </c:pt>
                <c:pt idx="11">
                  <c:v>248</c:v>
                </c:pt>
                <c:pt idx="12">
                  <c:v>202</c:v>
                </c:pt>
                <c:pt idx="13">
                  <c:v>154</c:v>
                </c:pt>
                <c:pt idx="14">
                  <c:v>38</c:v>
                </c:pt>
                <c:pt idx="15">
                  <c:v>-5</c:v>
                </c:pt>
                <c:pt idx="16">
                  <c:v>55</c:v>
                </c:pt>
                <c:pt idx="17">
                  <c:v>47</c:v>
                </c:pt>
                <c:pt idx="18">
                  <c:v>158</c:v>
                </c:pt>
                <c:pt idx="19">
                  <c:v>307</c:v>
                </c:pt>
                <c:pt idx="20">
                  <c:v>408</c:v>
                </c:pt>
                <c:pt idx="21">
                  <c:v>351</c:v>
                </c:pt>
                <c:pt idx="22">
                  <c:v>327</c:v>
                </c:pt>
                <c:pt idx="23">
                  <c:v>348</c:v>
                </c:pt>
                <c:pt idx="24">
                  <c:v>336</c:v>
                </c:pt>
                <c:pt idx="25">
                  <c:v>327</c:v>
                </c:pt>
                <c:pt idx="26">
                  <c:v>355</c:v>
                </c:pt>
                <c:pt idx="27">
                  <c:v>473</c:v>
                </c:pt>
                <c:pt idx="28">
                  <c:v>511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등유</c:v>
                </c:pt>
              </c:strCache>
            </c:strRef>
          </c:tx>
          <c:spPr>
            <a:ln w="28575">
              <a:solidFill>
                <a:srgbClr val="35C6E8"/>
              </a:solidFill>
            </a:ln>
          </c:spPr>
          <c:marker>
            <c:size val="5"/>
            <c:spPr>
              <a:solidFill>
                <a:srgbClr val="35C6E8"/>
              </a:solidFill>
              <a:ln>
                <a:solidFill>
                  <a:srgbClr val="35C6E8"/>
                </a:solidFill>
              </a:ln>
            </c:spPr>
          </c:marker>
          <c:dLbls>
            <c:dLbl>
              <c:idx val="28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35C6E8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3/14</c:v>
                </c:pt>
                <c:pt idx="1">
                  <c:v>3/21</c:v>
                </c:pt>
                <c:pt idx="2">
                  <c:v>3/28</c:v>
                </c:pt>
                <c:pt idx="3">
                  <c:v>4/4</c:v>
                </c:pt>
                <c:pt idx="4">
                  <c:v>4/11</c:v>
                </c:pt>
                <c:pt idx="5">
                  <c:v>4/18</c:v>
                </c:pt>
                <c:pt idx="6">
                  <c:v>4/25</c:v>
                </c:pt>
                <c:pt idx="7">
                  <c:v>5/2</c:v>
                </c:pt>
                <c:pt idx="8">
                  <c:v>5/9</c:v>
                </c:pt>
                <c:pt idx="9">
                  <c:v>5/16</c:v>
                </c:pt>
                <c:pt idx="10">
                  <c:v>5/23</c:v>
                </c:pt>
                <c:pt idx="11">
                  <c:v>5/30</c:v>
                </c:pt>
                <c:pt idx="12">
                  <c:v>6/6</c:v>
                </c:pt>
                <c:pt idx="13">
                  <c:v>6/13</c:v>
                </c:pt>
                <c:pt idx="14">
                  <c:v>6/20</c:v>
                </c:pt>
                <c:pt idx="15">
                  <c:v>6/27</c:v>
                </c:pt>
                <c:pt idx="16">
                  <c:v>7/4</c:v>
                </c:pt>
                <c:pt idx="17">
                  <c:v>7/11</c:v>
                </c:pt>
                <c:pt idx="18">
                  <c:v>7/18</c:v>
                </c:pt>
                <c:pt idx="19">
                  <c:v>7/25</c:v>
                </c:pt>
                <c:pt idx="20">
                  <c:v>8/1</c:v>
                </c:pt>
                <c:pt idx="21">
                  <c:v>8/8</c:v>
                </c:pt>
                <c:pt idx="22">
                  <c:v>8/15</c:v>
                </c:pt>
                <c:pt idx="23">
                  <c:v>8/22</c:v>
                </c:pt>
                <c:pt idx="24">
                  <c:v>8/29</c:v>
                </c:pt>
                <c:pt idx="25">
                  <c:v>9/5</c:v>
                </c:pt>
                <c:pt idx="26">
                  <c:v>9/12</c:v>
                </c:pt>
                <c:pt idx="27">
                  <c:v>9/19</c:v>
                </c:pt>
                <c:pt idx="28">
                  <c:v>9/26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308</c:v>
                </c:pt>
                <c:pt idx="1">
                  <c:v>793</c:v>
                </c:pt>
                <c:pt idx="2">
                  <c:v>946</c:v>
                </c:pt>
                <c:pt idx="3">
                  <c:v>911</c:v>
                </c:pt>
                <c:pt idx="4">
                  <c:v>938</c:v>
                </c:pt>
                <c:pt idx="5">
                  <c:v>896</c:v>
                </c:pt>
                <c:pt idx="6">
                  <c:v>719</c:v>
                </c:pt>
                <c:pt idx="7">
                  <c:v>580</c:v>
                </c:pt>
                <c:pt idx="8">
                  <c:v>418</c:v>
                </c:pt>
                <c:pt idx="9">
                  <c:v>319</c:v>
                </c:pt>
                <c:pt idx="10">
                  <c:v>268</c:v>
                </c:pt>
                <c:pt idx="11">
                  <c:v>191</c:v>
                </c:pt>
                <c:pt idx="12">
                  <c:v>151</c:v>
                </c:pt>
                <c:pt idx="13">
                  <c:v>125</c:v>
                </c:pt>
                <c:pt idx="14">
                  <c:v>41</c:v>
                </c:pt>
                <c:pt idx="15">
                  <c:v>-41</c:v>
                </c:pt>
                <c:pt idx="16">
                  <c:v>17</c:v>
                </c:pt>
                <c:pt idx="17">
                  <c:v>36</c:v>
                </c:pt>
                <c:pt idx="18">
                  <c:v>145</c:v>
                </c:pt>
                <c:pt idx="19">
                  <c:v>278</c:v>
                </c:pt>
                <c:pt idx="20">
                  <c:v>349</c:v>
                </c:pt>
                <c:pt idx="21">
                  <c:v>295</c:v>
                </c:pt>
                <c:pt idx="22">
                  <c:v>263</c:v>
                </c:pt>
                <c:pt idx="23">
                  <c:v>274</c:v>
                </c:pt>
                <c:pt idx="24">
                  <c:v>264</c:v>
                </c:pt>
                <c:pt idx="25">
                  <c:v>254</c:v>
                </c:pt>
                <c:pt idx="26">
                  <c:v>285</c:v>
                </c:pt>
                <c:pt idx="27">
                  <c:v>391</c:v>
                </c:pt>
                <c:pt idx="28">
                  <c:v>432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3D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8ECF2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latin typeface="Malgun Gothi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7E899B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100원 인상 시 물가 상승</c:v>
                </c:pt>
              </c:strCache>
            </c:strRef>
          </c:tx>
          <c:dPt>
            <c:idx val="0"/>
            <c:spPr>
              <a:solidFill>
                <a:srgbClr val="4B73FF"/>
              </a:solidFill>
            </c:spPr>
          </c:dPt>
          <c:dPt>
            <c:idx val="1"/>
            <c:spPr>
              <a:solidFill>
                <a:srgbClr val="0F1A2E"/>
              </a:solidFill>
            </c:spPr>
          </c:dPt>
          <c:dPt>
            <c:idx val="2"/>
            <c:spPr>
              <a:solidFill>
                <a:srgbClr val="35C6E8"/>
              </a:solidFill>
            </c:spPr>
          </c:dPt>
          <c:cat>
            <c:strRef>
              <c:f>Sheet1!$A$2:$A$4</c:f>
              <c:strCache>
                <c:ptCount val="3"/>
                <c:pt idx="0">
                  <c:v>휘발유</c:v>
                </c:pt>
                <c:pt idx="1">
                  <c:v>경유</c:v>
                </c:pt>
                <c:pt idx="2">
                  <c:v>등유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0.103</c:v>
                </c:pt>
                <c:pt idx="1">
                  <c:v>0.071</c:v>
                </c:pt>
                <c:pt idx="2">
                  <c:v>0.005</c:v>
                </c:pt>
              </c:numCache>
            </c:numRef>
          </c:val>
        </c:ser>
        <c:dLbls>
          <c:numFmt formatCode="0.000&quot;%p&quot;" sourceLinked="0"/>
          <c:txPr>
            <a:bodyPr/>
            <a:lstStyle/>
            <a:p>
              <a:pPr>
                <a:defRPr sz="1600" b="1">
                  <a:solidFill>
                    <a:srgbClr val="0F1A2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3DF"/>
            </a:solidFill>
          </a:ln>
        </c:spPr>
        <c:txPr>
          <a:bodyPr/>
          <a:lstStyle/>
          <a:p>
            <a:pPr>
              <a:defRPr sz="14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3"/>
          <c:min val="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7E899B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회귀로 구한 '상한제가 없었다면 가격'을 받아, 정부 재정 부담, 물가 영향, 11차 결정 권고까지 계산한 부분을 발표합니다. 결론부터 말하면 11차에 휘발유 30원, 경유 90원, 등유 120원을 올리자는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단계가 차례로 이어집니다. 리터당 지원금액을 구하고, 판매량을 곱해 재정 부담을 구하고, 상한을 올렸을 때의 물가 영향을 계산한 뒤, 두 가지를 함께 따져 11차 조정 폭을 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선은 매주 정부가 정유사에 리터당 얼마를 지원했는지입니다. 3~4월 급등기에 경유는 1,000원을 넘었고, 6월 말에는 0 근처로 내려왔다가 9월 말 다시 커졌습니다. 여기에 판매량을 곱해 더하면 6.35조 원이고, 판매량이 가장 많은 경유가 71%를 차지합니다.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상한을 100원 올려도 주유소 가격이 바로 100원 오르지는 않습니다. 실제 두 번의 조정을 보면 4주 뒤 휘발유와 경유는 약 90%, 등유는 39%만 따라 올랐습니다. 이 비율과 물가 가중치로 물가 기여도를 계산합니다. 이 방법으로 상한제가 3~8월 물가를 얼마나 낮췄는지 계산하면 0.58%p로, 정부 설명 0.6%p와 맞습니다.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100원을 올렸을 때 물가가 오르는 정도입니다. 휘발유는 많은 사람이 사서 물가 가중치가 크고, 주유소 가격도 잘 따라 오릅니다. 등유는 가중치가 작고 반영도 적어 거의 영향이 없습니다. 그래서 물가를 덜 올리면서 지원금을 줄이려면 등유·경유를 더 올리는 것이 유리합니다.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 유가를 모르기 때문에, 과거 유가와 환율의 움직임을 4주씩 뽑아 이어 붙여 앞으로 24주의 유가 500가지를 만듭니다. 각 유종을 6단계로 조정하는 216가지 안을 500가지 유가에 모두 적용해 24주 지원금을 계산하고, 물가 한도를 지키는 안 중 평균 지원금이 가장 적은 안을 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중요한 설정은 월 물가 한도입니다. 9월 기준으로 상한제가 물가를 0.623%p 눌러 두고 있는데, 이것을 남은 6차수에 나눠 한 번에 0.104%p씩 되돌리는 속도로 정했습니다. 정부가 실제로 한 2차 인상(0.375%p)보다 훨씬 작습니다. 또 지원금액이 큰 유종을 내려서 한도를 비우는 이상한 안이 나오지 않도록, 지원금액이 60원 미만일 때만 인하할 수 있게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회색 막대는 지금 정부가 리터당 지원하는 금액, 파란 막대는 11차에 올리자는 금액입니다. 휘발유는 물가 영향이 커서 30원만, 등유는 물가 영향이 거의 없어 120원을 올립니다. 이렇게 하면 이번 달 물가는 0.1%p 오르고, 정부 지원금은 4주에 약 1,900억 원 줄어듭니다.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선택을 나란히 놓았습니다. 그대로 두면 물가는 오르지 않지만 24주 동안 정부가 5.72조 원을 지원해야 합니다. 권고대로 하면 이번 달 물가가 0.1%p 오르는 대신 지원금이 4.86조 원으로 약 8,600억 원 줄어듭니다.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확실하지 않은 설정을 하나씩 바꿔 봤습니다. 반영률, 물가 한도, 미래 유가를 뽑는 기간, 난수를 바꿔도 휘발유를 가장 적게 올리고 경유·등유를 더 많이 올린다는 결론은 그대로였습니다.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2~10차 각 결정일에 그때까지의 자료만으로 같은 규칙을 적용해 봤습니다. 정부는 지원금이 남아 있어도 동결했고, 지원금이 가장 작던 7차에 내렸습니다. 우리 규칙과 방향이 한 번도 맞지 않았는데, 이는 정부가 물가를 훨씬 무겁게 봐 왔다는 뜻입니다. 그래서 이 권고는 재정을 함께 고려했을 때의 비교 기준으로 쓰는 것이 맞습니다.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예상: 물가 한도는 왜 0.104%p인가 → 상한제가 눌러 둔 물가 0.623%p를 6차수에 나눠 되돌리는 속도. 재정 부담이 업계 추산보다 큰 이유 → 기준 가격에 최근 정유사 마진(약 100원)이 포함됨.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79B6BEF-3F2B-4A96-8B21-A35997A69175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B8BBC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822447-711F-4F70-A384-C51669F472E2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684F7B-A027-4B1F-88DF-AFB03DF42E87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7D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AB698C-71A0-413B-8424-5ADCCFE4FB69}"/>
              </a:ext>
            </a:extLst>
          </p:cNvPr>
          <p:cNvSpPr/>
          <p:nvPr/>
        </p:nvSpPr>
        <p:spPr>
          <a:xfrm>
            <a:off x="12255500" y="1549400"/>
            <a:ext cx="6032500" cy="8737600"/>
          </a:xfrm>
          <a:prstGeom prst="rect">
            <a:avLst/>
          </a:prstGeom>
          <a:solidFill>
            <a:srgbClr val="10182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855D3D9-D1C8-480C-A533-6FAD5069926A}"/>
              </a:ext>
            </a:extLst>
          </p:cNvPr>
          <p:cNvSpPr/>
          <p:nvPr/>
        </p:nvSpPr>
        <p:spPr>
          <a:xfrm>
            <a:off x="12255500" y="1549400"/>
            <a:ext cx="152400" cy="87376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DC5371-3E38-4D5F-9A8D-824E8C6CE8C0}"/>
              </a:ext>
            </a:extLst>
          </p:cNvPr>
          <p:cNvSpPr/>
          <p:nvPr/>
        </p:nvSpPr>
        <p:spPr>
          <a:xfrm>
            <a:off x="14414500" y="2984500"/>
            <a:ext cx="2667000" cy="101600"/>
          </a:xfrm>
          <a:prstGeom prst="rect">
            <a:avLst/>
          </a:prstGeom>
          <a:solidFill>
            <a:srgbClr val="39C6E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3D4F6B-6B35-4D5B-8B7A-0CA23C3E6C89}"/>
              </a:ext>
            </a:extLst>
          </p:cNvPr>
          <p:cNvSpPr/>
          <p:nvPr/>
        </p:nvSpPr>
        <p:spPr>
          <a:xfrm>
            <a:off x="13843000" y="3619500"/>
            <a:ext cx="3238500" cy="1016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2686F6-8E49-4013-928E-7554BB6B570E}"/>
              </a:ext>
            </a:extLst>
          </p:cNvPr>
          <p:cNvSpPr/>
          <p:nvPr/>
        </p:nvSpPr>
        <p:spPr>
          <a:xfrm>
            <a:off x="14986000" y="4254500"/>
            <a:ext cx="2095500" cy="101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3BDC76-3481-422E-AF13-DACA197476DF}"/>
              </a:ext>
            </a:extLst>
          </p:cNvPr>
          <p:cNvSpPr txBox="1"/>
          <p:nvPr/>
        </p:nvSpPr>
        <p:spPr>
          <a:xfrm>
            <a:off x="1397000" y="2667000"/>
            <a:ext cx="8890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500">
                <a:solidFill>
                  <a:srgbClr val="8A8F98"/>
                </a:solidFill>
                <a:latin typeface="Malgun Gothic"/>
                <a:ea typeface="Malgun Gothic"/>
              </a:rPr>
              <a:t>FISCAL · CPI · DECISION  |  분석 2~4단계</a:t>
            </a:r>
            <a:endParaRPr lang="ko-KR" altLang="en-US" sz="1500">
              <a:solidFill>
                <a:srgbClr val="8A8F98"/>
              </a:solidFill>
              <a:latin typeface="Malgun Gothic"/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0C72C1-5100-4D79-8443-15E9CE6B22B0}"/>
              </a:ext>
            </a:extLst>
          </p:cNvPr>
          <p:cNvSpPr txBox="1"/>
          <p:nvPr/>
        </p:nvSpPr>
        <p:spPr>
          <a:xfrm>
            <a:off x="1333500" y="3302000"/>
            <a:ext cx="9652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4000" b="1">
                <a:solidFill>
                  <a:srgbClr val="101828"/>
                </a:solidFill>
                <a:latin typeface="Malgun Gothic"/>
                <a:ea typeface="Malgun Gothic"/>
              </a:rPr>
              <a:t>11차 석유 최고가격</a:t>
            </a:r>
          </a:p>
          <a:p>
            <a:pPr algn="l"/>
            <a:r>
              <a:rPr lang="ko-KR" altLang="en-US" sz="4000" b="1">
                <a:solidFill>
                  <a:srgbClr val="101828"/>
                </a:solidFill>
                <a:latin typeface="Malgun Gothic"/>
                <a:ea typeface="Malgun Gothic"/>
              </a:rPr>
              <a:t>권고안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5C02CF-8DB9-4B89-A1AB-7079F4F42629}"/>
              </a:ext>
            </a:extLst>
          </p:cNvPr>
          <p:cNvSpPr/>
          <p:nvPr/>
        </p:nvSpPr>
        <p:spPr>
          <a:xfrm>
            <a:off x="1397000" y="5905500"/>
            <a:ext cx="1587500" cy="889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DEABE2-FFEE-45D5-A79F-8D6ABB8D5278}"/>
              </a:ext>
            </a:extLst>
          </p:cNvPr>
          <p:cNvSpPr txBox="1"/>
          <p:nvPr/>
        </p:nvSpPr>
        <p:spPr>
          <a:xfrm>
            <a:off x="1397000" y="6350000"/>
            <a:ext cx="9017000" cy="1041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100" b="1">
                <a:solidFill>
                  <a:srgbClr val="101828"/>
                </a:solidFill>
                <a:latin typeface="Malgun Gothic"/>
                <a:ea typeface="Malgun Gothic"/>
              </a:rPr>
              <a:t>휘발유 +30원 · 경유 +90원 · 등유 +120원</a:t>
            </a:r>
          </a:p>
          <a:p>
            <a:pPr algn="l"/>
            <a:r>
              <a:rPr lang="ko-KR" altLang="en-US" sz="2100" b="1">
                <a:solidFill>
                  <a:srgbClr val="101828"/>
                </a:solidFill>
                <a:latin typeface="Malgun Gothic"/>
                <a:ea typeface="Malgun Gothic"/>
              </a:rPr>
              <a:t>정부 재정 부담과 물가를 함께 따진 조정 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700BC-07BC-4AD5-8032-C9AAEA741779}"/>
              </a:ext>
            </a:extLst>
          </p:cNvPr>
          <p:cNvSpPr txBox="1"/>
          <p:nvPr/>
        </p:nvSpPr>
        <p:spPr>
          <a:xfrm>
            <a:off x="1397000" y="7810500"/>
            <a:ext cx="9144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8A8F98"/>
                </a:solidFill>
                <a:latin typeface="Malgun Gothic"/>
                <a:ea typeface="Malgun Gothic"/>
              </a:rPr>
              <a:t>재정 부담 계산 · 물가 영향 계산 · 결정 최적화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CF2F6E-A85E-4327-A02F-0E1A8052E57C}"/>
              </a:ext>
            </a:extLst>
          </p:cNvPr>
          <p:cNvSpPr txBox="1"/>
          <p:nvPr/>
        </p:nvSpPr>
        <p:spPr>
          <a:xfrm>
            <a:off x="1397000" y="87630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 b="1">
                <a:solidFill>
                  <a:srgbClr val="4775FF"/>
                </a:solidFill>
                <a:latin typeface="Malgun Gothic"/>
                <a:ea typeface="Malgun Gothic"/>
              </a:rPr>
              <a:t>경제학과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4D61F66-E033-42E3-8303-9F76A3B3322F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B8BBC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5BE171-49A1-4E91-938E-4F16D5B5DA85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511D941-D737-4DA1-AE44-D856FE284A34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7D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F3FDB0-EC29-4D92-B172-4C0EDF96B2DE}"/>
              </a:ext>
            </a:extLst>
          </p:cNvPr>
          <p:cNvSpPr txBox="1"/>
          <p:nvPr/>
        </p:nvSpPr>
        <p:spPr>
          <a:xfrm>
            <a:off x="1092200" y="15875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>
                <a:solidFill>
                  <a:srgbClr val="8793A6"/>
                </a:solidFill>
                <a:latin typeface="Malgun Gothic"/>
                <a:ea typeface="Malgun Gothic"/>
              </a:rPr>
              <a:t>CALCULATION FLOW</a:t>
            </a:r>
            <a:endParaRPr lang="ko-KR" altLang="en-US" sz="1200">
              <a:solidFill>
                <a:srgbClr val="8793A6"/>
              </a:solidFill>
              <a:latin typeface="Malgun Gothic"/>
              <a:ea typeface="Malgun 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08ACC4-6C7E-4B19-B410-67AE25706894}"/>
              </a:ext>
            </a:extLst>
          </p:cNvPr>
          <p:cNvSpPr txBox="1"/>
          <p:nvPr/>
        </p:nvSpPr>
        <p:spPr>
          <a:xfrm>
            <a:off x="1041400" y="2082800"/>
            <a:ext cx="15494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700" b="1">
                <a:solidFill>
                  <a:srgbClr val="0F1A2E"/>
                </a:solidFill>
                <a:latin typeface="Malgun Gothic"/>
                <a:ea typeface="Malgun Gothic"/>
              </a:rPr>
              <a:t>회귀 결과에서 재정 부담, 물가 영향, 11차 권고를 차례로 계산합니다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16BACA-814E-4ABF-8587-CBAFFD437479}"/>
              </a:ext>
            </a:extLst>
          </p:cNvPr>
          <p:cNvSpPr txBox="1"/>
          <p:nvPr/>
        </p:nvSpPr>
        <p:spPr>
          <a:xfrm>
            <a:off x="1092200" y="3022600"/>
            <a:ext cx="147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>
                <a:solidFill>
                  <a:srgbClr val="8A95A8"/>
                </a:solidFill>
                <a:latin typeface="Malgun Gothic"/>
                <a:ea typeface="Malgun Gothic"/>
              </a:rPr>
              <a:t>앞 단계의 결과가 다음 단계의 입력이 됩니다. 2~4단계 코드는 policy/ 폴더에 있습니다.</a:t>
            </a:r>
            <a:endParaRPr lang="ko-KR" altLang="en-US" sz="1400">
              <a:solidFill>
                <a:srgbClr val="8A95A8"/>
              </a:solidFill>
              <a:latin typeface="Malgun Gothic"/>
              <a:ea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0B55F5-76C4-4A1C-B2EF-519262A1D2F3}"/>
              </a:ext>
            </a:extLst>
          </p:cNvPr>
          <p:cNvSpPr/>
          <p:nvPr/>
        </p:nvSpPr>
        <p:spPr>
          <a:xfrm>
            <a:off x="1041400" y="3937000"/>
            <a:ext cx="3492500" cy="381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DDE3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27C4C4-9E66-43E8-A314-AECE855783E6}"/>
              </a:ext>
            </a:extLst>
          </p:cNvPr>
          <p:cNvSpPr/>
          <p:nvPr/>
        </p:nvSpPr>
        <p:spPr>
          <a:xfrm>
            <a:off x="1041400" y="3937000"/>
            <a:ext cx="3492500" cy="685800"/>
          </a:xfrm>
          <a:prstGeom prst="rect">
            <a:avLst/>
          </a:prstGeom>
          <a:solidFill>
            <a:srgbClr val="4B73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60768-5E3C-42D1-BCB1-975F3986AE54}"/>
              </a:ext>
            </a:extLst>
          </p:cNvPr>
          <p:cNvSpPr txBox="1"/>
          <p:nvPr/>
        </p:nvSpPr>
        <p:spPr>
          <a:xfrm>
            <a:off x="1346200" y="41402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44031-B91F-407B-83BE-D9857A7064A2}"/>
              </a:ext>
            </a:extLst>
          </p:cNvPr>
          <p:cNvSpPr txBox="1"/>
          <p:nvPr/>
        </p:nvSpPr>
        <p:spPr>
          <a:xfrm>
            <a:off x="1346200" y="4927600"/>
            <a:ext cx="2857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700" b="1">
                <a:solidFill>
                  <a:srgbClr val="0F1A2E"/>
                </a:solidFill>
                <a:latin typeface="Malgun Gothic"/>
                <a:ea typeface="Malgun Gothic"/>
              </a:rPr>
              <a:t>정부 지원금액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51CC6-77C0-47C7-8202-415BA90F358C}"/>
              </a:ext>
            </a:extLst>
          </p:cNvPr>
          <p:cNvSpPr txBox="1"/>
          <p:nvPr/>
        </p:nvSpPr>
        <p:spPr>
          <a:xfrm>
            <a:off x="1346200" y="5613400"/>
            <a:ext cx="28575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 b="1">
                <a:solidFill>
                  <a:srgbClr val="4B73FF"/>
                </a:solidFill>
                <a:latin typeface="Malgun Gothic"/>
                <a:ea typeface="Malgun Gothic"/>
              </a:rPr>
              <a:t>상한제가 없었다면 가격</a:t>
            </a:r>
            <a:endParaRPr lang="ko-KR" altLang="en-US" sz="1400" b="1">
              <a:solidFill>
                <a:srgbClr val="4B73FF"/>
              </a:solidFill>
              <a:latin typeface="Malgun Gothic"/>
              <a:ea typeface="Malgun Gothic"/>
            </a:endParaRPr>
          </a:p>
          <a:p>
            <a:pPr algn="l"/>
            <a:r>
              <a:rPr lang="en-US" altLang="ko-KR" sz="1400" b="1">
                <a:solidFill>
                  <a:srgbClr val="4B73FF"/>
                </a:solidFill>
                <a:latin typeface="Malgun Gothic"/>
                <a:ea typeface="Malgun Gothic"/>
              </a:rPr>
              <a:t>− 최고가격</a:t>
            </a:r>
            <a:endParaRPr lang="ko-KR" altLang="en-US" sz="1400" b="1">
              <a:solidFill>
                <a:srgbClr val="4B73FF"/>
              </a:solidFill>
              <a:latin typeface="Malgun Gothic"/>
              <a:ea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A3B60-9AD5-4F25-8528-08F05A25B7EF}"/>
              </a:ext>
            </a:extLst>
          </p:cNvPr>
          <p:cNvSpPr txBox="1"/>
          <p:nvPr/>
        </p:nvSpPr>
        <p:spPr>
          <a:xfrm>
            <a:off x="1346200" y="6680200"/>
            <a:ext cx="28575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200">
                <a:solidFill>
                  <a:srgbClr val="7E899B"/>
                </a:solidFill>
                <a:latin typeface="Malgun Gothic"/>
                <a:ea typeface="Malgun Gothic"/>
              </a:rPr>
              <a:t>1단계 회귀 결과를 받아</a:t>
            </a:r>
          </a:p>
          <a:p>
            <a:pPr algn="l"/>
            <a:r>
              <a:rPr lang="ko-KR" altLang="en-US" sz="1200">
                <a:solidFill>
                  <a:srgbClr val="7E899B"/>
                </a:solidFill>
                <a:latin typeface="Malgun Gothic"/>
                <a:ea typeface="Malgun Gothic"/>
              </a:rPr>
              <a:t>리터당 지원금액 계산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BE420-0415-46B2-A516-97F28826B393}"/>
              </a:ext>
            </a:extLst>
          </p:cNvPr>
          <p:cNvSpPr txBox="1"/>
          <p:nvPr/>
        </p:nvSpPr>
        <p:spPr>
          <a:xfrm>
            <a:off x="4622800" y="5562600"/>
            <a:ext cx="355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400" b="1">
                <a:solidFill>
                  <a:srgbClr val="4B73FF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C2D22FE-CAEF-456B-84DD-60627A37DAA4}"/>
              </a:ext>
            </a:extLst>
          </p:cNvPr>
          <p:cNvSpPr/>
          <p:nvPr/>
        </p:nvSpPr>
        <p:spPr>
          <a:xfrm>
            <a:off x="5041900" y="3937000"/>
            <a:ext cx="3492500" cy="381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DDE3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BA4F4D3-A10C-4C7F-956A-A39A635A20F0}"/>
              </a:ext>
            </a:extLst>
          </p:cNvPr>
          <p:cNvSpPr/>
          <p:nvPr/>
        </p:nvSpPr>
        <p:spPr>
          <a:xfrm>
            <a:off x="5041900" y="3937000"/>
            <a:ext cx="3492500" cy="685800"/>
          </a:xfrm>
          <a:prstGeom prst="rect">
            <a:avLst/>
          </a:prstGeom>
          <a:solidFill>
            <a:srgbClr val="0F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C3C7DC-38F8-4C04-AA03-BD200F5D4669}"/>
              </a:ext>
            </a:extLst>
          </p:cNvPr>
          <p:cNvSpPr txBox="1"/>
          <p:nvPr/>
        </p:nvSpPr>
        <p:spPr>
          <a:xfrm>
            <a:off x="5346700" y="41402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2C3793-C2C3-47D2-9833-53F4492FCB02}"/>
              </a:ext>
            </a:extLst>
          </p:cNvPr>
          <p:cNvSpPr txBox="1"/>
          <p:nvPr/>
        </p:nvSpPr>
        <p:spPr>
          <a:xfrm>
            <a:off x="5346700" y="4927600"/>
            <a:ext cx="2857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700" b="1">
                <a:solidFill>
                  <a:srgbClr val="0F1A2E"/>
                </a:solidFill>
                <a:latin typeface="Malgun Gothic"/>
                <a:ea typeface="Malgun Gothic"/>
              </a:rPr>
              <a:t>정부 재정 부담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23153B-4F5F-4187-BEB6-4BF2F022BD70}"/>
              </a:ext>
            </a:extLst>
          </p:cNvPr>
          <p:cNvSpPr txBox="1"/>
          <p:nvPr/>
        </p:nvSpPr>
        <p:spPr>
          <a:xfrm>
            <a:off x="5346700" y="5613400"/>
            <a:ext cx="28575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 b="1">
                <a:solidFill>
                  <a:srgbClr val="4B73FF"/>
                </a:solidFill>
                <a:latin typeface="Malgun Gothic"/>
                <a:ea typeface="Malgun Gothic"/>
              </a:rPr>
              <a:t>지원금액 × 하루 판매량</a:t>
            </a:r>
          </a:p>
          <a:p>
            <a:pPr algn="l"/>
            <a:r>
              <a:rPr lang="en-US" altLang="ko-KR" sz="1400" b="1">
                <a:solidFill>
                  <a:srgbClr val="4B73FF"/>
                </a:solidFill>
                <a:latin typeface="Malgun Gothic"/>
                <a:ea typeface="Malgun Gothic"/>
              </a:rPr>
              <a:t>× 일수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A1AC8C-D171-4D7C-8D65-15DE322B6D5C}"/>
              </a:ext>
            </a:extLst>
          </p:cNvPr>
          <p:cNvSpPr txBox="1"/>
          <p:nvPr/>
        </p:nvSpPr>
        <p:spPr>
          <a:xfrm>
            <a:off x="5346700" y="6680200"/>
            <a:ext cx="28575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200">
                <a:solidFill>
                  <a:srgbClr val="7E899B"/>
                </a:solidFill>
                <a:latin typeface="Malgun Gothic"/>
                <a:ea typeface="Malgun Gothic"/>
              </a:rPr>
              <a:t>3/13~9/26 누적 금액</a:t>
            </a:r>
          </a:p>
          <a:p>
            <a:pPr algn="l"/>
            <a:r>
              <a:rPr lang="ko-KR" altLang="en-US" sz="1200">
                <a:solidFill>
                  <a:srgbClr val="7E899B"/>
                </a:solidFill>
                <a:latin typeface="Malgun Gothic"/>
                <a:ea typeface="Malgun Gothic"/>
              </a:rPr>
              <a:t>fiscal.py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2DD2D4-EB12-4F28-A723-594163B50E00}"/>
              </a:ext>
            </a:extLst>
          </p:cNvPr>
          <p:cNvSpPr txBox="1"/>
          <p:nvPr/>
        </p:nvSpPr>
        <p:spPr>
          <a:xfrm>
            <a:off x="8623300" y="5562600"/>
            <a:ext cx="355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400" b="1">
                <a:solidFill>
                  <a:srgbClr val="4B73FF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D50B4F-332C-4362-ACD8-8D5DDA27F1AA}"/>
              </a:ext>
            </a:extLst>
          </p:cNvPr>
          <p:cNvSpPr/>
          <p:nvPr/>
        </p:nvSpPr>
        <p:spPr>
          <a:xfrm>
            <a:off x="9042400" y="3937000"/>
            <a:ext cx="3492500" cy="381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DDE3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B156B3D-EE40-41D3-A741-E2227C39E940}"/>
              </a:ext>
            </a:extLst>
          </p:cNvPr>
          <p:cNvSpPr/>
          <p:nvPr/>
        </p:nvSpPr>
        <p:spPr>
          <a:xfrm>
            <a:off x="9042400" y="3937000"/>
            <a:ext cx="3492500" cy="685800"/>
          </a:xfrm>
          <a:prstGeom prst="rect">
            <a:avLst/>
          </a:prstGeom>
          <a:solidFill>
            <a:srgbClr val="4B73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D98744-8D82-4D5D-8FFA-84829DECAA48}"/>
              </a:ext>
            </a:extLst>
          </p:cNvPr>
          <p:cNvSpPr txBox="1"/>
          <p:nvPr/>
        </p:nvSpPr>
        <p:spPr>
          <a:xfrm>
            <a:off x="9347200" y="41402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3AAD43-EE6F-4F17-B950-2CC9134D1AC7}"/>
              </a:ext>
            </a:extLst>
          </p:cNvPr>
          <p:cNvSpPr txBox="1"/>
          <p:nvPr/>
        </p:nvSpPr>
        <p:spPr>
          <a:xfrm>
            <a:off x="9347200" y="4927600"/>
            <a:ext cx="2857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700" b="1">
                <a:solidFill>
                  <a:srgbClr val="0F1A2E"/>
                </a:solidFill>
                <a:latin typeface="Malgun Gothic"/>
                <a:ea typeface="Malgun Gothic"/>
              </a:rPr>
              <a:t>물가 영향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3D65A5-45B3-4CE5-9BC8-E2EC938C9663}"/>
              </a:ext>
            </a:extLst>
          </p:cNvPr>
          <p:cNvSpPr txBox="1"/>
          <p:nvPr/>
        </p:nvSpPr>
        <p:spPr>
          <a:xfrm>
            <a:off x="9347200" y="5613400"/>
            <a:ext cx="28575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 b="1">
                <a:solidFill>
                  <a:srgbClr val="4B73FF"/>
                </a:solidFill>
                <a:latin typeface="Malgun Gothic"/>
                <a:ea typeface="Malgun Gothic"/>
              </a:rPr>
              <a:t>상한 인상 × 반영률</a:t>
            </a:r>
          </a:p>
          <a:p>
            <a:pPr algn="l"/>
            <a:r>
              <a:rPr lang="en-US" altLang="ko-KR" sz="1400" b="1">
                <a:solidFill>
                  <a:srgbClr val="4B73FF"/>
                </a:solidFill>
                <a:latin typeface="Malgun Gothic"/>
                <a:ea typeface="Malgun Gothic"/>
              </a:rPr>
              <a:t>× 물가 가중치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86BA9C-65AB-4E37-B866-52CDED84CD04}"/>
              </a:ext>
            </a:extLst>
          </p:cNvPr>
          <p:cNvSpPr txBox="1"/>
          <p:nvPr/>
        </p:nvSpPr>
        <p:spPr>
          <a:xfrm>
            <a:off x="9347200" y="6680200"/>
            <a:ext cx="28575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200">
                <a:solidFill>
                  <a:srgbClr val="7E899B"/>
                </a:solidFill>
                <a:latin typeface="Malgun Gothic"/>
                <a:ea typeface="Malgun Gothic"/>
              </a:rPr>
              <a:t>상한을 올리면 물가가</a:t>
            </a:r>
          </a:p>
          <a:p>
            <a:pPr algn="l"/>
            <a:r>
              <a:rPr lang="ko-KR" altLang="en-US" sz="1200">
                <a:solidFill>
                  <a:srgbClr val="7E899B"/>
                </a:solidFill>
                <a:latin typeface="Malgun Gothic"/>
                <a:ea typeface="Malgun Gothic"/>
              </a:rPr>
              <a:t>얼마나 오르나  ·  cpi.py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E29310-71D4-4635-9D10-60F05C4C9CDC}"/>
              </a:ext>
            </a:extLst>
          </p:cNvPr>
          <p:cNvSpPr txBox="1"/>
          <p:nvPr/>
        </p:nvSpPr>
        <p:spPr>
          <a:xfrm>
            <a:off x="12623800" y="5562600"/>
            <a:ext cx="355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400" b="1">
                <a:solidFill>
                  <a:srgbClr val="4B73FF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A2EBCF6-1877-49A9-8027-2BC45557F1FA}"/>
              </a:ext>
            </a:extLst>
          </p:cNvPr>
          <p:cNvSpPr/>
          <p:nvPr/>
        </p:nvSpPr>
        <p:spPr>
          <a:xfrm>
            <a:off x="13042900" y="3937000"/>
            <a:ext cx="3492500" cy="3810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DDE3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593ADF5-4B79-4E76-B597-097259E224F0}"/>
              </a:ext>
            </a:extLst>
          </p:cNvPr>
          <p:cNvSpPr/>
          <p:nvPr/>
        </p:nvSpPr>
        <p:spPr>
          <a:xfrm>
            <a:off x="13042900" y="3937000"/>
            <a:ext cx="3492500" cy="685800"/>
          </a:xfrm>
          <a:prstGeom prst="rect">
            <a:avLst/>
          </a:prstGeom>
          <a:solidFill>
            <a:srgbClr val="0F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A25E45-1FBE-4551-983E-15FB53B7CFA9}"/>
              </a:ext>
            </a:extLst>
          </p:cNvPr>
          <p:cNvSpPr txBox="1"/>
          <p:nvPr/>
        </p:nvSpPr>
        <p:spPr>
          <a:xfrm>
            <a:off x="13347700" y="4140200"/>
            <a:ext cx="63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  <a:endParaRPr lang="ko-KR" altLang="en-US" sz="13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08B355-CBF1-4A72-9972-3DF70E18BFDF}"/>
              </a:ext>
            </a:extLst>
          </p:cNvPr>
          <p:cNvSpPr txBox="1"/>
          <p:nvPr/>
        </p:nvSpPr>
        <p:spPr>
          <a:xfrm>
            <a:off x="13347700" y="4927600"/>
            <a:ext cx="2857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700" b="1">
                <a:solidFill>
                  <a:srgbClr val="0F1A2E"/>
                </a:solidFill>
                <a:latin typeface="Malgun Gothic"/>
                <a:ea typeface="Malgun Gothic"/>
              </a:rPr>
              <a:t>11차 권고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9CD25B-0131-4F52-AC80-8BA999D66692}"/>
              </a:ext>
            </a:extLst>
          </p:cNvPr>
          <p:cNvSpPr txBox="1"/>
          <p:nvPr/>
        </p:nvSpPr>
        <p:spPr>
          <a:xfrm>
            <a:off x="13347700" y="5613400"/>
            <a:ext cx="28575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 b="1">
                <a:solidFill>
                  <a:srgbClr val="4B73FF"/>
                </a:solidFill>
                <a:latin typeface="Malgun Gothic"/>
                <a:ea typeface="Malgun Gothic"/>
              </a:rPr>
              <a:t>유가 500가지</a:t>
            </a:r>
          </a:p>
          <a:p>
            <a:pPr algn="l"/>
            <a:r>
              <a:rPr lang="en-US" altLang="ko-KR" sz="1400" b="1">
                <a:solidFill>
                  <a:srgbClr val="4B73FF"/>
                </a:solidFill>
                <a:latin typeface="Malgun Gothic"/>
                <a:ea typeface="Malgun Gothic"/>
              </a:rPr>
              <a:t>× 조정안 216가지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E11EB9-83B3-4CBE-A38B-D1A3AFBF2126}"/>
              </a:ext>
            </a:extLst>
          </p:cNvPr>
          <p:cNvSpPr txBox="1"/>
          <p:nvPr/>
        </p:nvSpPr>
        <p:spPr>
          <a:xfrm>
            <a:off x="13347700" y="6680200"/>
            <a:ext cx="28575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200">
                <a:solidFill>
                  <a:srgbClr val="7E899B"/>
                </a:solidFill>
                <a:latin typeface="Malgun Gothic"/>
                <a:ea typeface="Malgun Gothic"/>
              </a:rPr>
              <a:t>물가 한도 안에서 지원금이</a:t>
            </a:r>
          </a:p>
          <a:p>
            <a:pPr algn="l"/>
            <a:r>
              <a:rPr lang="ko-KR" altLang="en-US" sz="1200">
                <a:solidFill>
                  <a:srgbClr val="7E899B"/>
                </a:solidFill>
                <a:latin typeface="Malgun Gothic"/>
                <a:ea typeface="Malgun Gothic"/>
              </a:rPr>
              <a:t>가장 적은 안  ·  optimize.py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865AD2A-81BE-4D6B-AD2D-A65319206FAC}"/>
              </a:ext>
            </a:extLst>
          </p:cNvPr>
          <p:cNvSpPr/>
          <p:nvPr/>
        </p:nvSpPr>
        <p:spPr>
          <a:xfrm>
            <a:off x="1041400" y="8077200"/>
            <a:ext cx="15494000" cy="685800"/>
          </a:xfrm>
          <a:prstGeom prst="rect">
            <a:avLst/>
          </a:prstGeom>
          <a:solidFill>
            <a:srgbClr val="EEF3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F49BE7-7EE4-4255-904C-388DB35C9D79}"/>
              </a:ext>
            </a:extLst>
          </p:cNvPr>
          <p:cNvSpPr txBox="1"/>
          <p:nvPr/>
        </p:nvSpPr>
        <p:spPr>
          <a:xfrm>
            <a:off x="1397000" y="8280400"/>
            <a:ext cx="147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00" b="1">
                <a:solidFill>
                  <a:srgbClr val="0F1A2E"/>
                </a:solidFill>
                <a:latin typeface="Malgun Gothic"/>
                <a:ea typeface="Malgun Gothic"/>
              </a:rPr>
              <a:t>사용 자료  |  1단계 회귀 결과 · 1~10차 최고가격 · 월별 석유 판매량 · 소비자물가 가중치 · 오피넷 API 오늘 판매가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C39CCF-54FC-4489-AD42-5F9C252CE750}"/>
              </a:ext>
            </a:extLst>
          </p:cNvPr>
          <p:cNvSpPr txBox="1"/>
          <p:nvPr/>
        </p:nvSpPr>
        <p:spPr>
          <a:xfrm>
            <a:off x="1066800" y="8890000"/>
            <a:ext cx="1498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/>
          </a:bodyPr>
          <a:lstStyle/>
          <a:p>
            <a:pPr algn="l"/>
            <a:r>
              <a:rPr lang="ko-KR" altLang="en-US" sz="1000">
                <a:solidFill>
                  <a:srgbClr val="98A2B3"/>
                </a:solidFill>
                <a:latin typeface="Malgun Gothic"/>
                <a:ea typeface="Malgun Gothic"/>
              </a:rPr>
              <a:t>지원금액이 음수인 주(상한이 시장가보다 높은 주)는 0으로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387021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F9844C-7A05-47D1-822C-5F5101A5B534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B8BBC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45F64D-C46C-429C-B0D2-F932881B9EFF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C859B2C-8415-466C-94D8-262047626BE8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7D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148C9A-D29E-4547-9EE2-44ED48D26D7A}"/>
              </a:ext>
            </a:extLst>
          </p:cNvPr>
          <p:cNvSpPr txBox="1"/>
          <p:nvPr/>
        </p:nvSpPr>
        <p:spPr>
          <a:xfrm>
            <a:off x="1092200" y="15875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>
                <a:solidFill>
                  <a:srgbClr val="8793A6"/>
                </a:solidFill>
                <a:latin typeface="Malgun Gothic"/>
                <a:ea typeface="Malgun Gothic"/>
              </a:rPr>
              <a:t>STEP 2 · FISCAL BURDEN</a:t>
            </a:r>
            <a:endParaRPr lang="ko-KR" altLang="en-US" sz="1200">
              <a:solidFill>
                <a:srgbClr val="8793A6"/>
              </a:solidFill>
              <a:latin typeface="Malgun Gothic"/>
              <a:ea typeface="Malgun Gothic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2B5AC6-2072-49CB-9AFE-CA9A441ABC2B}"/>
              </a:ext>
            </a:extLst>
          </p:cNvPr>
          <p:cNvSpPr txBox="1"/>
          <p:nvPr/>
        </p:nvSpPr>
        <p:spPr>
          <a:xfrm>
            <a:off x="1041400" y="2082800"/>
            <a:ext cx="15494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700" b="1">
                <a:solidFill>
                  <a:srgbClr val="0F1A2E"/>
                </a:solidFill>
                <a:latin typeface="Malgun Gothic"/>
                <a:ea typeface="Malgun Gothic"/>
              </a:rPr>
              <a:t>상한제 이후 정부 재정 부담은 6.35조 원이며, 경유가 71%입니다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B4C59E-BBCF-4358-8140-55645C445FAA}"/>
              </a:ext>
            </a:extLst>
          </p:cNvPr>
          <p:cNvSpPr txBox="1"/>
          <p:nvPr/>
        </p:nvSpPr>
        <p:spPr>
          <a:xfrm>
            <a:off x="1092200" y="3022600"/>
            <a:ext cx="147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>
                <a:solidFill>
                  <a:srgbClr val="8A95A8"/>
                </a:solidFill>
                <a:latin typeface="Malgun Gothic"/>
                <a:ea typeface="Malgun Gothic"/>
              </a:rPr>
              <a:t>리터당 지원금액 × 하루 판매량 × 일수를 3월 13일부터 9월 26일까지(198일) 더했습니다.</a:t>
            </a:r>
            <a:endParaRPr lang="ko-KR" altLang="en-US" sz="1400">
              <a:solidFill>
                <a:srgbClr val="8A95A8"/>
              </a:solidFill>
              <a:latin typeface="Malgun Gothic"/>
              <a:ea typeface="Malgun Gothic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EAF440-FF1A-4B24-AB62-3A31BC4ECB96}"/>
              </a:ext>
            </a:extLst>
          </p:cNvPr>
          <p:cNvSpPr/>
          <p:nvPr/>
        </p:nvSpPr>
        <p:spPr>
          <a:xfrm>
            <a:off x="1041400" y="3784600"/>
            <a:ext cx="11049000" cy="42926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E1E6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1A2F7D-9993-4BB4-B0E5-5F7892C5AB3D}"/>
              </a:ext>
            </a:extLst>
          </p:cNvPr>
          <p:cNvSpPr txBox="1"/>
          <p:nvPr/>
        </p:nvSpPr>
        <p:spPr>
          <a:xfrm>
            <a:off x="1422400" y="406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b="1">
                <a:solidFill>
                  <a:srgbClr val="0F1A2E"/>
                </a:solidFill>
                <a:latin typeface="Malgun Gothic"/>
                <a:ea typeface="Malgun Gothic"/>
              </a:rPr>
              <a:t>주별 정부 지원금액 (리터당)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E5BFB5-EF83-40A5-88E8-9DC3A15E40F4}"/>
              </a:ext>
            </a:extLst>
          </p:cNvPr>
          <p:cNvSpPr txBox="1"/>
          <p:nvPr/>
        </p:nvSpPr>
        <p:spPr>
          <a:xfrm>
            <a:off x="1422400" y="44704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100">
                <a:solidFill>
                  <a:srgbClr val="8A95A8"/>
                </a:solidFill>
                <a:latin typeface="Malgun Gothic"/>
                <a:ea typeface="Malgun Gothic"/>
              </a:rPr>
              <a:t>단위: 원/L · 상한제가 없었다면 가격 − 실제 공급가 · 2026.3.14~9.26 (29주)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FE0113E-12E0-46A5-8587-C75D8EE6EDD5}"/>
              </a:ext>
            </a:extLst>
          </p:cNvPr>
          <p:cNvSpPr/>
          <p:nvPr/>
        </p:nvSpPr>
        <p:spPr>
          <a:xfrm>
            <a:off x="12471400" y="3784600"/>
            <a:ext cx="4673600" cy="4292600"/>
          </a:xfrm>
          <a:prstGeom prst="rect">
            <a:avLst/>
          </a:prstGeom>
          <a:solidFill>
            <a:srgbClr val="0F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8B544F-D2A0-4E2A-B7AA-8A886502EECA}"/>
              </a:ext>
            </a:extLst>
          </p:cNvPr>
          <p:cNvSpPr txBox="1"/>
          <p:nvPr/>
        </p:nvSpPr>
        <p:spPr>
          <a:xfrm>
            <a:off x="12903200" y="41656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 b="1">
                <a:solidFill>
                  <a:srgbClr val="35C6E8"/>
                </a:solidFill>
                <a:latin typeface="Malgun Gothic"/>
                <a:ea typeface="Malgun Gothic"/>
              </a:rPr>
              <a:t>KEY READ</a:t>
            </a:r>
            <a:endParaRPr lang="ko-KR" altLang="en-US" sz="1200" b="1">
              <a:solidFill>
                <a:srgbClr val="35C6E8"/>
              </a:solidFill>
              <a:latin typeface="Malgun Gothic"/>
              <a:ea typeface="Malgun Gothic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10D69C-D225-4C82-A78B-D2AA6F48F43B}"/>
              </a:ext>
            </a:extLst>
          </p:cNvPr>
          <p:cNvSpPr txBox="1"/>
          <p:nvPr/>
        </p:nvSpPr>
        <p:spPr>
          <a:xfrm>
            <a:off x="12903200" y="47498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누적 재정 부담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A5A3AD-07C6-473A-AA2A-E81F80C2C05F}"/>
              </a:ext>
            </a:extLst>
          </p:cNvPr>
          <p:cNvSpPr txBox="1"/>
          <p:nvPr/>
        </p:nvSpPr>
        <p:spPr>
          <a:xfrm>
            <a:off x="12903200" y="5207000"/>
            <a:ext cx="3302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6.35조 원</a:t>
            </a:r>
          </a:p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경유 4.53조 (71%)</a:t>
            </a:r>
          </a:p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휘발유 1.59조 · 등유 0.22조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4D7D32-DCD4-4197-ADAB-708F7B3E71BA}"/>
              </a:ext>
            </a:extLst>
          </p:cNvPr>
          <p:cNvSpPr txBox="1"/>
          <p:nvPr/>
        </p:nvSpPr>
        <p:spPr>
          <a:xfrm>
            <a:off x="12903200" y="6477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9월 말 지원금액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50DC6E-F3A3-48A8-A0B0-16DA1350418B}"/>
              </a:ext>
            </a:extLst>
          </p:cNvPr>
          <p:cNvSpPr txBox="1"/>
          <p:nvPr/>
        </p:nvSpPr>
        <p:spPr>
          <a:xfrm>
            <a:off x="12903200" y="6934200"/>
            <a:ext cx="3302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휘발유 335원 · 경유 511원</a:t>
            </a:r>
          </a:p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등유 432원 (리터당)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7FB84B-F609-45B2-9195-8F8D03392930}"/>
              </a:ext>
            </a:extLst>
          </p:cNvPr>
          <p:cNvSpPr txBox="1"/>
          <p:nvPr/>
        </p:nvSpPr>
        <p:spPr>
          <a:xfrm>
            <a:off x="1066800" y="8864600"/>
            <a:ext cx="142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ko-KR" altLang="en-US" sz="1000">
                <a:solidFill>
                  <a:srgbClr val="98A2B3"/>
                </a:solidFill>
                <a:latin typeface="Malgun Gothic"/>
                <a:ea typeface="Malgun Gothic"/>
              </a:rPr>
              <a:t>판매량: 석유 수급 통계(천 배럴, 9월은 전년 9월 × 올해 증감률로 추정) · 업계 추산 손실 4~5조 원보다 큼: 기준 가격에 최근 정유사 마진 포함</a:t>
            </a:r>
          </a:p>
        </p:txBody>
      </p:sp>
      <p:graphicFrame>
        <p:nvGraphicFramePr>
          <p:cNvPr id="59" name="Chart 58"/>
          <p:cNvGraphicFramePr>
            <a:graphicFrameLocks noGrp="1"/>
          </p:cNvGraphicFramePr>
          <p:nvPr/>
        </p:nvGraphicFramePr>
        <p:xfrm>
          <a:off x="1280160" y="4800600"/>
          <a:ext cx="105613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3370687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A906BAA-E7C6-46B3-ACB3-89E5D986D1AC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B8BBC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DBF431-F77C-4C90-AB91-062FF0EF45B1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6D5FC4-94A4-4D26-A96B-A9488206FA86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7D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B24DB8-6A60-47FB-BABA-21CF4E98842C}"/>
              </a:ext>
            </a:extLst>
          </p:cNvPr>
          <p:cNvSpPr txBox="1"/>
          <p:nvPr/>
        </p:nvSpPr>
        <p:spPr>
          <a:xfrm>
            <a:off x="1092200" y="15875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>
                <a:solidFill>
                  <a:srgbClr val="8793A6"/>
                </a:solidFill>
                <a:latin typeface="Malgun Gothic"/>
                <a:ea typeface="Malgun Gothic"/>
              </a:rPr>
              <a:t>STEP 3 · CPI IMPACT</a:t>
            </a:r>
            <a:endParaRPr lang="ko-KR" altLang="en-US" sz="1200">
              <a:solidFill>
                <a:srgbClr val="8793A6"/>
              </a:solidFill>
              <a:latin typeface="Malgun Gothic"/>
              <a:ea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6EE3B7-B1ED-49B2-9A48-44F25058D46D}"/>
              </a:ext>
            </a:extLst>
          </p:cNvPr>
          <p:cNvSpPr txBox="1"/>
          <p:nvPr/>
        </p:nvSpPr>
        <p:spPr>
          <a:xfrm>
            <a:off x="1041400" y="2082800"/>
            <a:ext cx="15494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700" b="1">
                <a:solidFill>
                  <a:srgbClr val="0F1A2E"/>
                </a:solidFill>
                <a:latin typeface="Malgun Gothic"/>
                <a:ea typeface="Malgun Gothic"/>
              </a:rPr>
              <a:t>상한을 올리면 주유소 가격은 4주에 걸쳐 휘발유·경유 약 90%, 등유 39%만큼 오릅니다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DC0A07-54E6-4A9A-9761-39C2078C6F39}"/>
              </a:ext>
            </a:extLst>
          </p:cNvPr>
          <p:cNvSpPr txBox="1"/>
          <p:nvPr/>
        </p:nvSpPr>
        <p:spPr>
          <a:xfrm>
            <a:off x="1092200" y="3022600"/>
            <a:ext cx="147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>
                <a:solidFill>
                  <a:srgbClr val="8A95A8"/>
                </a:solidFill>
                <a:latin typeface="Malgun Gothic"/>
                <a:ea typeface="Malgun Gothic"/>
              </a:rPr>
              <a:t>실제 두 번의 조정(2차 +210원, 7차 −150원) 뒤 주유소 가격 변화를 재서 반영률로 씁니다.</a:t>
            </a:r>
            <a:endParaRPr lang="ko-KR" altLang="en-US" sz="1400">
              <a:solidFill>
                <a:srgbClr val="8A95A8"/>
              </a:solidFill>
              <a:latin typeface="Malgun Gothic"/>
              <a:ea typeface="Malgun Gothic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B7AD2A-6745-4147-A5E6-CC1612173B32}"/>
              </a:ext>
            </a:extLst>
          </p:cNvPr>
          <p:cNvSpPr txBox="1"/>
          <p:nvPr/>
        </p:nvSpPr>
        <p:spPr>
          <a:xfrm>
            <a:off x="1066800" y="8864600"/>
            <a:ext cx="142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ko-KR" altLang="en-US" sz="1000">
                <a:solidFill>
                  <a:srgbClr val="98A2B3"/>
                </a:solidFill>
                <a:latin typeface="Malgun Gothic"/>
                <a:ea typeface="Malgun Gothic"/>
              </a:rPr>
              <a:t>분석 기준: 상한 조정 → 주유소 판매가 → 소비자물가 · 판매가는 오피넷 API 오늘 전국 평균가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B72C61F-1518-4C03-B4D1-5872DF680EEB}"/>
              </a:ext>
            </a:extLst>
          </p:cNvPr>
          <p:cNvSpPr/>
          <p:nvPr/>
        </p:nvSpPr>
        <p:spPr>
          <a:xfrm>
            <a:off x="1041400" y="3810000"/>
            <a:ext cx="5969000" cy="3873500"/>
          </a:xfrm>
          <a:prstGeom prst="rect">
            <a:avLst/>
          </a:prstGeom>
          <a:solidFill>
            <a:srgbClr val="0F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D3CE75-FADB-4A15-8091-B4DA3BDA0B1D}"/>
              </a:ext>
            </a:extLst>
          </p:cNvPr>
          <p:cNvSpPr txBox="1"/>
          <p:nvPr/>
        </p:nvSpPr>
        <p:spPr>
          <a:xfrm>
            <a:off x="1473200" y="42164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 b="1">
                <a:solidFill>
                  <a:srgbClr val="35C6E8"/>
                </a:solidFill>
                <a:latin typeface="Malgun Gothic"/>
                <a:ea typeface="Malgun Gothic"/>
              </a:rPr>
              <a:t>CPI CONTRIBUTION</a:t>
            </a:r>
            <a:endParaRPr lang="ko-KR" altLang="en-US" sz="1200" b="1">
              <a:solidFill>
                <a:srgbClr val="35C6E8"/>
              </a:solidFill>
              <a:latin typeface="Malgun Gothic"/>
              <a:ea typeface="Malgun Gothic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F2AF96-BBF0-48F0-9386-3239EC0608C2}"/>
              </a:ext>
            </a:extLst>
          </p:cNvPr>
          <p:cNvSpPr txBox="1"/>
          <p:nvPr/>
        </p:nvSpPr>
        <p:spPr>
          <a:xfrm>
            <a:off x="1473200" y="4775200"/>
            <a:ext cx="355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300" b="1">
                <a:solidFill>
                  <a:srgbClr val="FFFFFF"/>
                </a:solidFill>
                <a:latin typeface="Malgun Gothic"/>
                <a:ea typeface="Malgun Gothic"/>
              </a:rPr>
              <a:t>물가 기여도 (%p)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0EEA88-49CE-4BE5-AA30-F7925C8971BC}"/>
              </a:ext>
            </a:extLst>
          </p:cNvPr>
          <p:cNvSpPr txBox="1"/>
          <p:nvPr/>
        </p:nvSpPr>
        <p:spPr>
          <a:xfrm>
            <a:off x="1473200" y="5461000"/>
            <a:ext cx="4826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>
                <a:solidFill>
                  <a:srgbClr val="FFFFFF"/>
                </a:solidFill>
                <a:latin typeface="Malgun Gothic"/>
                <a:ea typeface="Malgun Gothic"/>
              </a:rPr>
              <a:t>= Σ 가중치 × 인상폭 × 반영률 ÷ 판매가</a:t>
            </a:r>
            <a:endParaRPr lang="ko-KR" altLang="en-US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93967B-241C-47C4-A4F5-F78B95A33C6B}"/>
              </a:ext>
            </a:extLst>
          </p:cNvPr>
          <p:cNvSpPr txBox="1"/>
          <p:nvPr/>
        </p:nvSpPr>
        <p:spPr>
          <a:xfrm>
            <a:off x="1473200" y="6426200"/>
            <a:ext cx="4826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>
                <a:solidFill>
                  <a:srgbClr val="D3D9E4"/>
                </a:solidFill>
                <a:latin typeface="Malgun Gothic"/>
                <a:ea typeface="Malgun Gothic"/>
              </a:rPr>
              <a:t>가중치  소비자물가 품목 가중치 (1000 기준)</a:t>
            </a:r>
            <a:endParaRPr lang="ko-KR" altLang="en-US" sz="1400">
              <a:solidFill>
                <a:srgbClr val="D3D9E4"/>
              </a:solidFill>
              <a:latin typeface="Malgun Gothic"/>
              <a:ea typeface="Malgun Gothic"/>
            </a:endParaRPr>
          </a:p>
          <a:p>
            <a:pPr algn="l"/>
            <a:r>
              <a:rPr lang="en-US" altLang="ko-KR" sz="1400">
                <a:solidFill>
                  <a:srgbClr val="D3D9E4"/>
                </a:solidFill>
                <a:latin typeface="Malgun Gothic"/>
                <a:ea typeface="Malgun Gothic"/>
              </a:rPr>
              <a:t>인상폭  실제로 가격을 올리는 상한 인상분</a:t>
            </a:r>
            <a:endParaRPr lang="ko-KR" altLang="en-US" sz="1400">
              <a:solidFill>
                <a:srgbClr val="D3D9E4"/>
              </a:solidFill>
              <a:latin typeface="Malgun Gothic"/>
              <a:ea typeface="Malgun Gothic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558070-F60F-4F77-9D08-D4452B9E66DC}"/>
              </a:ext>
            </a:extLst>
          </p:cNvPr>
          <p:cNvSpPr/>
          <p:nvPr/>
        </p:nvSpPr>
        <p:spPr>
          <a:xfrm>
            <a:off x="7429500" y="3810000"/>
            <a:ext cx="4445000" cy="180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DDE3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733A83-7DD1-4403-B079-410C9510936A}"/>
              </a:ext>
            </a:extLst>
          </p:cNvPr>
          <p:cNvSpPr/>
          <p:nvPr/>
        </p:nvSpPr>
        <p:spPr>
          <a:xfrm>
            <a:off x="7429500" y="3810000"/>
            <a:ext cx="152400" cy="1803400"/>
          </a:xfrm>
          <a:prstGeom prst="rect">
            <a:avLst/>
          </a:prstGeom>
          <a:solidFill>
            <a:srgbClr val="4B73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0006E0-6FE9-4E22-AB4C-A70A1752A278}"/>
              </a:ext>
            </a:extLst>
          </p:cNvPr>
          <p:cNvSpPr txBox="1"/>
          <p:nvPr/>
        </p:nvSpPr>
        <p:spPr>
          <a:xfrm>
            <a:off x="7848600" y="41402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0F1A2E"/>
                </a:solidFill>
                <a:latin typeface="Malgun Gothic"/>
                <a:ea typeface="Malgun Gothic"/>
              </a:rPr>
              <a:t>01  반영률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393978-8F78-4DC3-9EAB-A9B6330C2158}"/>
              </a:ext>
            </a:extLst>
          </p:cNvPr>
          <p:cNvSpPr txBox="1"/>
          <p:nvPr/>
        </p:nvSpPr>
        <p:spPr>
          <a:xfrm>
            <a:off x="7848600" y="4673600"/>
            <a:ext cx="3429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4주 뒤: 휘발유 90 · 경유 91 · 등유 39%</a:t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한 달 평균: 79 · 80 · 32%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08AF8B-2A9C-4213-9C55-91693932F696}"/>
              </a:ext>
            </a:extLst>
          </p:cNvPr>
          <p:cNvSpPr/>
          <p:nvPr/>
        </p:nvSpPr>
        <p:spPr>
          <a:xfrm>
            <a:off x="12255500" y="3810000"/>
            <a:ext cx="4445000" cy="180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DDE3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279DBB4-C058-4E95-B11F-8E994977554E}"/>
              </a:ext>
            </a:extLst>
          </p:cNvPr>
          <p:cNvSpPr/>
          <p:nvPr/>
        </p:nvSpPr>
        <p:spPr>
          <a:xfrm>
            <a:off x="12255500" y="3810000"/>
            <a:ext cx="152400" cy="1803400"/>
          </a:xfrm>
          <a:prstGeom prst="rect">
            <a:avLst/>
          </a:prstGeom>
          <a:solidFill>
            <a:srgbClr val="35C6E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660D78-3B8E-4E59-9A92-E3ACF63B6B52}"/>
              </a:ext>
            </a:extLst>
          </p:cNvPr>
          <p:cNvSpPr txBox="1"/>
          <p:nvPr/>
        </p:nvSpPr>
        <p:spPr>
          <a:xfrm>
            <a:off x="12674600" y="41402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0F1A2E"/>
                </a:solidFill>
                <a:latin typeface="Malgun Gothic"/>
                <a:ea typeface="Malgun Gothic"/>
              </a:rPr>
              <a:t>02  실효 인상폭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43A6BB-1179-4E47-B563-4926ADD4CF87}"/>
              </a:ext>
            </a:extLst>
          </p:cNvPr>
          <p:cNvSpPr txBox="1"/>
          <p:nvPr/>
        </p:nvSpPr>
        <p:spPr>
          <a:xfrm>
            <a:off x="12674600" y="4673600"/>
            <a:ext cx="3429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시장 가격보다 높게 올린 부분은</a:t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가격을 올리지 않으므로 빼고 계산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C3DFA09-E540-43EF-9D3E-C30108084CEB}"/>
              </a:ext>
            </a:extLst>
          </p:cNvPr>
          <p:cNvSpPr/>
          <p:nvPr/>
        </p:nvSpPr>
        <p:spPr>
          <a:xfrm>
            <a:off x="7429500" y="5969000"/>
            <a:ext cx="4445000" cy="180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DDE3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D80FE0A-FA13-4D73-924E-E0F57FFBBAD8}"/>
              </a:ext>
            </a:extLst>
          </p:cNvPr>
          <p:cNvSpPr/>
          <p:nvPr/>
        </p:nvSpPr>
        <p:spPr>
          <a:xfrm>
            <a:off x="7429500" y="5969000"/>
            <a:ext cx="152400" cy="1803400"/>
          </a:xfrm>
          <a:prstGeom prst="rect">
            <a:avLst/>
          </a:prstGeom>
          <a:solidFill>
            <a:srgbClr val="4B73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2E5B15-A1AE-434B-BE29-2C2DBD85E293}"/>
              </a:ext>
            </a:extLst>
          </p:cNvPr>
          <p:cNvSpPr txBox="1"/>
          <p:nvPr/>
        </p:nvSpPr>
        <p:spPr>
          <a:xfrm>
            <a:off x="7848600" y="62992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0F1A2E"/>
                </a:solidFill>
                <a:latin typeface="Malgun Gothic"/>
                <a:ea typeface="Malgun Gothic"/>
              </a:rPr>
              <a:t>03  물가 가중치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3BEE68-A39C-495E-8504-BDC52F4521E5}"/>
              </a:ext>
            </a:extLst>
          </p:cNvPr>
          <p:cNvSpPr txBox="1"/>
          <p:nvPr/>
        </p:nvSpPr>
        <p:spPr>
          <a:xfrm>
            <a:off x="7848600" y="6832600"/>
            <a:ext cx="3429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휘발유 24.1 · 경유 16.3 · 등유 2.4</a:t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(2020년 기준, 1000 중)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92AD96E-9081-4AB5-8DA3-041A91A72FB3}"/>
              </a:ext>
            </a:extLst>
          </p:cNvPr>
          <p:cNvSpPr/>
          <p:nvPr/>
        </p:nvSpPr>
        <p:spPr>
          <a:xfrm>
            <a:off x="12255500" y="5969000"/>
            <a:ext cx="4445000" cy="18034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DDE3E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33FBCC4-4B45-46F4-94D1-2BCFAE39EBB9}"/>
              </a:ext>
            </a:extLst>
          </p:cNvPr>
          <p:cNvSpPr/>
          <p:nvPr/>
        </p:nvSpPr>
        <p:spPr>
          <a:xfrm>
            <a:off x="12255500" y="5969000"/>
            <a:ext cx="152400" cy="1803400"/>
          </a:xfrm>
          <a:prstGeom prst="rect">
            <a:avLst/>
          </a:prstGeom>
          <a:solidFill>
            <a:srgbClr val="35C6E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50D202-FF32-44FD-8554-5936D5B75C41}"/>
              </a:ext>
            </a:extLst>
          </p:cNvPr>
          <p:cNvSpPr txBox="1"/>
          <p:nvPr/>
        </p:nvSpPr>
        <p:spPr>
          <a:xfrm>
            <a:off x="12674600" y="62992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0F1A2E"/>
                </a:solidFill>
                <a:latin typeface="Malgun Gothic"/>
                <a:ea typeface="Malgun Gothic"/>
              </a:rPr>
              <a:t>04  검증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5785BF-FE6F-4B48-BE69-E891EFF7717D}"/>
              </a:ext>
            </a:extLst>
          </p:cNvPr>
          <p:cNvSpPr txBox="1"/>
          <p:nvPr/>
        </p:nvSpPr>
        <p:spPr>
          <a:xfrm>
            <a:off x="12674600" y="6832600"/>
            <a:ext cx="3429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3~8월 물가를 0.58%p 낮춤</a:t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정부 설명 0.6%p와 일치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11D862-A18B-47A2-A441-082525060AA2}"/>
              </a:ext>
            </a:extLst>
          </p:cNvPr>
          <p:cNvSpPr txBox="1"/>
          <p:nvPr/>
        </p:nvSpPr>
        <p:spPr>
          <a:xfrm>
            <a:off x="1066800" y="8382000"/>
            <a:ext cx="1511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200" b="1">
                <a:solidFill>
                  <a:srgbClr val="4B73FF"/>
                </a:solidFill>
                <a:latin typeface="Malgun Gothic"/>
                <a:ea typeface="Malgun Gothic"/>
              </a:rPr>
              <a:t>반영률 예: 2차 +210원 인상 4주 뒤 휘발유 판매가 +187원 → 187 ÷ 210 = 89%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F9844C-7A05-47D1-822C-5F5101A5B534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B8BBC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45F64D-C46C-429C-B0D2-F932881B9EFF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C859B2C-8415-466C-94D8-262047626BE8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7D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148C9A-D29E-4547-9EE2-44ED48D26D7A}"/>
              </a:ext>
            </a:extLst>
          </p:cNvPr>
          <p:cNvSpPr txBox="1"/>
          <p:nvPr/>
        </p:nvSpPr>
        <p:spPr>
          <a:xfrm>
            <a:off x="1092200" y="15875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>
                <a:solidFill>
                  <a:srgbClr val="8793A6"/>
                </a:solidFill>
                <a:latin typeface="Malgun Gothic"/>
                <a:ea typeface="Malgun Gothic"/>
              </a:rPr>
              <a:t>STEP 3 · CPI IMPACT</a:t>
            </a:r>
            <a:endParaRPr lang="ko-KR" altLang="en-US" sz="1200">
              <a:solidFill>
                <a:srgbClr val="8793A6"/>
              </a:solidFill>
              <a:latin typeface="Malgun Gothic"/>
              <a:ea typeface="Malgun Gothic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2B5AC6-2072-49CB-9AFE-CA9A441ABC2B}"/>
              </a:ext>
            </a:extLst>
          </p:cNvPr>
          <p:cNvSpPr txBox="1"/>
          <p:nvPr/>
        </p:nvSpPr>
        <p:spPr>
          <a:xfrm>
            <a:off x="1041400" y="2082800"/>
            <a:ext cx="15494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700" b="1">
                <a:solidFill>
                  <a:srgbClr val="0F1A2E"/>
                </a:solidFill>
                <a:latin typeface="Malgun Gothic"/>
                <a:ea typeface="Malgun Gothic"/>
              </a:rPr>
              <a:t>같은 100원을 올려도 휘발유가 물가를 가장 많이 올립니다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B4C59E-BBCF-4358-8140-55645C445FAA}"/>
              </a:ext>
            </a:extLst>
          </p:cNvPr>
          <p:cNvSpPr txBox="1"/>
          <p:nvPr/>
        </p:nvSpPr>
        <p:spPr>
          <a:xfrm>
            <a:off x="1092200" y="3022600"/>
            <a:ext cx="147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>
                <a:solidFill>
                  <a:srgbClr val="8A95A8"/>
                </a:solidFill>
                <a:latin typeface="Malgun Gothic"/>
                <a:ea typeface="Malgun Gothic"/>
              </a:rPr>
              <a:t>가중치가 크고 판매가가 잘 따라 오르는 휘발유는 적게, 등유는 많이 올리는 것이 유리합니다.</a:t>
            </a:r>
            <a:endParaRPr lang="ko-KR" altLang="en-US" sz="1400">
              <a:solidFill>
                <a:srgbClr val="8A95A8"/>
              </a:solidFill>
              <a:latin typeface="Malgun Gothic"/>
              <a:ea typeface="Malgun Gothic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EAF440-FF1A-4B24-AB62-3A31BC4ECB96}"/>
              </a:ext>
            </a:extLst>
          </p:cNvPr>
          <p:cNvSpPr/>
          <p:nvPr/>
        </p:nvSpPr>
        <p:spPr>
          <a:xfrm>
            <a:off x="1041400" y="3784600"/>
            <a:ext cx="11049000" cy="42926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E1E6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1A2F7D-9993-4BB4-B0E5-5F7892C5AB3D}"/>
              </a:ext>
            </a:extLst>
          </p:cNvPr>
          <p:cNvSpPr txBox="1"/>
          <p:nvPr/>
        </p:nvSpPr>
        <p:spPr>
          <a:xfrm>
            <a:off x="1422400" y="406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b="1">
                <a:solidFill>
                  <a:srgbClr val="0F1A2E"/>
                </a:solidFill>
                <a:latin typeface="Malgun Gothic"/>
                <a:ea typeface="Malgun Gothic"/>
              </a:rPr>
              <a:t>상한 100원 인상 시 소비자물가 상승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E5BFB5-EF83-40A5-88E8-9DC3A15E40F4}"/>
              </a:ext>
            </a:extLst>
          </p:cNvPr>
          <p:cNvSpPr txBox="1"/>
          <p:nvPr/>
        </p:nvSpPr>
        <p:spPr>
          <a:xfrm>
            <a:off x="1422400" y="44704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100">
                <a:solidFill>
                  <a:srgbClr val="8A95A8"/>
                </a:solidFill>
                <a:latin typeface="Malgun Gothic"/>
                <a:ea typeface="Malgun Gothic"/>
              </a:rPr>
              <a:t>단위: %p · 한 달 평균 반영률 기준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FE0113E-12E0-46A5-8587-C75D8EE6EDD5}"/>
              </a:ext>
            </a:extLst>
          </p:cNvPr>
          <p:cNvSpPr/>
          <p:nvPr/>
        </p:nvSpPr>
        <p:spPr>
          <a:xfrm>
            <a:off x="12471400" y="3784600"/>
            <a:ext cx="4673600" cy="4292600"/>
          </a:xfrm>
          <a:prstGeom prst="rect">
            <a:avLst/>
          </a:prstGeom>
          <a:solidFill>
            <a:srgbClr val="0F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8B544F-D2A0-4E2A-B7AA-8A886502EECA}"/>
              </a:ext>
            </a:extLst>
          </p:cNvPr>
          <p:cNvSpPr txBox="1"/>
          <p:nvPr/>
        </p:nvSpPr>
        <p:spPr>
          <a:xfrm>
            <a:off x="12903200" y="41656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 b="1">
                <a:solidFill>
                  <a:srgbClr val="35C6E8"/>
                </a:solidFill>
                <a:latin typeface="Malgun Gothic"/>
                <a:ea typeface="Malgun Gothic"/>
              </a:rPr>
              <a:t>KEY READ</a:t>
            </a:r>
            <a:endParaRPr lang="ko-KR" altLang="en-US" sz="1200" b="1">
              <a:solidFill>
                <a:srgbClr val="35C6E8"/>
              </a:solidFill>
              <a:latin typeface="Malgun Gothic"/>
              <a:ea typeface="Malgun Gothic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10D69C-D225-4C82-A78B-D2AA6F48F43B}"/>
              </a:ext>
            </a:extLst>
          </p:cNvPr>
          <p:cNvSpPr txBox="1"/>
          <p:nvPr/>
        </p:nvSpPr>
        <p:spPr>
          <a:xfrm>
            <a:off x="12903200" y="47498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휘발유 vs 등유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A5A3AD-07C6-473A-AA2A-E81F80C2C05F}"/>
              </a:ext>
            </a:extLst>
          </p:cNvPr>
          <p:cNvSpPr txBox="1"/>
          <p:nvPr/>
        </p:nvSpPr>
        <p:spPr>
          <a:xfrm>
            <a:off x="12903200" y="5207000"/>
            <a:ext cx="3302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휘발유 0.103%p</a:t>
            </a:r>
          </a:p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등유 0.005%p</a:t>
            </a:r>
          </a:p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약 21배 차이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4D7D32-DCD4-4197-ADAB-708F7B3E71BA}"/>
              </a:ext>
            </a:extLst>
          </p:cNvPr>
          <p:cNvSpPr txBox="1"/>
          <p:nvPr/>
        </p:nvSpPr>
        <p:spPr>
          <a:xfrm>
            <a:off x="12903200" y="6477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이유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50DC6E-F3A3-48A8-A0B0-16DA1350418B}"/>
              </a:ext>
            </a:extLst>
          </p:cNvPr>
          <p:cNvSpPr txBox="1"/>
          <p:nvPr/>
        </p:nvSpPr>
        <p:spPr>
          <a:xfrm>
            <a:off x="12903200" y="6934200"/>
            <a:ext cx="3302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휘발유: 가중치 24.1, 반영 79%</a:t>
            </a:r>
          </a:p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등유: 가중치 2.4, 반영 32%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7FB84B-F609-45B2-9195-8F8D03392930}"/>
              </a:ext>
            </a:extLst>
          </p:cNvPr>
          <p:cNvSpPr txBox="1"/>
          <p:nvPr/>
        </p:nvSpPr>
        <p:spPr>
          <a:xfrm>
            <a:off x="1066800" y="8864600"/>
            <a:ext cx="142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ko-KR" altLang="en-US" sz="1000">
                <a:solidFill>
                  <a:srgbClr val="98A2B3"/>
                </a:solidFill>
                <a:latin typeface="Malgun Gothic"/>
                <a:ea typeface="Malgun Gothic"/>
              </a:rPr>
              <a:t>물가 가중치: 2020년 기준 소비자물가 품목 가중치 · 반영률: 2차·7차 실제 조정 뒤 판매가 변화</a:t>
            </a:r>
          </a:p>
        </p:txBody>
      </p:sp>
      <p:graphicFrame>
        <p:nvGraphicFramePr>
          <p:cNvPr id="59" name="Chart 58"/>
          <p:cNvGraphicFramePr>
            <a:graphicFrameLocks noGrp="1"/>
          </p:cNvGraphicFramePr>
          <p:nvPr/>
        </p:nvGraphicFramePr>
        <p:xfrm>
          <a:off x="1280160" y="4846320"/>
          <a:ext cx="105613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3370687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50725CF3-3B47-418F-8049-BEA3E02FDDCA}"/>
              </a:ext>
            </a:extLst>
          </p:cNvPr>
          <p:cNvSpPr txBox="1"/>
          <p:nvPr/>
        </p:nvSpPr>
        <p:spPr>
          <a:xfrm>
            <a:off x="1092200" y="15875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>
                <a:solidFill>
                  <a:srgbClr val="8793A6"/>
                </a:solidFill>
                <a:latin typeface="Malgun Gothic"/>
                <a:ea typeface="Malgun Gothic"/>
              </a:rPr>
              <a:t>STEP 4 · DECISION</a:t>
            </a:r>
            <a:endParaRPr lang="ko-KR" altLang="en-US" sz="1200">
              <a:solidFill>
                <a:srgbClr val="8793A6"/>
              </a:solidFill>
              <a:latin typeface="Malgun Gothic"/>
              <a:ea typeface="Malgun Gothic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7FFE94-A85A-4D0B-812A-2CAC28D13A02}"/>
              </a:ext>
            </a:extLst>
          </p:cNvPr>
          <p:cNvSpPr txBox="1"/>
          <p:nvPr/>
        </p:nvSpPr>
        <p:spPr>
          <a:xfrm>
            <a:off x="1041400" y="2082800"/>
            <a:ext cx="15494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700" b="1">
                <a:solidFill>
                  <a:srgbClr val="0F1A2E"/>
                </a:solidFill>
                <a:latin typeface="Malgun Gothic"/>
                <a:ea typeface="Malgun Gothic"/>
              </a:rPr>
              <a:t>미래 유가 500가지와 조정안 216가지를 모두 계산해 11차 권고를 고릅니다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C9D9C7-3AF5-43B8-A8DE-965D6977FA82}"/>
              </a:ext>
            </a:extLst>
          </p:cNvPr>
          <p:cNvSpPr txBox="1"/>
          <p:nvPr/>
        </p:nvSpPr>
        <p:spPr>
          <a:xfrm>
            <a:off x="1092200" y="3022600"/>
            <a:ext cx="147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>
                <a:solidFill>
                  <a:srgbClr val="8A95A8"/>
                </a:solidFill>
                <a:latin typeface="Malgun Gothic"/>
                <a:ea typeface="Malgun Gothic"/>
              </a:rPr>
              <a:t>미래 유가는 모르므로 여러 경우를 만들어 평균으로 비교합니다. 실행 시간 약 15초.</a:t>
            </a:r>
            <a:endParaRPr lang="ko-KR" altLang="en-US" sz="1400">
              <a:solidFill>
                <a:srgbClr val="8A95A8"/>
              </a:solidFill>
              <a:latin typeface="Malgun Gothic"/>
              <a:ea typeface="Malgun Gothic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585AA3-20BF-4BEE-A094-C4197D535EE9}"/>
              </a:ext>
            </a:extLst>
          </p:cNvPr>
          <p:cNvSpPr/>
          <p:nvPr/>
        </p:nvSpPr>
        <p:spPr>
          <a:xfrm>
            <a:off x="914400" y="3835400"/>
            <a:ext cx="3632200" cy="3937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E1E6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6FF96F-CA37-498B-82EE-50311644797B}"/>
              </a:ext>
            </a:extLst>
          </p:cNvPr>
          <p:cNvSpPr/>
          <p:nvPr/>
        </p:nvSpPr>
        <p:spPr>
          <a:xfrm>
            <a:off x="914400" y="3835400"/>
            <a:ext cx="127000" cy="3937000"/>
          </a:xfrm>
          <a:prstGeom prst="rect">
            <a:avLst/>
          </a:prstGeom>
          <a:solidFill>
            <a:srgbClr val="35C6E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3CB0D8-23EB-4021-9314-56BCE2D6802E}"/>
              </a:ext>
            </a:extLst>
          </p:cNvPr>
          <p:cNvSpPr txBox="1"/>
          <p:nvPr/>
        </p:nvSpPr>
        <p:spPr>
          <a:xfrm>
            <a:off x="1295400" y="4191000"/>
            <a:ext cx="584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 b="1">
                <a:solidFill>
                  <a:srgbClr val="35C6E8"/>
                </a:solidFill>
                <a:latin typeface="Malgun Gothic"/>
                <a:ea typeface="Malgun Gothic"/>
              </a:rPr>
              <a:t>01</a:t>
            </a:r>
            <a:endParaRPr lang="ko-KR" altLang="en-US" sz="1400" b="1">
              <a:solidFill>
                <a:srgbClr val="35C6E8"/>
              </a:solidFill>
              <a:latin typeface="Malgun Gothic"/>
              <a:ea typeface="Malgun Gothic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086508-4077-4007-A1EA-CB30C999384B}"/>
              </a:ext>
            </a:extLst>
          </p:cNvPr>
          <p:cNvSpPr txBox="1"/>
          <p:nvPr/>
        </p:nvSpPr>
        <p:spPr>
          <a:xfrm>
            <a:off x="1295400" y="4800600"/>
            <a:ext cx="2870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b="1">
                <a:solidFill>
                  <a:srgbClr val="0F1A2E"/>
                </a:solidFill>
                <a:latin typeface="Malgun Gothic"/>
                <a:ea typeface="Malgun Gothic"/>
              </a:rPr>
              <a:t>현재 상태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F62ADC-3ED0-4A63-A31B-DC6501227C55}"/>
              </a:ext>
            </a:extLst>
          </p:cNvPr>
          <p:cNvSpPr txBox="1"/>
          <p:nvPr/>
        </p:nvSpPr>
        <p:spPr>
          <a:xfrm>
            <a:off x="1295400" y="5613400"/>
            <a:ext cx="2870200" cy="162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10월 10일 국제가·환율로 계산한 리터당 지원금액</a:t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/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휘발유 373원 · 경유 412원 · 등유 418원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5D172A9-E434-46F3-8989-9E85BE8A531A}"/>
              </a:ext>
            </a:extLst>
          </p:cNvPr>
          <p:cNvSpPr/>
          <p:nvPr/>
        </p:nvSpPr>
        <p:spPr>
          <a:xfrm>
            <a:off x="4902200" y="3835400"/>
            <a:ext cx="3632200" cy="3937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E1E6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12E434-2395-48F6-8D50-538EDC311041}"/>
              </a:ext>
            </a:extLst>
          </p:cNvPr>
          <p:cNvSpPr/>
          <p:nvPr/>
        </p:nvSpPr>
        <p:spPr>
          <a:xfrm>
            <a:off x="4902200" y="3835400"/>
            <a:ext cx="127000" cy="3937000"/>
          </a:xfrm>
          <a:prstGeom prst="rect">
            <a:avLst/>
          </a:prstGeom>
          <a:solidFill>
            <a:srgbClr val="4B73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7F42DC-BFD6-42D7-AE14-7A1B29FFE088}"/>
              </a:ext>
            </a:extLst>
          </p:cNvPr>
          <p:cNvSpPr txBox="1"/>
          <p:nvPr/>
        </p:nvSpPr>
        <p:spPr>
          <a:xfrm>
            <a:off x="5283200" y="4191000"/>
            <a:ext cx="584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 b="1">
                <a:solidFill>
                  <a:srgbClr val="4B73FF"/>
                </a:solidFill>
                <a:latin typeface="Malgun Gothic"/>
                <a:ea typeface="Malgun Gothic"/>
              </a:rPr>
              <a:t>02</a:t>
            </a:r>
            <a:endParaRPr lang="ko-KR" altLang="en-US" sz="1400" b="1">
              <a:solidFill>
                <a:srgbClr val="4B73FF"/>
              </a:solidFill>
              <a:latin typeface="Malgun Gothic"/>
              <a:ea typeface="Malgun Gothic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606241-B3EE-4A9B-9C48-D732F8DAC580}"/>
              </a:ext>
            </a:extLst>
          </p:cNvPr>
          <p:cNvSpPr txBox="1"/>
          <p:nvPr/>
        </p:nvSpPr>
        <p:spPr>
          <a:xfrm>
            <a:off x="5283200" y="4800600"/>
            <a:ext cx="2870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b="1">
                <a:solidFill>
                  <a:srgbClr val="0F1A2E"/>
                </a:solidFill>
                <a:latin typeface="Malgun Gothic"/>
                <a:ea typeface="Malgun Gothic"/>
              </a:rPr>
              <a:t>미래 유가 500가지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D3254E-125D-43A2-8A46-6A6373B787CE}"/>
              </a:ext>
            </a:extLst>
          </p:cNvPr>
          <p:cNvSpPr txBox="1"/>
          <p:nvPr/>
        </p:nvSpPr>
        <p:spPr>
          <a:xfrm>
            <a:off x="5283200" y="5613400"/>
            <a:ext cx="2870200" cy="162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과거 주간 유가·환율 변화를 4주씩 뽑아 이어 붙임</a:t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/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유가와 환율이 함께 움직이는 관계 유지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F8B4B78-FB69-4B16-9BED-C757B7EABAC8}"/>
              </a:ext>
            </a:extLst>
          </p:cNvPr>
          <p:cNvSpPr/>
          <p:nvPr/>
        </p:nvSpPr>
        <p:spPr>
          <a:xfrm>
            <a:off x="8890000" y="3835400"/>
            <a:ext cx="3632200" cy="3937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E1E6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4F9A805-C444-42DB-B9F7-8C21064DD86A}"/>
              </a:ext>
            </a:extLst>
          </p:cNvPr>
          <p:cNvSpPr/>
          <p:nvPr/>
        </p:nvSpPr>
        <p:spPr>
          <a:xfrm>
            <a:off x="8890000" y="3835400"/>
            <a:ext cx="127000" cy="3937000"/>
          </a:xfrm>
          <a:prstGeom prst="rect">
            <a:avLst/>
          </a:prstGeom>
          <a:solidFill>
            <a:srgbClr val="35C6E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ED3F1F-991A-4ABF-A340-9E8C253F79DE}"/>
              </a:ext>
            </a:extLst>
          </p:cNvPr>
          <p:cNvSpPr txBox="1"/>
          <p:nvPr/>
        </p:nvSpPr>
        <p:spPr>
          <a:xfrm>
            <a:off x="9271000" y="4191000"/>
            <a:ext cx="584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 b="1">
                <a:solidFill>
                  <a:srgbClr val="35C6E8"/>
                </a:solidFill>
                <a:latin typeface="Malgun Gothic"/>
                <a:ea typeface="Malgun Gothic"/>
              </a:rPr>
              <a:t>03</a:t>
            </a:r>
            <a:endParaRPr lang="ko-KR" altLang="en-US" sz="1400" b="1">
              <a:solidFill>
                <a:srgbClr val="35C6E8"/>
              </a:solidFill>
              <a:latin typeface="Malgun Gothic"/>
              <a:ea typeface="Malgun Gothic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919377-C21C-42A1-A525-EB345FC276E2}"/>
              </a:ext>
            </a:extLst>
          </p:cNvPr>
          <p:cNvSpPr txBox="1"/>
          <p:nvPr/>
        </p:nvSpPr>
        <p:spPr>
          <a:xfrm>
            <a:off x="9271000" y="4800600"/>
            <a:ext cx="2870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b="1">
                <a:solidFill>
                  <a:srgbClr val="0F1A2E"/>
                </a:solidFill>
                <a:latin typeface="Malgun Gothic"/>
                <a:ea typeface="Malgun Gothic"/>
              </a:rPr>
              <a:t>조정안 216가지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084CE5-E76B-455C-AD20-1AD88280C556}"/>
              </a:ext>
            </a:extLst>
          </p:cNvPr>
          <p:cNvSpPr txBox="1"/>
          <p:nvPr/>
        </p:nvSpPr>
        <p:spPr>
          <a:xfrm>
            <a:off x="9271000" y="5613400"/>
            <a:ext cx="2870200" cy="162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유종마다 −60, 0, +30, +60, +90, +120원</a:t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/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6 × 6 × 6 = 216가지를 24주(6차수) 계산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277B414-D14A-49CF-BCAC-BA275DFC1DD4}"/>
              </a:ext>
            </a:extLst>
          </p:cNvPr>
          <p:cNvSpPr/>
          <p:nvPr/>
        </p:nvSpPr>
        <p:spPr>
          <a:xfrm>
            <a:off x="12877800" y="3835400"/>
            <a:ext cx="3632200" cy="3937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E1E6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74A2621-50AB-4377-9C88-22145F886426}"/>
              </a:ext>
            </a:extLst>
          </p:cNvPr>
          <p:cNvSpPr/>
          <p:nvPr/>
        </p:nvSpPr>
        <p:spPr>
          <a:xfrm>
            <a:off x="12877800" y="3835400"/>
            <a:ext cx="127000" cy="3937000"/>
          </a:xfrm>
          <a:prstGeom prst="rect">
            <a:avLst/>
          </a:prstGeom>
          <a:solidFill>
            <a:srgbClr val="4B73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0096E8-210C-4449-833D-4AB79720EA56}"/>
              </a:ext>
            </a:extLst>
          </p:cNvPr>
          <p:cNvSpPr txBox="1"/>
          <p:nvPr/>
        </p:nvSpPr>
        <p:spPr>
          <a:xfrm>
            <a:off x="13258800" y="4191000"/>
            <a:ext cx="584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 b="1">
                <a:solidFill>
                  <a:srgbClr val="4B73FF"/>
                </a:solidFill>
                <a:latin typeface="Malgun Gothic"/>
                <a:ea typeface="Malgun Gothic"/>
              </a:rPr>
              <a:t>04</a:t>
            </a:r>
            <a:endParaRPr lang="ko-KR" altLang="en-US" sz="1400" b="1">
              <a:solidFill>
                <a:srgbClr val="4B73FF"/>
              </a:solidFill>
              <a:latin typeface="Malgun Gothic"/>
              <a:ea typeface="Malgun Gothic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F62465-861D-4C01-A372-BF9371CF4F91}"/>
              </a:ext>
            </a:extLst>
          </p:cNvPr>
          <p:cNvSpPr txBox="1"/>
          <p:nvPr/>
        </p:nvSpPr>
        <p:spPr>
          <a:xfrm>
            <a:off x="13258800" y="4800600"/>
            <a:ext cx="2870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b="1">
                <a:solidFill>
                  <a:srgbClr val="0F1A2E"/>
                </a:solidFill>
                <a:latin typeface="Malgun Gothic"/>
                <a:ea typeface="Malgun Gothic"/>
              </a:rPr>
              <a:t>최적안 선택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8AA3C3-791E-493C-8DC2-F36992E9CAB8}"/>
              </a:ext>
            </a:extLst>
          </p:cNvPr>
          <p:cNvSpPr txBox="1"/>
          <p:nvPr/>
        </p:nvSpPr>
        <p:spPr>
          <a:xfrm>
            <a:off x="13258800" y="5613400"/>
            <a:ext cx="2870200" cy="162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월 물가 한도 0.104%p 안에서</a:t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/>
            </a:r>
          </a:p>
          <a:p>
            <a:pPr algn="l"/>
            <a:r>
              <a:rPr lang="ko-KR" altLang="en-US" sz="1300">
                <a:solidFill>
                  <a:srgbClr val="7E899B"/>
                </a:solidFill>
                <a:latin typeface="Malgun Gothic"/>
                <a:ea typeface="Malgun Gothic"/>
              </a:rPr>
              <a:t>24주 평균 지원금이 가장 적은 안 = 권고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2C7C86D-FB2A-4830-8E81-772725677473}"/>
              </a:ext>
            </a:extLst>
          </p:cNvPr>
          <p:cNvSpPr/>
          <p:nvPr/>
        </p:nvSpPr>
        <p:spPr>
          <a:xfrm>
            <a:off x="914400" y="8102600"/>
            <a:ext cx="15595600" cy="635000"/>
          </a:xfrm>
          <a:prstGeom prst="rect">
            <a:avLst/>
          </a:prstGeom>
          <a:solidFill>
            <a:srgbClr val="EEF3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1AA953-E043-43B9-959A-4EAFF4DF49B1}"/>
              </a:ext>
            </a:extLst>
          </p:cNvPr>
          <p:cNvSpPr txBox="1"/>
          <p:nvPr/>
        </p:nvSpPr>
        <p:spPr>
          <a:xfrm>
            <a:off x="1320800" y="8280400"/>
            <a:ext cx="1473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 b="1">
                <a:solidFill>
                  <a:srgbClr val="0F1A2E"/>
                </a:solidFill>
                <a:latin typeface="Malgun Gothic"/>
                <a:ea typeface="Malgun Gothic"/>
              </a:rPr>
              <a:t>12~16차  |  단순 규칙으로 진행: 지원금액이 큰 유종부터, 남은 물가 한도 안에서 최대한 올림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6F1ADEA-08C6-4B21-9D54-9D2712CAE3B9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B8BBC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21CF99D-CA5F-4836-B6F5-61B0B8EF2046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013D8CF-D8E7-408C-B9CE-46DBE3F1427B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7D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613261-C3EB-4035-94AD-D9F0960C8B7F}"/>
              </a:ext>
            </a:extLst>
          </p:cNvPr>
          <p:cNvSpPr txBox="1"/>
          <p:nvPr/>
        </p:nvSpPr>
        <p:spPr>
          <a:xfrm>
            <a:off x="1092200" y="18415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>
                <a:solidFill>
                  <a:srgbClr val="8A8F98"/>
                </a:solidFill>
                <a:latin typeface="Malgun Gothic"/>
                <a:ea typeface="Malgun Gothic"/>
              </a:rPr>
              <a:t>STEP 4 · SETTINGS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428B56-0342-454A-B7FE-EADCB3E03BFC}"/>
              </a:ext>
            </a:extLst>
          </p:cNvPr>
          <p:cNvSpPr txBox="1"/>
          <p:nvPr/>
        </p:nvSpPr>
        <p:spPr>
          <a:xfrm>
            <a:off x="1041400" y="2286000"/>
            <a:ext cx="14986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900" b="1">
                <a:solidFill>
                  <a:srgbClr val="101828"/>
                </a:solidFill>
                <a:latin typeface="Malgun Gothic"/>
                <a:ea typeface="Malgun Gothic"/>
              </a:rPr>
              <a:t>물가 한도는 상한제가 눌러 둔 물가를 6번에 나눠 되돌리는 속도로 정했습니다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794615-F20D-4223-8A09-4134668B9ECA}"/>
              </a:ext>
            </a:extLst>
          </p:cNvPr>
          <p:cNvSpPr/>
          <p:nvPr/>
        </p:nvSpPr>
        <p:spPr>
          <a:xfrm>
            <a:off x="1397000" y="3784600"/>
            <a:ext cx="15494000" cy="736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B39FF2-0AC0-46BD-88FC-C7D2315157EA}"/>
              </a:ext>
            </a:extLst>
          </p:cNvPr>
          <p:cNvSpPr txBox="1"/>
          <p:nvPr/>
        </p:nvSpPr>
        <p:spPr>
          <a:xfrm>
            <a:off x="1651000" y="3975100"/>
            <a:ext cx="60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500" b="1">
                <a:solidFill>
                  <a:srgbClr val="4775FF"/>
                </a:solidFill>
                <a:latin typeface="Malgun Gothic"/>
                <a:ea typeface="Malgun Gothic"/>
              </a:rPr>
              <a:t>01</a:t>
            </a:r>
            <a:endParaRPr lang="ko-KR" altLang="en-US" sz="1500" b="1">
              <a:solidFill>
                <a:srgbClr val="4775FF"/>
              </a:solidFill>
              <a:latin typeface="Malgun Gothic"/>
              <a:ea typeface="Malgun Gothic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57B49D-171F-41E1-860B-7974925F159F}"/>
              </a:ext>
            </a:extLst>
          </p:cNvPr>
          <p:cNvSpPr txBox="1"/>
          <p:nvPr/>
        </p:nvSpPr>
        <p:spPr>
          <a:xfrm>
            <a:off x="2603500" y="3949700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700" b="1">
                <a:solidFill>
                  <a:srgbClr val="4775FF"/>
                </a:solidFill>
                <a:latin typeface="Malgun Gothic"/>
                <a:ea typeface="Malgun Gothic"/>
              </a:rPr>
              <a:t>판매량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C4EE1F-9DA0-4D0A-AEBB-5F0AC2B2F964}"/>
              </a:ext>
            </a:extLst>
          </p:cNvPr>
          <p:cNvSpPr txBox="1"/>
          <p:nvPr/>
        </p:nvSpPr>
        <p:spPr>
          <a:xfrm>
            <a:off x="5461000" y="3962400"/>
            <a:ext cx="1079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101828"/>
                </a:solidFill>
                <a:latin typeface="Malgun Gothic"/>
                <a:ea typeface="Malgun Gothic"/>
              </a:rPr>
              <a:t>전년 같은 달 × 올해 증감률 · 등유는 겨울에 하루 180만 → 1,190만 리터로 증가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1BD334C-CB2B-43C2-8349-26253B5D2267}"/>
              </a:ext>
            </a:extLst>
          </p:cNvPr>
          <p:cNvSpPr/>
          <p:nvPr/>
        </p:nvSpPr>
        <p:spPr>
          <a:xfrm>
            <a:off x="1397000" y="4648200"/>
            <a:ext cx="15494000" cy="736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624636-EC40-4A5C-935D-57B236EF10D5}"/>
              </a:ext>
            </a:extLst>
          </p:cNvPr>
          <p:cNvSpPr txBox="1"/>
          <p:nvPr/>
        </p:nvSpPr>
        <p:spPr>
          <a:xfrm>
            <a:off x="1651000" y="4838700"/>
            <a:ext cx="60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500" b="1">
                <a:solidFill>
                  <a:srgbClr val="4775FF"/>
                </a:solidFill>
                <a:latin typeface="Malgun Gothic"/>
                <a:ea typeface="Malgun Gothic"/>
              </a:rPr>
              <a:t>02</a:t>
            </a:r>
            <a:endParaRPr lang="ko-KR" altLang="en-US" sz="1500" b="1">
              <a:solidFill>
                <a:srgbClr val="4775FF"/>
              </a:solidFill>
              <a:latin typeface="Malgun Gothic"/>
              <a:ea typeface="Malgun Gothic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C2BF94-2BBB-4B04-9D0C-1C95F4325048}"/>
              </a:ext>
            </a:extLst>
          </p:cNvPr>
          <p:cNvSpPr txBox="1"/>
          <p:nvPr/>
        </p:nvSpPr>
        <p:spPr>
          <a:xfrm>
            <a:off x="2603500" y="4813300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700" b="1">
                <a:solidFill>
                  <a:srgbClr val="4775FF"/>
                </a:solidFill>
                <a:latin typeface="Malgun Gothic"/>
                <a:ea typeface="Malgun Gothic"/>
              </a:rPr>
              <a:t>유류세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371FC3-27E4-4842-B3B7-C3C9B1FD550A}"/>
              </a:ext>
            </a:extLst>
          </p:cNvPr>
          <p:cNvSpPr txBox="1"/>
          <p:nvPr/>
        </p:nvSpPr>
        <p:spPr>
          <a:xfrm>
            <a:off x="5461000" y="4826000"/>
            <a:ext cx="1079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101828"/>
                </a:solidFill>
                <a:latin typeface="Malgun Gothic"/>
                <a:ea typeface="Malgun Gothic"/>
              </a:rPr>
              <a:t>현재 값 유지: 휘발유 698.5원 · 경유 436.3원 · 등유 80.2원 (리터당)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3B89C33-F4D6-49FA-8FE5-1D79C28C01D3}"/>
              </a:ext>
            </a:extLst>
          </p:cNvPr>
          <p:cNvSpPr/>
          <p:nvPr/>
        </p:nvSpPr>
        <p:spPr>
          <a:xfrm>
            <a:off x="1397000" y="5511800"/>
            <a:ext cx="15494000" cy="736600"/>
          </a:xfrm>
          <a:prstGeom prst="rect">
            <a:avLst/>
          </a:prstGeom>
          <a:solidFill>
            <a:srgbClr val="10182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64A74B-D6E7-4D37-A441-B13C9543DD48}"/>
              </a:ext>
            </a:extLst>
          </p:cNvPr>
          <p:cNvSpPr txBox="1"/>
          <p:nvPr/>
        </p:nvSpPr>
        <p:spPr>
          <a:xfrm>
            <a:off x="1651000" y="5702300"/>
            <a:ext cx="60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500" b="1">
                <a:solidFill>
                  <a:srgbClr val="39C6E8"/>
                </a:solidFill>
                <a:latin typeface="Malgun Gothic"/>
                <a:ea typeface="Malgun Gothic"/>
              </a:rPr>
              <a:t>03</a:t>
            </a:r>
            <a:endParaRPr lang="ko-KR" altLang="en-US" sz="1500" b="1">
              <a:solidFill>
                <a:srgbClr val="39C6E8"/>
              </a:solidFill>
              <a:latin typeface="Malgun Gothic"/>
              <a:ea typeface="Malgun Gothic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4BEE6D-8096-4DF2-AC56-43B546D81977}"/>
              </a:ext>
            </a:extLst>
          </p:cNvPr>
          <p:cNvSpPr txBox="1"/>
          <p:nvPr/>
        </p:nvSpPr>
        <p:spPr>
          <a:xfrm>
            <a:off x="2603500" y="5676900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700" b="1">
                <a:solidFill>
                  <a:srgbClr val="39C6E8"/>
                </a:solidFill>
                <a:latin typeface="Malgun Gothic"/>
                <a:ea typeface="Malgun Gothic"/>
              </a:rPr>
              <a:t>월 물가 한도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F0128A-C3BE-484B-993C-3AB07116E576}"/>
              </a:ext>
            </a:extLst>
          </p:cNvPr>
          <p:cNvSpPr txBox="1"/>
          <p:nvPr/>
        </p:nvSpPr>
        <p:spPr>
          <a:xfrm>
            <a:off x="5461000" y="5689600"/>
            <a:ext cx="1079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0.104%p = 9월에 상한제가 낮춘 물가 0.623%p ÷ 6차수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23C157F-4087-494D-A762-E4A7E6135F45}"/>
              </a:ext>
            </a:extLst>
          </p:cNvPr>
          <p:cNvSpPr/>
          <p:nvPr/>
        </p:nvSpPr>
        <p:spPr>
          <a:xfrm>
            <a:off x="1397000" y="6375400"/>
            <a:ext cx="15494000" cy="736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5899E2-B6A5-43BC-8EE4-8F4603455CC2}"/>
              </a:ext>
            </a:extLst>
          </p:cNvPr>
          <p:cNvSpPr txBox="1"/>
          <p:nvPr/>
        </p:nvSpPr>
        <p:spPr>
          <a:xfrm>
            <a:off x="1651000" y="6565900"/>
            <a:ext cx="60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500" b="1">
                <a:solidFill>
                  <a:srgbClr val="4775FF"/>
                </a:solidFill>
                <a:latin typeface="Malgun Gothic"/>
                <a:ea typeface="Malgun Gothic"/>
              </a:rPr>
              <a:t>04</a:t>
            </a:r>
            <a:endParaRPr lang="ko-KR" altLang="en-US" sz="1500" b="1">
              <a:solidFill>
                <a:srgbClr val="4775FF"/>
              </a:solidFill>
              <a:latin typeface="Malgun Gothic"/>
              <a:ea typeface="Malgun Gothic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E50406-0817-41D5-91C3-D93571BDEE3B}"/>
              </a:ext>
            </a:extLst>
          </p:cNvPr>
          <p:cNvSpPr txBox="1"/>
          <p:nvPr/>
        </p:nvSpPr>
        <p:spPr>
          <a:xfrm>
            <a:off x="2603500" y="6540500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700" b="1">
                <a:solidFill>
                  <a:srgbClr val="4775FF"/>
                </a:solidFill>
                <a:latin typeface="Malgun Gothic"/>
                <a:ea typeface="Malgun Gothic"/>
              </a:rPr>
              <a:t>인하 조건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D13A7B-27EC-42CD-AAA5-FBCC5518590B}"/>
              </a:ext>
            </a:extLst>
          </p:cNvPr>
          <p:cNvSpPr txBox="1"/>
          <p:nvPr/>
        </p:nvSpPr>
        <p:spPr>
          <a:xfrm>
            <a:off x="5461000" y="6553200"/>
            <a:ext cx="1079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101828"/>
                </a:solidFill>
                <a:latin typeface="Malgun Gothic"/>
                <a:ea typeface="Malgun Gothic"/>
              </a:rPr>
              <a:t>지원금액이 60원 미만인 유종만 인하 (7차 인하 때 휘발유 지원금액 48원)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EE100A6-7B2E-4C75-83C9-D42D365E6242}"/>
              </a:ext>
            </a:extLst>
          </p:cNvPr>
          <p:cNvSpPr/>
          <p:nvPr/>
        </p:nvSpPr>
        <p:spPr>
          <a:xfrm>
            <a:off x="1397000" y="7239000"/>
            <a:ext cx="15494000" cy="736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C0BFB2-23BC-4EFE-A01F-0185A76DF453}"/>
              </a:ext>
            </a:extLst>
          </p:cNvPr>
          <p:cNvSpPr txBox="1"/>
          <p:nvPr/>
        </p:nvSpPr>
        <p:spPr>
          <a:xfrm>
            <a:off x="1651000" y="7429500"/>
            <a:ext cx="60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500" b="1">
                <a:solidFill>
                  <a:srgbClr val="4775FF"/>
                </a:solidFill>
                <a:latin typeface="Malgun Gothic"/>
                <a:ea typeface="Malgun Gothic"/>
              </a:rPr>
              <a:t>05</a:t>
            </a:r>
            <a:endParaRPr lang="ko-KR" altLang="en-US" sz="1500" b="1">
              <a:solidFill>
                <a:srgbClr val="4775FF"/>
              </a:solidFill>
              <a:latin typeface="Malgun Gothic"/>
              <a:ea typeface="Malgun Gothic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22222D-389F-4B43-93D4-E8985C614FB8}"/>
              </a:ext>
            </a:extLst>
          </p:cNvPr>
          <p:cNvSpPr txBox="1"/>
          <p:nvPr/>
        </p:nvSpPr>
        <p:spPr>
          <a:xfrm>
            <a:off x="2603500" y="7404100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700" b="1">
                <a:solidFill>
                  <a:srgbClr val="4775FF"/>
                </a:solidFill>
                <a:latin typeface="Malgun Gothic"/>
                <a:ea typeface="Malgun Gothic"/>
              </a:rPr>
              <a:t>12~16차</a:t>
            </a:r>
            <a:endParaRPr lang="ko-KR" altLang="en-US" sz="1700" b="1">
              <a:solidFill>
                <a:srgbClr val="4775FF"/>
              </a:solidFill>
              <a:latin typeface="Malgun Gothic"/>
              <a:ea typeface="Malgun Gothic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D68AF8-1018-4B8E-9B66-77B864702D81}"/>
              </a:ext>
            </a:extLst>
          </p:cNvPr>
          <p:cNvSpPr txBox="1"/>
          <p:nvPr/>
        </p:nvSpPr>
        <p:spPr>
          <a:xfrm>
            <a:off x="5461000" y="7416800"/>
            <a:ext cx="1079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101828"/>
                </a:solidFill>
                <a:latin typeface="Malgun Gothic"/>
                <a:ea typeface="Malgun Gothic"/>
              </a:rPr>
              <a:t>지원금액이 큰 유종부터 남은 물가 한도 안에서 최대 인상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70155B-F060-4963-A730-9B312C3806DF}"/>
              </a:ext>
            </a:extLst>
          </p:cNvPr>
          <p:cNvSpPr txBox="1"/>
          <p:nvPr/>
        </p:nvSpPr>
        <p:spPr>
          <a:xfrm>
            <a:off x="2921000" y="8382000"/>
            <a:ext cx="1244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 b="1">
                <a:solidFill>
                  <a:srgbClr val="101828"/>
                </a:solidFill>
                <a:latin typeface="Malgun Gothic"/>
                <a:ea typeface="Malgun Gothic"/>
              </a:rPr>
              <a:t>216개 조정안 중 60개가 물가 한도와 인하 조건을 지킵니다. 실제 2차 +210원 인상은 0.375%p였습니다.</a:t>
            </a:r>
            <a:endParaRPr lang="ko-KR" altLang="en-US" sz="1500" b="1">
              <a:solidFill>
                <a:srgbClr val="101828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F9844C-7A05-47D1-822C-5F5101A5B534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B8BBC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45F64D-C46C-429C-B0D2-F932881B9EFF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C859B2C-8415-466C-94D8-262047626BE8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7D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148C9A-D29E-4547-9EE2-44ED48D26D7A}"/>
              </a:ext>
            </a:extLst>
          </p:cNvPr>
          <p:cNvSpPr txBox="1"/>
          <p:nvPr/>
        </p:nvSpPr>
        <p:spPr>
          <a:xfrm>
            <a:off x="1092200" y="15875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>
                <a:solidFill>
                  <a:srgbClr val="8793A6"/>
                </a:solidFill>
                <a:latin typeface="Malgun Gothic"/>
                <a:ea typeface="Malgun Gothic"/>
              </a:rPr>
              <a:t>RESULT · 11TH DECISION</a:t>
            </a:r>
            <a:endParaRPr lang="ko-KR" altLang="en-US" sz="1200">
              <a:solidFill>
                <a:srgbClr val="8793A6"/>
              </a:solidFill>
              <a:latin typeface="Malgun Gothic"/>
              <a:ea typeface="Malgun Gothic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2B5AC6-2072-49CB-9AFE-CA9A441ABC2B}"/>
              </a:ext>
            </a:extLst>
          </p:cNvPr>
          <p:cNvSpPr txBox="1"/>
          <p:nvPr/>
        </p:nvSpPr>
        <p:spPr>
          <a:xfrm>
            <a:off x="1041400" y="2082800"/>
            <a:ext cx="15494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700" b="1">
                <a:solidFill>
                  <a:srgbClr val="0F1A2E"/>
                </a:solidFill>
                <a:latin typeface="Malgun Gothic"/>
                <a:ea typeface="Malgun Gothic"/>
              </a:rPr>
              <a:t>11차 권고: 휘발유 +30원, 경유 +90원, 등유 +120원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B4C59E-BBCF-4358-8140-55645C445FAA}"/>
              </a:ext>
            </a:extLst>
          </p:cNvPr>
          <p:cNvSpPr txBox="1"/>
          <p:nvPr/>
        </p:nvSpPr>
        <p:spPr>
          <a:xfrm>
            <a:off x="1092200" y="3022600"/>
            <a:ext cx="147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>
                <a:solidFill>
                  <a:srgbClr val="8A95A8"/>
                </a:solidFill>
                <a:latin typeface="Malgun Gothic"/>
                <a:ea typeface="Malgun Gothic"/>
              </a:rPr>
              <a:t>리터당 지원금액 중 일부를 올려, 물가 한도(0.104%p) 안에서 지원금을 가장 많이 줄입니다.</a:t>
            </a:r>
            <a:endParaRPr lang="ko-KR" altLang="en-US" sz="1400">
              <a:solidFill>
                <a:srgbClr val="8A95A8"/>
              </a:solidFill>
              <a:latin typeface="Malgun Gothic"/>
              <a:ea typeface="Malgun Gothic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EAF440-FF1A-4B24-AB62-3A31BC4ECB96}"/>
              </a:ext>
            </a:extLst>
          </p:cNvPr>
          <p:cNvSpPr/>
          <p:nvPr/>
        </p:nvSpPr>
        <p:spPr>
          <a:xfrm>
            <a:off x="1041400" y="3784600"/>
            <a:ext cx="11049000" cy="42926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E1E6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1A2F7D-9993-4BB4-B0E5-5F7892C5AB3D}"/>
              </a:ext>
            </a:extLst>
          </p:cNvPr>
          <p:cNvSpPr txBox="1"/>
          <p:nvPr/>
        </p:nvSpPr>
        <p:spPr>
          <a:xfrm>
            <a:off x="1422400" y="406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b="1">
                <a:solidFill>
                  <a:srgbClr val="0F1A2E"/>
                </a:solidFill>
                <a:latin typeface="Malgun Gothic"/>
                <a:ea typeface="Malgun Gothic"/>
              </a:rPr>
              <a:t>리터당 정부 지원금액과 11차 권고 인상폭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E5BFB5-EF83-40A5-88E8-9DC3A15E40F4}"/>
              </a:ext>
            </a:extLst>
          </p:cNvPr>
          <p:cNvSpPr txBox="1"/>
          <p:nvPr/>
        </p:nvSpPr>
        <p:spPr>
          <a:xfrm>
            <a:off x="1422400" y="44704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100">
                <a:solidFill>
                  <a:srgbClr val="8A95A8"/>
                </a:solidFill>
                <a:latin typeface="Malgun Gothic"/>
                <a:ea typeface="Malgun Gothic"/>
              </a:rPr>
              <a:t>단위: 원/L · 2026년 10월 10일 국제가·환율 기준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FE0113E-12E0-46A5-8587-C75D8EE6EDD5}"/>
              </a:ext>
            </a:extLst>
          </p:cNvPr>
          <p:cNvSpPr/>
          <p:nvPr/>
        </p:nvSpPr>
        <p:spPr>
          <a:xfrm>
            <a:off x="12471400" y="3784600"/>
            <a:ext cx="4673600" cy="4292600"/>
          </a:xfrm>
          <a:prstGeom prst="rect">
            <a:avLst/>
          </a:prstGeom>
          <a:solidFill>
            <a:srgbClr val="0F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8B544F-D2A0-4E2A-B7AA-8A886502EECA}"/>
              </a:ext>
            </a:extLst>
          </p:cNvPr>
          <p:cNvSpPr txBox="1"/>
          <p:nvPr/>
        </p:nvSpPr>
        <p:spPr>
          <a:xfrm>
            <a:off x="12903200" y="41656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 b="1">
                <a:solidFill>
                  <a:srgbClr val="35C6E8"/>
                </a:solidFill>
                <a:latin typeface="Malgun Gothic"/>
                <a:ea typeface="Malgun Gothic"/>
              </a:rPr>
              <a:t>KEY READ</a:t>
            </a:r>
            <a:endParaRPr lang="ko-KR" altLang="en-US" sz="1200" b="1">
              <a:solidFill>
                <a:srgbClr val="35C6E8"/>
              </a:solidFill>
              <a:latin typeface="Malgun Gothic"/>
              <a:ea typeface="Malgun Gothic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10D69C-D225-4C82-A78B-D2AA6F48F43B}"/>
              </a:ext>
            </a:extLst>
          </p:cNvPr>
          <p:cNvSpPr txBox="1"/>
          <p:nvPr/>
        </p:nvSpPr>
        <p:spPr>
          <a:xfrm>
            <a:off x="12903200" y="47498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이번 달 물가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A5A3AD-07C6-473A-AA2A-E81F80C2C05F}"/>
              </a:ext>
            </a:extLst>
          </p:cNvPr>
          <p:cNvSpPr txBox="1"/>
          <p:nvPr/>
        </p:nvSpPr>
        <p:spPr>
          <a:xfrm>
            <a:off x="12903200" y="5207000"/>
            <a:ext cx="3302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+0.10%p</a:t>
            </a:r>
          </a:p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(한도 0.104%p)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4D7D32-DCD4-4197-ADAB-708F7B3E71BA}"/>
              </a:ext>
            </a:extLst>
          </p:cNvPr>
          <p:cNvSpPr txBox="1"/>
          <p:nvPr/>
        </p:nvSpPr>
        <p:spPr>
          <a:xfrm>
            <a:off x="12903200" y="6477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Malgun Gothic"/>
                <a:ea typeface="Malgun Gothic"/>
              </a:rPr>
              <a:t>정부 지원금 절감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50DC6E-F3A3-48A8-A0B0-16DA1350418B}"/>
              </a:ext>
            </a:extLst>
          </p:cNvPr>
          <p:cNvSpPr txBox="1"/>
          <p:nvPr/>
        </p:nvSpPr>
        <p:spPr>
          <a:xfrm>
            <a:off x="12903200" y="6934200"/>
            <a:ext cx="3302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4주 약 1,900억 원</a:t>
            </a:r>
          </a:p>
          <a:p>
            <a:pPr algn="l"/>
            <a:r>
              <a:rPr lang="ko-KR" altLang="en-US" sz="1500">
                <a:solidFill>
                  <a:srgbClr val="FFFFFF"/>
                </a:solidFill>
                <a:latin typeface="Malgun Gothic"/>
                <a:ea typeface="Malgun Gothic"/>
              </a:rPr>
              <a:t>24주 약 8,622억 원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7FB84B-F609-45B2-9195-8F8D03392930}"/>
              </a:ext>
            </a:extLst>
          </p:cNvPr>
          <p:cNvSpPr txBox="1"/>
          <p:nvPr/>
        </p:nvSpPr>
        <p:spPr>
          <a:xfrm>
            <a:off x="1066800" y="8864600"/>
            <a:ext cx="142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ko-KR" altLang="en-US" sz="1000">
                <a:solidFill>
                  <a:srgbClr val="98A2B3"/>
                </a:solidFill>
                <a:latin typeface="Malgun Gothic"/>
                <a:ea typeface="Malgun Gothic"/>
              </a:rPr>
              <a:t>24주 지원금은 미래 유가 500가지의 평균 · 권고 이후 12~16차는 단순 규칙으로 계산</a:t>
            </a:r>
          </a:p>
        </p:txBody>
      </p:sp>
      <p:graphicFrame>
        <p:nvGraphicFramePr>
          <p:cNvPr id="59" name="Chart 58"/>
          <p:cNvGraphicFramePr>
            <a:graphicFrameLocks noGrp="1"/>
          </p:cNvGraphicFramePr>
          <p:nvPr/>
        </p:nvGraphicFramePr>
        <p:xfrm>
          <a:off x="1280160" y="4800600"/>
          <a:ext cx="105613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3370687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28EFC1-30C9-4825-9596-AD27960EEC90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B8BBC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11966F-6FBF-4A02-8659-3C8C2B285D10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5350B3-64B6-479A-929B-199E27D5AB56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7D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99F5B0-4C3F-48D3-BD98-FA1E2F1AA710}"/>
              </a:ext>
            </a:extLst>
          </p:cNvPr>
          <p:cNvSpPr txBox="1"/>
          <p:nvPr/>
        </p:nvSpPr>
        <p:spPr>
          <a:xfrm>
            <a:off x="1092200" y="18415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>
                <a:solidFill>
                  <a:srgbClr val="8A8F98"/>
                </a:solidFill>
                <a:latin typeface="Malgun Gothic"/>
                <a:ea typeface="Malgun Gothic"/>
              </a:rPr>
              <a:t>RESULT · COMPARISON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75ABED-102C-4D9B-8C97-6891BE69578F}"/>
              </a:ext>
            </a:extLst>
          </p:cNvPr>
          <p:cNvSpPr txBox="1"/>
          <p:nvPr/>
        </p:nvSpPr>
        <p:spPr>
          <a:xfrm>
            <a:off x="1041400" y="2286000"/>
            <a:ext cx="14986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900" b="1">
                <a:solidFill>
                  <a:srgbClr val="101828"/>
                </a:solidFill>
                <a:latin typeface="Malgun Gothic"/>
                <a:ea typeface="Malgun Gothic"/>
              </a:rPr>
              <a:t>권고대로 하면 앞으로 24주 정부 지원금이 약 8,622억 원 줄어듭니다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C3A62E-3D03-47CB-A204-B5E2678E47A1}"/>
              </a:ext>
            </a:extLst>
          </p:cNvPr>
          <p:cNvSpPr/>
          <p:nvPr/>
        </p:nvSpPr>
        <p:spPr>
          <a:xfrm>
            <a:off x="1143000" y="3873500"/>
            <a:ext cx="7175500" cy="3683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CDD8CDB-C100-49F4-A244-BADBA5B22002}"/>
              </a:ext>
            </a:extLst>
          </p:cNvPr>
          <p:cNvSpPr/>
          <p:nvPr/>
        </p:nvSpPr>
        <p:spPr>
          <a:xfrm>
            <a:off x="9969500" y="3873500"/>
            <a:ext cx="7175500" cy="3683000"/>
          </a:xfrm>
          <a:prstGeom prst="rect">
            <a:avLst/>
          </a:prstGeom>
          <a:solidFill>
            <a:srgbClr val="10182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E451E6-81F0-4148-8983-78271A2899C8}"/>
              </a:ext>
            </a:extLst>
          </p:cNvPr>
          <p:cNvSpPr txBox="1"/>
          <p:nvPr/>
        </p:nvSpPr>
        <p:spPr>
          <a:xfrm>
            <a:off x="1524000" y="42545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 b="1">
                <a:solidFill>
                  <a:srgbClr val="4775FF"/>
                </a:solidFill>
                <a:latin typeface="Malgun Gothic"/>
                <a:ea typeface="Malgun Gothic"/>
              </a:rPr>
              <a:t>OPTION A</a:t>
            </a:r>
            <a:endParaRPr lang="ko-KR" altLang="en-US" sz="1400" b="1">
              <a:solidFill>
                <a:srgbClr val="4775FF"/>
              </a:solidFill>
              <a:latin typeface="Malgun Gothic"/>
              <a:ea typeface="Malgun Gothic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9FC475-799A-4373-B94C-45314B64CF3D}"/>
              </a:ext>
            </a:extLst>
          </p:cNvPr>
          <p:cNvSpPr txBox="1"/>
          <p:nvPr/>
        </p:nvSpPr>
        <p:spPr>
          <a:xfrm>
            <a:off x="1524000" y="4762500"/>
            <a:ext cx="381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300" b="1">
                <a:solidFill>
                  <a:srgbClr val="101828"/>
                </a:solidFill>
                <a:latin typeface="Malgun Gothic"/>
                <a:ea typeface="Malgun Gothic"/>
              </a:rPr>
              <a:t>그대로 두면 (동결)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5F65C2-3F0E-4FC6-837C-DCAA8A37C443}"/>
              </a:ext>
            </a:extLst>
          </p:cNvPr>
          <p:cNvSpPr txBox="1"/>
          <p:nvPr/>
        </p:nvSpPr>
        <p:spPr>
          <a:xfrm>
            <a:off x="1524000" y="5524500"/>
            <a:ext cx="5778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>
                <a:solidFill>
                  <a:srgbClr val="8A8F98"/>
                </a:solidFill>
                <a:latin typeface="Malgun Gothic"/>
                <a:ea typeface="Malgun Gothic"/>
              </a:rPr>
              <a:t>• 조정 폭: 세 유종 모두 0원</a:t>
            </a:r>
          </a:p>
          <a:p>
            <a:pPr algn="l"/>
            <a:r>
              <a:rPr lang="en-US" altLang="ko-KR" sz="1600">
                <a:solidFill>
                  <a:srgbClr val="8A8F98"/>
                </a:solidFill>
                <a:latin typeface="Malgun Gothic"/>
                <a:ea typeface="Malgun Gothic"/>
              </a:rPr>
              <a:t>• 이번 달 물가: 변화 없음</a:t>
            </a:r>
          </a:p>
          <a:p>
            <a:pPr algn="l"/>
            <a:r>
              <a:rPr lang="en-US" altLang="ko-KR" sz="1600">
                <a:solidFill>
                  <a:srgbClr val="8A8F98"/>
                </a:solidFill>
                <a:latin typeface="Malgun Gothic"/>
                <a:ea typeface="Malgun Gothic"/>
              </a:rPr>
              <a:t>• 24주 정부 지원금: 5.72조 원</a:t>
            </a:r>
          </a:p>
          <a:p>
            <a:pPr algn="l"/>
            <a:r>
              <a:rPr lang="en-US" altLang="ko-KR" sz="1600">
                <a:solidFill>
                  <a:srgbClr val="8A8F98"/>
                </a:solidFill>
                <a:latin typeface="Malgun Gothic"/>
                <a:ea typeface="Malgun Gothic"/>
              </a:rPr>
              <a:t>• 지원금액이 계속 커지면 부담도 계속 커짐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78531E-365C-45CF-90EB-885B049C2791}"/>
              </a:ext>
            </a:extLst>
          </p:cNvPr>
          <p:cNvSpPr txBox="1"/>
          <p:nvPr/>
        </p:nvSpPr>
        <p:spPr>
          <a:xfrm>
            <a:off x="10350500" y="42545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 b="1">
                <a:solidFill>
                  <a:srgbClr val="39C6E8"/>
                </a:solidFill>
                <a:latin typeface="Malgun Gothic"/>
                <a:ea typeface="Malgun Gothic"/>
              </a:rPr>
              <a:t>OPTION B · 권고</a:t>
            </a:r>
            <a:endParaRPr lang="ko-KR" altLang="en-US" sz="1400" b="1">
              <a:solidFill>
                <a:srgbClr val="39C6E8"/>
              </a:solidFill>
              <a:latin typeface="Malgun Gothic"/>
              <a:ea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9771C5-94F3-4D3E-9E76-5B356E32BAAF}"/>
              </a:ext>
            </a:extLst>
          </p:cNvPr>
          <p:cNvSpPr txBox="1"/>
          <p:nvPr/>
        </p:nvSpPr>
        <p:spPr>
          <a:xfrm>
            <a:off x="10350500" y="4762500"/>
            <a:ext cx="4191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300" b="1">
                <a:solidFill>
                  <a:srgbClr val="FFFFFF"/>
                </a:solidFill>
                <a:latin typeface="Malgun Gothic"/>
                <a:ea typeface="Malgun Gothic"/>
              </a:rPr>
              <a:t>11차 권고대로 하면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857946-647A-4188-B979-8F5D0BDA6A26}"/>
              </a:ext>
            </a:extLst>
          </p:cNvPr>
          <p:cNvSpPr txBox="1"/>
          <p:nvPr/>
        </p:nvSpPr>
        <p:spPr>
          <a:xfrm>
            <a:off x="10350500" y="5524500"/>
            <a:ext cx="5778500" cy="1714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>
                <a:solidFill>
                  <a:srgbClr val="FFFFFF"/>
                </a:solidFill>
                <a:latin typeface="Malgun Gothic"/>
                <a:ea typeface="Malgun Gothic"/>
              </a:rPr>
              <a:t>• 휘발유 +30원 · 경유 +90원 · 등유 +120원</a:t>
            </a:r>
          </a:p>
          <a:p>
            <a:pPr algn="l"/>
            <a:r>
              <a:rPr lang="en-US" altLang="ko-KR" sz="1600">
                <a:solidFill>
                  <a:srgbClr val="FFFFFF"/>
                </a:solidFill>
                <a:latin typeface="Malgun Gothic"/>
                <a:ea typeface="Malgun Gothic"/>
              </a:rPr>
              <a:t>• 이번 달 물가: +0.10%p</a:t>
            </a:r>
          </a:p>
          <a:p>
            <a:pPr algn="l"/>
            <a:r>
              <a:rPr lang="en-US" altLang="ko-KR" sz="1600">
                <a:solidFill>
                  <a:srgbClr val="FFFFFF"/>
                </a:solidFill>
                <a:latin typeface="Malgun Gothic"/>
                <a:ea typeface="Malgun Gothic"/>
              </a:rPr>
              <a:t>• 24주 정부 지원금: 4.86조 원</a:t>
            </a:r>
          </a:p>
          <a:p>
            <a:pPr algn="l"/>
            <a:r>
              <a:rPr lang="en-US" altLang="ko-KR" sz="1600">
                <a:solidFill>
                  <a:srgbClr val="FFFFFF"/>
                </a:solidFill>
                <a:latin typeface="Malgun Gothic"/>
                <a:ea typeface="Malgun Gothic"/>
              </a:rPr>
              <a:t>• 4주 절감 약 1,900억 원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34C24FE-BBB8-4513-B377-F826B147E73E}"/>
              </a:ext>
            </a:extLst>
          </p:cNvPr>
          <p:cNvSpPr/>
          <p:nvPr/>
        </p:nvSpPr>
        <p:spPr>
          <a:xfrm>
            <a:off x="8572500" y="5207000"/>
            <a:ext cx="1143000" cy="889000"/>
          </a:xfrm>
          <a:prstGeom prst="roundRect">
            <a:avLst/>
          </a:prstGeom>
          <a:solidFill>
            <a:srgbClr val="EAF0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2DDAE0-4A67-47D5-B72F-23A8297615CF}"/>
              </a:ext>
            </a:extLst>
          </p:cNvPr>
          <p:cNvSpPr txBox="1"/>
          <p:nvPr/>
        </p:nvSpPr>
        <p:spPr>
          <a:xfrm>
            <a:off x="8763000" y="5435600"/>
            <a:ext cx="76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2200" b="1">
                <a:solidFill>
                  <a:srgbClr val="4775FF"/>
                </a:solidFill>
                <a:latin typeface="Malgun Gothic"/>
                <a:ea typeface="Malgun Gothic"/>
              </a:rPr>
              <a:t>VS</a:t>
            </a:r>
            <a:endParaRPr lang="ko-KR" altLang="en-US" sz="2200" b="1">
              <a:solidFill>
                <a:srgbClr val="4775FF"/>
              </a:solidFill>
              <a:latin typeface="Malgun Gothic"/>
              <a:ea typeface="Malgun Gothic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BA267F-BCBF-45A4-9378-455B6D58440C}"/>
              </a:ext>
            </a:extLst>
          </p:cNvPr>
          <p:cNvSpPr txBox="1"/>
          <p:nvPr/>
        </p:nvSpPr>
        <p:spPr>
          <a:xfrm>
            <a:off x="2984500" y="8255000"/>
            <a:ext cx="1231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 b="1">
                <a:solidFill>
                  <a:srgbClr val="101828"/>
                </a:solidFill>
                <a:latin typeface="Malgun Gothic"/>
                <a:ea typeface="Malgun Gothic"/>
              </a:rPr>
              <a:t>차이  |  물가 +0.10%p를 감수하면, 24주 지원금 5.72조 → 4.86조 원 (약 8,622억 원 감소)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758B8A-D2CB-4904-8405-3C266E156253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9E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C8246C-1016-47F6-A409-02D5AE647671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B73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B979976-B798-4653-8D26-F1AD5A5A9D5F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AAB2B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249AD2-A634-4FF4-A5FD-02DFDC7EEE14}"/>
              </a:ext>
            </a:extLst>
          </p:cNvPr>
          <p:cNvSpPr txBox="1"/>
          <p:nvPr/>
        </p:nvSpPr>
        <p:spPr>
          <a:xfrm>
            <a:off x="1092200" y="15875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200">
                <a:solidFill>
                  <a:srgbClr val="8793A6"/>
                </a:solidFill>
                <a:latin typeface="Malgun Gothic"/>
                <a:ea typeface="Malgun Gothic"/>
              </a:rPr>
              <a:t>ROBUSTNESS CHECK</a:t>
            </a:r>
            <a:endParaRPr lang="ko-KR" altLang="en-US" sz="1200">
              <a:solidFill>
                <a:srgbClr val="8793A6"/>
              </a:solidFill>
              <a:latin typeface="Malgun Gothic"/>
              <a:ea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0B34A-0FDE-43DE-A97C-B100231566BB}"/>
              </a:ext>
            </a:extLst>
          </p:cNvPr>
          <p:cNvSpPr txBox="1"/>
          <p:nvPr/>
        </p:nvSpPr>
        <p:spPr>
          <a:xfrm>
            <a:off x="1041400" y="2082800"/>
            <a:ext cx="15494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700" b="1">
                <a:solidFill>
                  <a:srgbClr val="0F1A2E"/>
                </a:solidFill>
                <a:latin typeface="Malgun Gothic"/>
                <a:ea typeface="Malgun Gothic"/>
              </a:rPr>
              <a:t>조건을 바꿔도 '휘발유는 적게, 경유·등유는 많이' 올리는 방향은 같습니다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FA0F1-B53F-4078-BDE6-1DDB55D4D4E2}"/>
              </a:ext>
            </a:extLst>
          </p:cNvPr>
          <p:cNvSpPr txBox="1"/>
          <p:nvPr/>
        </p:nvSpPr>
        <p:spPr>
          <a:xfrm>
            <a:off x="1092200" y="3022600"/>
            <a:ext cx="147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>
                <a:solidFill>
                  <a:srgbClr val="8A95A8"/>
                </a:solidFill>
                <a:latin typeface="Malgun Gothic"/>
                <a:ea typeface="Malgun Gothic"/>
              </a:rPr>
              <a:t>확실하지 않은 설정 7가지를 하나씩 바꿔 11차 권고를 다시 계산했습니다.</a:t>
            </a:r>
            <a:endParaRPr lang="ko-KR" altLang="en-US" sz="1400">
              <a:solidFill>
                <a:srgbClr val="8A95A8"/>
              </a:solidFill>
              <a:latin typeface="Malgun Gothic"/>
              <a:ea typeface="Malgun Gothic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EBDE2B4-58BE-43CD-8717-7231B3C2A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5837"/>
              </p:ext>
            </p:extLst>
          </p:nvPr>
        </p:nvGraphicFramePr>
        <p:xfrm>
          <a:off x="1041400" y="3810000"/>
          <a:ext cx="1548993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>
                  <a:extLst>
                    <a:ext uri="{9D8B030D-6E8A-4147-A177-3AD203B41FA5}">
                      <a16:colId xmlns:a16="http://schemas.microsoft.com/office/drawing/2014/main" val="3450302534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899399516"/>
                    </a:ext>
                  </a:extLst>
                </a:gridCol>
                <a:gridCol w="3419856">
                  <a:extLst>
                    <a:ext uri="{9D8B030D-6E8A-4147-A177-3AD203B41FA5}">
                      <a16:colId xmlns:a16="http://schemas.microsoft.com/office/drawing/2014/main" val="242275217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바꾼 조건</a:t>
                      </a:r>
                    </a:p>
                  </a:txBody>
                  <a:tcPr anchor="ctr"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11차 권고 (휘발유 / 경유 / 등유)</a:t>
                      </a:r>
                    </a:p>
                  </a:txBody>
                  <a:tcPr anchor="ctr">
                    <a:solidFill>
                      <a:srgbClr val="4B7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휘발유가 가장 적게?</a:t>
                      </a:r>
                    </a:p>
                  </a:txBody>
                  <a:tcPr anchor="ctr">
                    <a:solidFill>
                      <a:srgbClr val="35C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1236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기본 설정</a:t>
                      </a:r>
                    </a:p>
                  </a:txBody>
                  <a:tcPr anchor="ctr"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+30원 / +90원 / +120원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F6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5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반영률 75% · 판매가가 덜 따라 오른다면</a:t>
                      </a:r>
                    </a:p>
                  </a:txBody>
                  <a:tcPr anchor="ctr"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+60원 / +90원 / +120원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EC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00822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반영률 100% · 판매가가 다 따라 오른다면</a:t>
                      </a:r>
                    </a:p>
                  </a:txBody>
                  <a:tcPr anchor="ctr"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0원 / +120원 / +120원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F6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5224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반영률 4주 값만 · 한 달 평균 대신 4주 값 사용</a:t>
                      </a:r>
                    </a:p>
                  </a:txBody>
                  <a:tcPr anchor="ctr"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0원 / +120원 / +90원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EC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5515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한도 ×0.5 · 물가 한도를 절반으로</a:t>
                      </a:r>
                    </a:p>
                  </a:txBody>
                  <a:tcPr anchor="ctr"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0원 / +60원 / +120원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F6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427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한도 ×1.5 · 물가 한도를 1.5배로</a:t>
                      </a:r>
                    </a:p>
                  </a:txBody>
                  <a:tcPr anchor="ctr"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+60원 / +120원 / +120원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EC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4479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추출 기간 최근 3년 · 미래 유가를 최근 3년에서 뽑으면</a:t>
                      </a:r>
                    </a:p>
                  </a:txBody>
                  <a:tcPr anchor="ctr"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+30원 / +90원 / +120원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EC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4479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다른 난수 시드 · 다른 유가 500가지로</a:t>
                      </a:r>
                    </a:p>
                  </a:txBody>
                  <a:tcPr anchor="ctr"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+30원 / +90원 / +120원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0F1A2E"/>
                          </a:solidFill>
                          <a:latin typeface="Malgun Gothic"/>
                          <a:ea typeface="Malgun 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EC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44791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FD3DEC8-17C0-41E4-AD4B-D42E977CDB7D}"/>
              </a:ext>
            </a:extLst>
          </p:cNvPr>
          <p:cNvSpPr/>
          <p:nvPr/>
        </p:nvSpPr>
        <p:spPr>
          <a:xfrm>
            <a:off x="1041400" y="8255000"/>
            <a:ext cx="15494000" cy="533400"/>
          </a:xfrm>
          <a:prstGeom prst="rect">
            <a:avLst/>
          </a:prstGeom>
          <a:solidFill>
            <a:srgbClr val="0F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8DB15-A0CA-45CA-A29B-9E08598E224D}"/>
              </a:ext>
            </a:extLst>
          </p:cNvPr>
          <p:cNvSpPr txBox="1"/>
          <p:nvPr/>
        </p:nvSpPr>
        <p:spPr>
          <a:xfrm>
            <a:off x="1397000" y="8394700"/>
            <a:ext cx="147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Malgun Gothic"/>
                <a:ea typeface="Malgun Gothic"/>
              </a:rPr>
              <a:t>결론  |  권고의 크기는 조건에 따라 달라지지만, 유종 간 순서(휘발유 ≤ 경유·등유)는 8가지 모두 같습니다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A8477-A795-484B-B9A0-4237B0894499}"/>
              </a:ext>
            </a:extLst>
          </p:cNvPr>
          <p:cNvSpPr txBox="1"/>
          <p:nvPr/>
        </p:nvSpPr>
        <p:spPr>
          <a:xfrm>
            <a:off x="1066800" y="8940800"/>
            <a:ext cx="1498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950">
                <a:solidFill>
                  <a:srgbClr val="98A2B3"/>
                </a:solidFill>
                <a:latin typeface="Malgun Gothic"/>
                <a:ea typeface="Malgun Gothic"/>
              </a:rPr>
              <a:t>결과 파일: results/policy/optimize_sensitivity.csv · 실행: python policy/optimize.py --sensitivity</a:t>
            </a:r>
          </a:p>
        </p:txBody>
      </p:sp>
    </p:spTree>
    <p:extLst>
      <p:ext uri="{BB962C8B-B14F-4D97-AF65-F5344CB8AC3E}">
        <p14:creationId xmlns:p14="http://schemas.microsoft.com/office/powerpoint/2010/main" val="1780883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1EECB2-4848-42E2-9DFD-B26D8302EB06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B8BBC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594EBD-4C82-46A6-9E26-D2E7CDCC49BD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9A74C4-4FCA-4E11-9294-CDE7A99A781E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7D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D87773-D579-4D1C-88AF-B4D604E2B1D5}"/>
              </a:ext>
            </a:extLst>
          </p:cNvPr>
          <p:cNvSpPr txBox="1"/>
          <p:nvPr/>
        </p:nvSpPr>
        <p:spPr>
          <a:xfrm>
            <a:off x="1092200" y="18415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400">
                <a:solidFill>
                  <a:srgbClr val="8A8F98"/>
                </a:solidFill>
                <a:latin typeface="Malgun Gothic"/>
                <a:ea typeface="Malgun Gothic"/>
              </a:rPr>
              <a:t>BACKTEST · ROUNDS 2~10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93B93E-2883-4365-987E-2A5030412DD2}"/>
              </a:ext>
            </a:extLst>
          </p:cNvPr>
          <p:cNvSpPr txBox="1"/>
          <p:nvPr/>
        </p:nvSpPr>
        <p:spPr>
          <a:xfrm>
            <a:off x="1041400" y="2286000"/>
            <a:ext cx="14986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900" b="1">
                <a:solidFill>
                  <a:srgbClr val="101828"/>
                </a:solidFill>
                <a:latin typeface="Malgun Gothic"/>
                <a:ea typeface="Malgun Gothic"/>
              </a:rPr>
              <a:t>같은 규칙으로 과거 결정을 다시 풀면, 정부보다 상한을 더 올렸을 것입니다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E9F3884-DCD6-4ADC-A5E9-02306F72C7BC}"/>
              </a:ext>
            </a:extLst>
          </p:cNvPr>
          <p:cNvSpPr/>
          <p:nvPr/>
        </p:nvSpPr>
        <p:spPr>
          <a:xfrm>
            <a:off x="1333500" y="4000500"/>
            <a:ext cx="4889500" cy="3810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034517-69C7-4CEA-8F4C-52C3E61C692B}"/>
              </a:ext>
            </a:extLst>
          </p:cNvPr>
          <p:cNvSpPr/>
          <p:nvPr/>
        </p:nvSpPr>
        <p:spPr>
          <a:xfrm>
            <a:off x="1333500" y="4000500"/>
            <a:ext cx="101600" cy="38100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81E5D1-DC00-4CD6-9FAF-E628EF863FFE}"/>
              </a:ext>
            </a:extLst>
          </p:cNvPr>
          <p:cNvSpPr txBox="1"/>
          <p:nvPr/>
        </p:nvSpPr>
        <p:spPr>
          <a:xfrm>
            <a:off x="1663700" y="4305300"/>
            <a:ext cx="736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4775FF"/>
                </a:solidFill>
                <a:latin typeface="Malgun Gothic"/>
                <a:ea typeface="Malgun Gothic"/>
              </a:rPr>
              <a:t>2차</a:t>
            </a:r>
            <a:endParaRPr lang="ko-KR" altLang="en-US" sz="1600" b="1">
              <a:solidFill>
                <a:srgbClr val="4775FF"/>
              </a:solidFill>
              <a:latin typeface="Malgun Gothic"/>
              <a:ea typeface="Malgun Gothic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392A23-5D7F-442C-B1A9-05DE6D3A005E}"/>
              </a:ext>
            </a:extLst>
          </p:cNvPr>
          <p:cNvSpPr txBox="1"/>
          <p:nvPr/>
        </p:nvSpPr>
        <p:spPr>
          <a:xfrm>
            <a:off x="1663700" y="4838700"/>
            <a:ext cx="4229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000" b="1">
                <a:solidFill>
                  <a:srgbClr val="101828"/>
                </a:solidFill>
                <a:latin typeface="Malgun Gothic"/>
                <a:ea typeface="Malgun Gothic"/>
              </a:rPr>
              <a:t>급등기 (3월 27일)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55B7E7-E097-4003-BC6A-62966DE7511F}"/>
              </a:ext>
            </a:extLst>
          </p:cNvPr>
          <p:cNvSpPr txBox="1"/>
          <p:nvPr/>
        </p:nvSpPr>
        <p:spPr>
          <a:xfrm>
            <a:off x="1663700" y="5524500"/>
            <a:ext cx="4229100" cy="200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지원금액 382 / 717 / 788원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실제: 세 유종 +210원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권고: 0 / +120 / +120원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휘발유는 물가 때문에 덜 올림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856F7AA-F78C-455A-8235-C0C8C73DA702}"/>
              </a:ext>
            </a:extLst>
          </p:cNvPr>
          <p:cNvSpPr/>
          <p:nvPr/>
        </p:nvSpPr>
        <p:spPr>
          <a:xfrm>
            <a:off x="6692900" y="4000500"/>
            <a:ext cx="4889500" cy="3810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35A4D34-0434-44DF-A5D0-25AD9B351EF1}"/>
              </a:ext>
            </a:extLst>
          </p:cNvPr>
          <p:cNvSpPr/>
          <p:nvPr/>
        </p:nvSpPr>
        <p:spPr>
          <a:xfrm>
            <a:off x="6692900" y="4000500"/>
            <a:ext cx="101600" cy="3810000"/>
          </a:xfrm>
          <a:prstGeom prst="rect">
            <a:avLst/>
          </a:prstGeom>
          <a:solidFill>
            <a:srgbClr val="39C6E8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40529E-5D44-4247-A468-FD675A6AA8DB}"/>
              </a:ext>
            </a:extLst>
          </p:cNvPr>
          <p:cNvSpPr txBox="1"/>
          <p:nvPr/>
        </p:nvSpPr>
        <p:spPr>
          <a:xfrm>
            <a:off x="7023100" y="4305300"/>
            <a:ext cx="736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39C6E8"/>
                </a:solidFill>
                <a:latin typeface="Malgun Gothic"/>
                <a:ea typeface="Malgun Gothic"/>
              </a:rPr>
              <a:t>7회</a:t>
            </a:r>
            <a:endParaRPr lang="ko-KR" altLang="en-US" sz="1600" b="1">
              <a:solidFill>
                <a:srgbClr val="39C6E8"/>
              </a:solidFill>
              <a:latin typeface="Malgun Gothic"/>
              <a:ea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4C14AF-F426-41B7-8B67-AF45E7C8CE31}"/>
              </a:ext>
            </a:extLst>
          </p:cNvPr>
          <p:cNvSpPr txBox="1"/>
          <p:nvPr/>
        </p:nvSpPr>
        <p:spPr>
          <a:xfrm>
            <a:off x="7023100" y="4838700"/>
            <a:ext cx="4229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000" b="1">
                <a:solidFill>
                  <a:srgbClr val="101828"/>
                </a:solidFill>
                <a:latin typeface="Malgun Gothic"/>
                <a:ea typeface="Malgun Gothic"/>
              </a:rPr>
              <a:t>동결 (3~6·8~10차)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FF7214-5DE5-4AC0-ABEB-2049EA56E96A}"/>
              </a:ext>
            </a:extLst>
          </p:cNvPr>
          <p:cNvSpPr txBox="1"/>
          <p:nvPr/>
        </p:nvSpPr>
        <p:spPr>
          <a:xfrm>
            <a:off x="7023100" y="5524500"/>
            <a:ext cx="4229100" cy="200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지원금액 69~1,082원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실제: 모두 동결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권고: 매번 1개 유종 이상 인상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지원금이 남아 있어 올릴 여지 있음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2B4E4F-02AF-4EA3-8A59-29B38DE465B8}"/>
              </a:ext>
            </a:extLst>
          </p:cNvPr>
          <p:cNvSpPr/>
          <p:nvPr/>
        </p:nvSpPr>
        <p:spPr>
          <a:xfrm>
            <a:off x="12052300" y="4000500"/>
            <a:ext cx="4889500" cy="3810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B9614B8-2933-409E-86C0-01AAEBE801F6}"/>
              </a:ext>
            </a:extLst>
          </p:cNvPr>
          <p:cNvSpPr/>
          <p:nvPr/>
        </p:nvSpPr>
        <p:spPr>
          <a:xfrm>
            <a:off x="12052300" y="4000500"/>
            <a:ext cx="101600" cy="38100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14C3F9-3E8D-4B62-8DC4-53B27F681A12}"/>
              </a:ext>
            </a:extLst>
          </p:cNvPr>
          <p:cNvSpPr txBox="1"/>
          <p:nvPr/>
        </p:nvSpPr>
        <p:spPr>
          <a:xfrm>
            <a:off x="12382500" y="4305300"/>
            <a:ext cx="736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 b="1">
                <a:solidFill>
                  <a:srgbClr val="4775FF"/>
                </a:solidFill>
                <a:latin typeface="Malgun Gothic"/>
                <a:ea typeface="Malgun Gothic"/>
              </a:rPr>
              <a:t>7차</a:t>
            </a:r>
            <a:endParaRPr lang="ko-KR" altLang="en-US" sz="1600" b="1">
              <a:solidFill>
                <a:srgbClr val="4775FF"/>
              </a:solidFill>
              <a:latin typeface="Malgun Gothic"/>
              <a:ea typeface="Malgun Gothic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AF022C-0680-48CB-B26D-724C67C860E1}"/>
              </a:ext>
            </a:extLst>
          </p:cNvPr>
          <p:cNvSpPr txBox="1"/>
          <p:nvPr/>
        </p:nvSpPr>
        <p:spPr>
          <a:xfrm>
            <a:off x="12382500" y="4838700"/>
            <a:ext cx="4229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2000" b="1">
                <a:solidFill>
                  <a:srgbClr val="101828"/>
                </a:solidFill>
                <a:latin typeface="Malgun Gothic"/>
                <a:ea typeface="Malgun Gothic"/>
              </a:rPr>
              <a:t>인하 (6월 27일)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1C03B-20DE-40AD-B93E-B43C0DC14E56}"/>
              </a:ext>
            </a:extLst>
          </p:cNvPr>
          <p:cNvSpPr txBox="1"/>
          <p:nvPr/>
        </p:nvSpPr>
        <p:spPr>
          <a:xfrm>
            <a:off x="12382500" y="5524500"/>
            <a:ext cx="4229100" cy="200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지원금액 63 / 36 / 37원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실제: 세 유종 −150원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권고: 세 유종 +120원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  <a:p>
            <a:pPr algn="l"/>
            <a:r>
              <a:rPr lang="ko-KR" altLang="en-US" sz="1400">
                <a:solidFill>
                  <a:srgbClr val="8A8F98"/>
                </a:solidFill>
                <a:latin typeface="Malgun Gothic"/>
                <a:ea typeface="Malgun Gothic"/>
              </a:rPr>
              <a:t>지원금액이 남아 있어 인하하지 않음</a:t>
            </a:r>
            <a:endParaRPr lang="ko-KR" altLang="en-US" sz="1400">
              <a:solidFill>
                <a:srgbClr val="8A8F98"/>
              </a:solidFill>
              <a:latin typeface="Malgun Gothic"/>
              <a:ea typeface="Malgun Gothic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CFC8DD-C611-42E1-B2DC-28A3383D89E0}"/>
              </a:ext>
            </a:extLst>
          </p:cNvPr>
          <p:cNvSpPr txBox="1"/>
          <p:nvPr/>
        </p:nvSpPr>
        <p:spPr>
          <a:xfrm>
            <a:off x="2603500" y="8407400"/>
            <a:ext cx="1308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500" b="1">
                <a:solidFill>
                  <a:srgbClr val="101828"/>
                </a:solidFill>
                <a:latin typeface="Malgun Gothic"/>
                <a:ea typeface="Malgun Gothic"/>
              </a:rPr>
              <a:t>방향 일치 0/9 · 정부는 지원금보다 물가를 훨씬 무겁게 봐 왔습니다. 권고는 '지원금을 함께 고려하면 이만큼 올릴 여지가 있다'는 기준입니다.</a:t>
            </a:r>
            <a:endParaRPr lang="ko-KR" altLang="en-US" sz="1500" b="1">
              <a:solidFill>
                <a:srgbClr val="101828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D41CFD-1144-4257-B2E6-7F1CDB464750}"/>
              </a:ext>
            </a:extLst>
          </p:cNvPr>
          <p:cNvSpPr/>
          <p:nvPr/>
        </p:nvSpPr>
        <p:spPr>
          <a:xfrm>
            <a:off x="1041400" y="914400"/>
            <a:ext cx="939800" cy="25400"/>
          </a:xfrm>
          <a:prstGeom prst="rect">
            <a:avLst/>
          </a:prstGeom>
          <a:solidFill>
            <a:srgbClr val="B8BBC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5F0AE0B-6DA3-4BC3-A6C0-D563FDA1678F}"/>
              </a:ext>
            </a:extLst>
          </p:cNvPr>
          <p:cNvSpPr/>
          <p:nvPr/>
        </p:nvSpPr>
        <p:spPr>
          <a:xfrm>
            <a:off x="1981200" y="914400"/>
            <a:ext cx="228600" cy="25400"/>
          </a:xfrm>
          <a:prstGeom prst="rect">
            <a:avLst/>
          </a:prstGeom>
          <a:solidFill>
            <a:srgbClr val="4775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C28524D-EBDC-4BCE-AF69-EFBED62BBF0C}"/>
              </a:ext>
            </a:extLst>
          </p:cNvPr>
          <p:cNvSpPr/>
          <p:nvPr/>
        </p:nvSpPr>
        <p:spPr>
          <a:xfrm>
            <a:off x="2209800" y="914400"/>
            <a:ext cx="13017500" cy="25400"/>
          </a:xfrm>
          <a:prstGeom prst="rect">
            <a:avLst/>
          </a:prstGeom>
          <a:solidFill>
            <a:srgbClr val="D5D7D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C332E3-6E77-4B96-A712-3B733B480825}"/>
              </a:ext>
            </a:extLst>
          </p:cNvPr>
          <p:cNvSpPr txBox="1"/>
          <p:nvPr/>
        </p:nvSpPr>
        <p:spPr>
          <a:xfrm>
            <a:off x="1397000" y="2857500"/>
            <a:ext cx="7620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600">
                <a:solidFill>
                  <a:srgbClr val="8A8F98"/>
                </a:solidFill>
                <a:latin typeface="Malgun Gothic"/>
                <a:ea typeface="Malgun Gothic"/>
              </a:rPr>
              <a:t>THANK YOU</a:t>
            </a:r>
            <a:endParaRPr lang="ko-KR" altLang="en-US" sz="1600">
              <a:solidFill>
                <a:srgbClr val="8A8F98"/>
              </a:solidFill>
              <a:latin typeface="Malgun Gothic"/>
              <a:ea typeface="Malgun Gothic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C288AB-1CE7-420D-B239-C73057082503}"/>
              </a:ext>
            </a:extLst>
          </p:cNvPr>
          <p:cNvSpPr txBox="1"/>
          <p:nvPr/>
        </p:nvSpPr>
        <p:spPr>
          <a:xfrm>
            <a:off x="1333500" y="3492500"/>
            <a:ext cx="8255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3400" b="1">
                <a:solidFill>
                  <a:srgbClr val="101828"/>
                </a:solidFill>
                <a:latin typeface="Malgun Gothic"/>
                <a:ea typeface="Malgun Gothic"/>
              </a:rPr>
              <a:t>감사합니다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4A5C65-6576-4A54-87E4-A0919F6A76F1}"/>
              </a:ext>
            </a:extLst>
          </p:cNvPr>
          <p:cNvSpPr txBox="1"/>
          <p:nvPr/>
        </p:nvSpPr>
        <p:spPr>
          <a:xfrm>
            <a:off x="1333500" y="4635500"/>
            <a:ext cx="8255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5200" b="1">
                <a:solidFill>
                  <a:srgbClr val="4775FF"/>
                </a:solidFill>
                <a:latin typeface="Malgun Gothic"/>
                <a:ea typeface="Malgun Gothic"/>
              </a:rPr>
              <a:t>Q&amp;A</a:t>
            </a:r>
            <a:endParaRPr lang="ko-KR" altLang="en-US" sz="5200" b="1">
              <a:solidFill>
                <a:srgbClr val="4775FF"/>
              </a:solidFill>
              <a:latin typeface="Malgun Gothic"/>
              <a:ea typeface="Malgun Gothic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31AB59-FE33-4C99-9139-E3DFF0941627}"/>
              </a:ext>
            </a:extLst>
          </p:cNvPr>
          <p:cNvSpPr txBox="1"/>
          <p:nvPr/>
        </p:nvSpPr>
        <p:spPr>
          <a:xfrm>
            <a:off x="1397000" y="6286500"/>
            <a:ext cx="6350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700">
                <a:solidFill>
                  <a:srgbClr val="8A8F98"/>
                </a:solidFill>
                <a:latin typeface="Malgun Gothic"/>
                <a:ea typeface="Malgun Gothic"/>
              </a:rPr>
              <a:t>질문을 받겠습니다.</a:t>
            </a:r>
            <a:endParaRPr lang="ko-KR" altLang="en-US" sz="1700">
              <a:solidFill>
                <a:srgbClr val="8A8F98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5D6F66A-53E0-42EB-9023-0C80C3FFEF1A}">
  <we:reference id="WA200010215" version="2.0.0.1" store="Omex" storeType="OMEX"/>
  <we:alternateReferences>
    <we:reference id="WA200010215" version="2.0.0.1" store="WA200010215" storeType="OMEX"/>
  </we:alternateReferences>
  <we:properties>
    <we:property name="bps.codex_control.document_id" value="&quot;0511a356-05a5-482a-aab2-1fd07f30e40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1883</Words>
  <Application>Microsoft Office PowerPoint</Application>
  <PresentationFormat>사용자 지정</PresentationFormat>
  <Paragraphs>280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Calibri</vt:lpstr>
      <vt:lpstr>Arial</vt:lpstr>
      <vt:lpstr>Malgun Gothic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 흰색 모던 심플한 다양한 레이아웃 기본 프레젠테이션</dc:title>
  <dc:creator>김현석김현석</dc:creator>
  <cp:lastModifiedBy>김현석</cp:lastModifiedBy>
  <cp:revision>10</cp:revision>
  <dcterms:created xsi:type="dcterms:W3CDTF">2006-08-16T00:00:00Z</dcterms:created>
  <dcterms:modified xsi:type="dcterms:W3CDTF">2026-10-10T03:55:44Z</dcterms:modified>
  <dc:identifier>DAHXkcIc91o</dc:identifier>
</cp:coreProperties>
</file>